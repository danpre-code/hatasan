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3c44a029db4e27" /><Relationship Type="http://schemas.openxmlformats.org/officeDocument/2006/relationships/extended-properties" Target="/docProps/app.xml" Id="R745e92bbd35b4c8a" /><Relationship Type="http://schemas.openxmlformats.org/officeDocument/2006/relationships/officeDocument" Target="/ppt/presentation.xml" Id="R936c01fe407c4f5b" /></Relationships>
</file>

<file path=ppt/presentation.xml><?xml version="1.0" encoding="utf-8"?>
<p:presentation xmlns:p="http://schemas.openxmlformats.org/presentationml/2006/main">
  <p:sldMasterIdLst>
    <p:sldMasterId xmlns:r="http://schemas.openxmlformats.org/officeDocument/2006/relationships" id="2147483648" r:id="Rdfd75be5befa4f0c"/>
  </p:sldMasterIdLst>
  <p:notesMasterIdLst>
    <p:notesMasterId xmlns:r="http://schemas.openxmlformats.org/officeDocument/2006/relationships" r:id="R6cf97456b9a744be"/>
  </p:notesMasterIdLst>
  <p:sldIdLst>
    <p:sldId xmlns:r="http://schemas.openxmlformats.org/officeDocument/2006/relationships" id="256" r:id="R7a39e4c24cd94f2b"/>
    <p:sldId xmlns:r="http://schemas.openxmlformats.org/officeDocument/2006/relationships" id="257" r:id="R1d98e00bfcc846d4"/>
    <p:sldId xmlns:r="http://schemas.openxmlformats.org/officeDocument/2006/relationships" id="258" r:id="Rd0b0e0eba1a24b19"/>
    <p:sldId xmlns:r="http://schemas.openxmlformats.org/officeDocument/2006/relationships" id="259" r:id="Rd3de962ca97b479c"/>
    <p:sldId xmlns:r="http://schemas.openxmlformats.org/officeDocument/2006/relationships" id="260" r:id="Rdf62de8ac7f644f3"/>
    <p:sldId xmlns:r="http://schemas.openxmlformats.org/officeDocument/2006/relationships" id="261" r:id="R19d30ab2feb44cb8"/>
    <p:sldId xmlns:r="http://schemas.openxmlformats.org/officeDocument/2006/relationships" id="262" r:id="R4a0a5f6fc3934acf"/>
    <p:sldId xmlns:r="http://schemas.openxmlformats.org/officeDocument/2006/relationships" id="263" r:id="Rbb087a21dd01419f"/>
    <p:sldId xmlns:r="http://schemas.openxmlformats.org/officeDocument/2006/relationships" id="264" r:id="Ra98330bfe3134adc"/>
    <p:sldId xmlns:r="http://schemas.openxmlformats.org/officeDocument/2006/relationships" id="265" r:id="R1895b19519f3480f"/>
    <p:sldId xmlns:r="http://schemas.openxmlformats.org/officeDocument/2006/relationships" id="266" r:id="Raecda34416bf43ea"/>
  </p:sldIdLst>
  <p:sldSz cx="16256000" cy="914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4b11584b0f4764" /><Relationship Type="http://schemas.openxmlformats.org/officeDocument/2006/relationships/slideMaster" Target="/ppt/slideMasters/slideMaster1.xml" Id="Rdfd75be5befa4f0c" /><Relationship Type="http://schemas.openxmlformats.org/officeDocument/2006/relationships/notesMaster" Target="/ppt/notesMasters/notesMaster1.xml" Id="R6cf97456b9a744be" /><Relationship Type="http://schemas.openxmlformats.org/officeDocument/2006/relationships/presProps" Target="/ppt/presProps.xml" Id="R3d598244db874155" /><Relationship Type="http://schemas.openxmlformats.org/officeDocument/2006/relationships/tableStyles" Target="/ppt/tableStyles.xml" Id="Rf460691a5fb24ecd" /><Relationship Type="http://schemas.openxmlformats.org/officeDocument/2006/relationships/slide" Target="/ppt/slides/slide1.xml" Id="R7a39e4c24cd94f2b" /><Relationship Type="http://schemas.openxmlformats.org/officeDocument/2006/relationships/slide" Target="/ppt/slides/slide2.xml" Id="R1d98e00bfcc846d4" /><Relationship Type="http://schemas.openxmlformats.org/officeDocument/2006/relationships/slide" Target="/ppt/slides/slide3.xml" Id="Rd0b0e0eba1a24b19" /><Relationship Type="http://schemas.openxmlformats.org/officeDocument/2006/relationships/slide" Target="/ppt/slides/slide4.xml" Id="Rd3de962ca97b479c" /><Relationship Type="http://schemas.openxmlformats.org/officeDocument/2006/relationships/slide" Target="/ppt/slides/slide5.xml" Id="Rdf62de8ac7f644f3" /><Relationship Type="http://schemas.openxmlformats.org/officeDocument/2006/relationships/slide" Target="/ppt/slides/slide6.xml" Id="R19d30ab2feb44cb8" /><Relationship Type="http://schemas.openxmlformats.org/officeDocument/2006/relationships/slide" Target="/ppt/slides/slide7.xml" Id="R4a0a5f6fc3934acf" /><Relationship Type="http://schemas.openxmlformats.org/officeDocument/2006/relationships/slide" Target="/ppt/slides/slide8.xml" Id="Rbb087a21dd01419f" /><Relationship Type="http://schemas.openxmlformats.org/officeDocument/2006/relationships/slide" Target="/ppt/slides/slide9.xml" Id="Ra98330bfe3134adc" /><Relationship Type="http://schemas.openxmlformats.org/officeDocument/2006/relationships/slide" Target="/ppt/slides/slide10.xml" Id="R1895b19519f3480f" /><Relationship Type="http://schemas.openxmlformats.org/officeDocument/2006/relationships/slide" Target="/ppt/slides/slide11.xml" Id="Raecda34416bf43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f82ddf33b944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b58d17353d4ab2" /><Relationship Type="http://schemas.openxmlformats.org/officeDocument/2006/relationships/notesMaster" Target="/ppt/notesMasters/notesMaster1.xml" Id="R87c310de65f843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6d6025b8ac4e8d" /><Relationship Type="http://schemas.openxmlformats.org/officeDocument/2006/relationships/notesMaster" Target="/ppt/notesMasters/notesMaster1.xml" Id="R769f474f206d48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f2ec3060c34b95" /><Relationship Type="http://schemas.openxmlformats.org/officeDocument/2006/relationships/notesMaster" Target="/ppt/notesMasters/notesMaster1.xml" Id="Rcd3b6bb2c6024a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3b807c37214302" /><Relationship Type="http://schemas.openxmlformats.org/officeDocument/2006/relationships/notesMaster" Target="/ppt/notesMasters/notesMaster1.xml" Id="R3dd6979e5ecb4f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0ac765f377443b" /><Relationship Type="http://schemas.openxmlformats.org/officeDocument/2006/relationships/notesMaster" Target="/ppt/notesMasters/notesMaster1.xml" Id="R3f0251a1ec0a4a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a24b56ab1b4312" /><Relationship Type="http://schemas.openxmlformats.org/officeDocument/2006/relationships/notesMaster" Target="/ppt/notesMasters/notesMaster1.xml" Id="Rb2f96d1b2b674f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802c6afc044d47" /><Relationship Type="http://schemas.openxmlformats.org/officeDocument/2006/relationships/notesMaster" Target="/ppt/notesMasters/notesMaster1.xml" Id="Rd943a81eae0142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2c4a50a9c64a02" /><Relationship Type="http://schemas.openxmlformats.org/officeDocument/2006/relationships/notesMaster" Target="/ppt/notesMasters/notesMaster1.xml" Id="R4262cc039c3e43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3f5203281148ad" /><Relationship Type="http://schemas.openxmlformats.org/officeDocument/2006/relationships/notesMaster" Target="/ppt/notesMasters/notesMaster1.xml" Id="R7a623485e0854c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dbc2cbc7f0494d" /><Relationship Type="http://schemas.openxmlformats.org/officeDocument/2006/relationships/notesMaster" Target="/ppt/notesMasters/notesMaster1.xml" Id="R4347b9af04b74b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2a991f994d45e2" /><Relationship Type="http://schemas.openxmlformats.org/officeDocument/2006/relationships/notesMaster" Target="/ppt/notesMasters/notesMaster1.xml" Id="Ree464fc45e1944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Segmento supporta il passaporto digitale della batteria collegando identità, documenti, eventi e prove di integrità. La proposta è dedicata alle batterie su misura per macchine elettriche e ibride di Alps Battery. Perimetro e integrazioni saranno definiti con il cliente.</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https://alpsbattery.com/about-us.jpg</a:t>
            </a:r>
          </a:p>
          <a:p xmlns:a="http://schemas.openxmlformats.org/drawingml/2006/main">
            <a:r>
              <a:t>https://alpsbattery.com/alps-battery-logo.png</a:t>
            </a:r>
          </a:p>
          <a:p xmlns:a="http://schemas.openxmlformats.org/drawingml/2006/main">
            <a:r>
              <a:t>https://www.ailanto.io/</a:t>
            </a:r>
          </a:p>
          <a:p xmlns:a="http://schemas.openxmlformats.org/drawingml/2006/main">
            <a:r>
              <a:t>Modello e descrizione Segmento: presentazione Ailanto fornita, pp. 1-3.</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linee pubblicate da Alps sono NCM Multimaster 48V, NCM Premium 48V-750V e LFP Custom 48V-750V. Non sono documentati pubblicamente API, protocolli o sistemi di telemetria. Il collegamento a BMS, sistemi aziendali e costruttori è una proposta da verificare, non un’integrazione già realizzata.</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fascicolo proposto parte dai dati di prodotto e si estende agli eventi del ciclo di vita. L’obbligo regolamentare va riferito alla batteria finita e alla categoria pertinente. I contenuti di questa slide sono esemplificativi, non la lista completa dei dati obbligatori. Fonte immagine: sito ufficiale Alps Battery.</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https://alpsbattery.com/NCM%20Multimaster.jpg</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L’art. 77 comprende anche batterie per mezzi di trasporto leggeri e veicoli elettrici; la slide focalizza la categoria industriale, da verificare per Alps. Il passaporto riguarda la batteria finita, anche se incorporata in una macchina. La responsabilità resta all’operatore economico competente, anche con delega scritta. I campi sono selezionati in base a categoria, caratteristiche e decorrenze applicabili. Secondo le FAQ pubblicate a settembre 2026 le regole di accesso riservato sono ancora in sviluppo. Blockchain non è obbligatoria. Registrazione DPP e ancoraggio su blockchain sono funzioni distinte.</a:t>
            </a:r>
          </a:p>
          <a:p xmlns:a="http://schemas.openxmlformats.org/drawingml/2006/main">
            <a:r>
              <a:t/>
            </a:r>
          </a:p>
          <a:p xmlns:a="http://schemas.openxmlformats.org/drawingml/2006/main">
            <a:r>
              <a:t>FONTI</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Riproposizione e rifabbricazione richiedono, nei casi previsti, un nuovo passaporto collegato al precedente. Una semplice riparazione non equivale automaticamente a rifabbricazione. Dopo il riciclo il passaporto cessa di esistere secondo l’articolo 77: la gestione dei dati e delle prove deve rispettare questo ciclo. La seconda vita è un caso d’uso proposto, non un’attività dichiarata di Alps.</a:t>
            </a:r>
          </a:p>
          <a:p xmlns:a="http://schemas.openxmlformats.org/drawingml/2006/main">
            <a:r>
              <a:t/>
            </a:r>
          </a:p>
          <a:p xmlns:a="http://schemas.openxmlformats.org/drawingml/2006/main">
            <a:r>
              <a:t>FONTI</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SoH è lo stato di salute della batteria e dipende da modello, algoritmo e condizioni di misura. Non viene promesso un nuovo algoritmo di diagnosi: Segmento registra i dati resi disponibili e le relative evidenze. I dati non sono necessariamente continui o in tempo reale. La frequenza è definita per tipo di dato e cambi di stato, secondo fattibilità e proporzionalità. I valori destinati al passaporto mantengono fonte, data e metodo.</a:t>
            </a:r>
          </a:p>
          <a:p xmlns:a="http://schemas.openxmlformats.org/drawingml/2006/main">
            <a:r>
              <a:t/>
            </a:r>
          </a:p>
          <a:p xmlns:a="http://schemas.openxmlformats.org/drawingml/2006/main">
            <a:r>
              <a:t>FONTI</a:t>
            </a:r>
          </a:p>
          <a:p xmlns:a="http://schemas.openxmlformats.org/drawingml/2006/main">
            <a:r>
              <a:t>/Users/danielepregnolato/Desktop/Presentazione_Ailanto_Plus_EV_Charge_Segmento v2.pdf</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Parte delle informazioni è pubblica; altre parti sono riservate ai soggetti individuati dalla normativa. L’accesso per riparatori, riciclatori e altri soggetti con interesse legittimo dipende dai requisiti applicabili. Secondo le FAQ della Commissione di settembre 2026, l’atto sui dettagli di accesso riservato è ancora in sviluppo. I ruoli non sono una libera sostituzione delle categorie legali di accesso. Tracciamento degli aggiornamenti e configurazione dei permessi sono funzioni proposte per il progetto.</a:t>
            </a:r>
          </a:p>
          <a:p xmlns:a="http://schemas.openxmlformats.org/drawingml/2006/main">
            <a:r>
              <a:t/>
            </a:r>
          </a:p>
          <a:p xmlns:a="http://schemas.openxmlformats.org/drawingml/2006/main">
            <a:r>
              <a:t>FONTI</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descrizione di Segmento e dell’architettura a doppia blockchain proviene dal materiale Ailanto fornito. È una scelta tecnologica del servizio, non un obbligo del passaporto digitale. I documenti riservati non devono essere pubblicati sulla blockchain pubblica, dove vengono ancorate le impronte. L’ancoraggio rende verificabile l’integrità delle evidenze; non attesta da solo la correttezza del dato o la conformità della batteria.</a:t>
            </a:r>
          </a:p>
          <a:p xmlns:a="http://schemas.openxmlformats.org/drawingml/2006/main">
            <a:r>
              <a:t/>
            </a:r>
          </a:p>
          <a:p xmlns:a="http://schemas.openxmlformats.org/drawingml/2006/main">
            <a:r>
              <a:t>FONTI</a:t>
            </a:r>
          </a:p>
          <a:p xmlns:a="http://schemas.openxmlformats.org/drawingml/2006/main">
            <a:r>
              <a:t>/Users/danielepregnolato/Desktop/Presentazione_Ailanto_Plus_EV_Charge_Segmento v2.pdf</a:t>
            </a:r>
          </a:p>
          <a:p xmlns:a="http://schemas.openxmlformats.org/drawingml/2006/main">
            <a:r>
              <a:t>https://www.ailanto.io/</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proposta può partire dai documenti e dagli eventi già disponibili. Formati di scambio, importazioni e interfacce API sono da valutare con Alps; non viene dichiarata una connessione già esistente. Il passaporto completo è gestito dall’operatore economico o dal soggetto delegato. Il Registro DPP conserva registrazione e metadati e non è l’archivio completo del passaporto. L’eventuale collegamento al Registro è un’attività del progetto da definire secondo requisiti e interfacce pertinenti.</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https://single-market-economy.ec.europa.eu/single-market/digital-product-passport/eu-digital-product-passport-faq-batteries_en</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ruoli sono una proposta operativa da concordare. L’operatore economico competente per il passaporto va identificato in base a chi completa e immette sul mercato la batteria finita o la mette in servizio. Una delega scritta per creare o aggiornare il passaporto non trasferisce la responsabilità ultima dei dati. Il ruolo di Ailanto è tecnologico. Il modello economico del servizio può distinguere avvio, integrazioni e gestione continuativa; non sono presunti prezzi o risultati quantitativi.</a:t>
            </a:r>
          </a:p>
          <a:p xmlns:a="http://schemas.openxmlformats.org/drawingml/2006/main">
            <a:r>
              <a:t/>
            </a:r>
          </a:p>
          <a:p xmlns:a="http://schemas.openxmlformats.org/drawingml/2006/main">
            <a:r>
              <a:t>FONTI</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https://alpsbattery.com/</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Prossimo passo proposto: un incontro tecnico per scegliere la famiglia di batterie e mappare sistemi, dati, ruoli e responsabilità. Il pilota può partire da documenti ed eventi già disponibili e aggiungere dati BMS se accessibili. Criteri di valutazione: completezza dei campi concordati, ricostruibilità di un evento, verifica di integrità e correttezza degli accessi. Il risultato consente di concordare il piano di estensione alle famiglie di batterie e ai processi pertinenti, includendo aggiornamenti, accessi e continuità del servizio.</a:t>
            </a:r>
          </a:p>
          <a:p xmlns:a="http://schemas.openxmlformats.org/drawingml/2006/main">
            <a:r>
              <a:t/>
            </a:r>
          </a:p>
          <a:p xmlns:a="http://schemas.openxmlformats.org/drawingml/2006/main">
            <a:r>
              <a:t>FONTI</a:t>
            </a:r>
          </a:p>
          <a:p xmlns:a="http://schemas.openxmlformats.org/drawingml/2006/main">
            <a:r>
              <a:t>https://www.ailanto.io/</a:t>
            </a:r>
          </a:p>
          <a:p xmlns:a="http://schemas.openxmlformats.org/drawingml/2006/main">
            <a:r>
              <a:t>https://alpsbattery.com/</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45ae3fd6bb4b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e0e959e1a74e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82df4bc1ee46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dcfb99b17f4b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7fffcd94d94a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51843241cb49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410B65-3243-4C3A-9553-A08A0A84C687}"/>
              </a:ext>
            </a:extLst>
          </p:cNvPr>
          <p:cNvSpPr>
            <a:spLocks xmlns:a="http://schemas.openxmlformats.org/drawingml/2006/main" noGrp="1"/>
          </p:cNvSpPr>
          <p:nvPr>
            <p:ph type="title" idx="0"/>
          </p:nvPr>
        </p:nvSpPr>
        <p:spPr>
          <a:xfrm xmlns:a="http://schemas.openxmlformats.org/drawingml/2006/main">
            <a:off x="1625600" y="3454400"/>
            <a:ext cx="13004800" cy="132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CED669-2B1B-40B9-869F-9C85A89E5EE7}"/>
              </a:ext>
            </a:extLst>
          </p:cNvPr>
          <p:cNvSpPr>
            <a:spLocks xmlns:a="http://schemas.openxmlformats.org/drawingml/2006/main" noGrp="1"/>
          </p:cNvSpPr>
          <p:nvPr>
            <p:ph type="subTitle" idx="1"/>
          </p:nvPr>
        </p:nvSpPr>
        <p:spPr>
          <a:xfrm xmlns:a="http://schemas.openxmlformats.org/drawingml/2006/main">
            <a:off x="2438400" y="5029200"/>
            <a:ext cx="11379200" cy="101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8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932538-325F-42ED-BA54-9660D3693983}"/>
              </a:ext>
            </a:extLst>
          </p:cNvPr>
          <p:cNvSpPr>
            <a:spLocks xmlns:a="http://schemas.openxmlformats.org/drawingml/2006/main" noGrp="1"/>
          </p:cNvSpPr>
          <p:nvPr>
            <p:ph type="title" idx="0"/>
          </p:nvPr>
        </p:nvSpPr>
        <p:spPr>
          <a:xfrm xmlns:a="http://schemas.openxmlformats.org/drawingml/2006/main">
            <a:off x="1625600" y="3810000"/>
            <a:ext cx="13004800" cy="15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88837A-AB83-468E-B01F-76FA82D91F2B}"/>
              </a:ext>
            </a:extLst>
          </p:cNvPr>
          <p:cNvSpPr>
            <a:spLocks xmlns:a="http://schemas.openxmlformats.org/drawingml/2006/main" noGrp="1"/>
          </p:cNvSpPr>
          <p:nvPr>
            <p:ph type="title" idx="0"/>
          </p:nvPr>
        </p:nvSpPr>
        <p:spPr>
          <a:xfrm xmlns:a="http://schemas.openxmlformats.org/drawingml/2006/main">
            <a:off x="914400" y="711200"/>
            <a:ext cx="144272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CDCA9F-BE51-49E8-863A-28B1CE4BE7AB}"/>
              </a:ext>
            </a:extLst>
          </p:cNvPr>
          <p:cNvSpPr>
            <a:spLocks xmlns:a="http://schemas.openxmlformats.org/drawingml/2006/main" noGrp="1"/>
          </p:cNvSpPr>
          <p:nvPr>
            <p:ph type="body" idx="1"/>
          </p:nvPr>
        </p:nvSpPr>
        <p:spPr>
          <a:xfrm xmlns:a="http://schemas.openxmlformats.org/drawingml/2006/main">
            <a:off x="914400" y="2540000"/>
            <a:ext cx="14427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B518D0-7F57-4951-B3B1-00DE620305D5}"/>
              </a:ext>
            </a:extLst>
          </p:cNvPr>
          <p:cNvSpPr>
            <a:spLocks xmlns:a="http://schemas.openxmlformats.org/drawingml/2006/main" noGrp="1"/>
          </p:cNvSpPr>
          <p:nvPr>
            <p:ph type="title" idx="0"/>
          </p:nvPr>
        </p:nvSpPr>
        <p:spPr>
          <a:xfrm xmlns:a="http://schemas.openxmlformats.org/drawingml/2006/main">
            <a:off x="914400" y="711200"/>
            <a:ext cx="144272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B3C63B-07A6-41E4-887B-83038DF39ED0}"/>
              </a:ext>
            </a:extLst>
          </p:cNvPr>
          <p:cNvSpPr>
            <a:spLocks xmlns:a="http://schemas.openxmlformats.org/drawingml/2006/main" noGrp="1"/>
          </p:cNvSpPr>
          <p:nvPr>
            <p:ph type="body" idx="1"/>
          </p:nvPr>
        </p:nvSpPr>
        <p:spPr>
          <a:xfrm xmlns:a="http://schemas.openxmlformats.org/drawingml/2006/main">
            <a:off x="914400" y="2540000"/>
            <a:ext cx="67056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26BF34-186F-46A6-91CC-AD4F36B3533D}"/>
              </a:ext>
            </a:extLst>
          </p:cNvPr>
          <p:cNvSpPr>
            <a:spLocks xmlns:a="http://schemas.openxmlformats.org/drawingml/2006/main" noGrp="1"/>
          </p:cNvSpPr>
          <p:nvPr>
            <p:ph type="body" idx="2"/>
          </p:nvPr>
        </p:nvSpPr>
        <p:spPr>
          <a:xfrm xmlns:a="http://schemas.openxmlformats.org/drawingml/2006/main">
            <a:off x="8636000" y="2540000"/>
            <a:ext cx="67056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D6F75D-20D9-4810-85BA-D09581A8EEAE}"/>
              </a:ext>
            </a:extLst>
          </p:cNvPr>
          <p:cNvSpPr>
            <a:spLocks xmlns:a="http://schemas.openxmlformats.org/drawingml/2006/main" noGrp="1"/>
          </p:cNvSpPr>
          <p:nvPr>
            <p:ph type="title" idx="0"/>
          </p:nvPr>
        </p:nvSpPr>
        <p:spPr>
          <a:xfrm xmlns:a="http://schemas.openxmlformats.org/drawingml/2006/main">
            <a:off x="914400" y="711200"/>
            <a:ext cx="144272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9936C2-E55A-42D4-A797-26548AEF7331}"/>
              </a:ext>
            </a:extLst>
          </p:cNvPr>
          <p:cNvSpPr>
            <a:spLocks xmlns:a="http://schemas.openxmlformats.org/drawingml/2006/main" noGrp="1"/>
          </p:cNvSpPr>
          <p:nvPr>
            <p:ph type="body" idx="1"/>
          </p:nvPr>
        </p:nvSpPr>
        <p:spPr>
          <a:xfrm xmlns:a="http://schemas.openxmlformats.org/drawingml/2006/main">
            <a:off x="914400" y="2540000"/>
            <a:ext cx="67056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65b580b6c24e1e" /><Relationship Type="http://schemas.openxmlformats.org/officeDocument/2006/relationships/slideLayout" Target="/ppt/slideLayouts/slideLayout1.xml" Id="R21cd09c15f30432b" /><Relationship Type="http://schemas.openxmlformats.org/officeDocument/2006/relationships/slideLayout" Target="/ppt/slideLayouts/slideLayout2.xml" Id="Rb4e4d4f3c2e34251" /><Relationship Type="http://schemas.openxmlformats.org/officeDocument/2006/relationships/slideLayout" Target="/ppt/slideLayouts/slideLayout3.xml" Id="R3756e7f85f564b60" /><Relationship Type="http://schemas.openxmlformats.org/officeDocument/2006/relationships/slideLayout" Target="/ppt/slideLayouts/slideLayout4.xml" Id="R1db9788877b14139" /><Relationship Type="http://schemas.openxmlformats.org/officeDocument/2006/relationships/slideLayout" Target="/ppt/slideLayouts/slideLayout5.xml" Id="R7a7bc11991c14d22" /><Relationship Type="http://schemas.openxmlformats.org/officeDocument/2006/relationships/slideLayout" Target="/ppt/slideLayouts/slideLayout6.xml" Id="R36a577c815d948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cd09c15f30432b"/>
    <p:sldLayoutId xmlns:r="http://schemas.openxmlformats.org/officeDocument/2006/relationships" id="2147483650" r:id="Rb4e4d4f3c2e34251"/>
    <p:sldLayoutId xmlns:r="http://schemas.openxmlformats.org/officeDocument/2006/relationships" id="2147483651" r:id="R3756e7f85f564b60"/>
    <p:sldLayoutId xmlns:r="http://schemas.openxmlformats.org/officeDocument/2006/relationships" id="2147483652" r:id="R1db9788877b14139"/>
    <p:sldLayoutId xmlns:r="http://schemas.openxmlformats.org/officeDocument/2006/relationships" id="2147483653" r:id="R7a7bc11991c14d22"/>
    <p:sldLayoutId xmlns:r="http://schemas.openxmlformats.org/officeDocument/2006/relationships" id="2147483654" r:id="R36a577c815d948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74e35589d84ae9" /><Relationship Type="http://schemas.openxmlformats.org/officeDocument/2006/relationships/image" Target="/ppt/media/image.jpeg" Id="Reffb6c3f6b134e26" /><Relationship Type="http://schemas.openxmlformats.org/officeDocument/2006/relationships/image" Target="/ppt/media/image.png" Id="Rc1ce03edf2ec4366" /><Relationship Type="http://schemas.openxmlformats.org/officeDocument/2006/relationships/image" Target="/ppt/media/image2.png" Id="R18f86f0a5f994a46" /><Relationship Type="http://schemas.openxmlformats.org/officeDocument/2006/relationships/notesSlide" Target="/ppt/notesSlides/notesSlide1.xml" Id="Rbb365cf95f414d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14fa2415bf4134" /><Relationship Type="http://schemas.openxmlformats.org/officeDocument/2006/relationships/image" Target="/ppt/media/image3.png" Id="R1a723e6056c04a41" /><Relationship Type="http://schemas.openxmlformats.org/officeDocument/2006/relationships/image" Target="/ppt/media/image4.png" Id="Rf11f4b9c63b648f3" /><Relationship Type="http://schemas.openxmlformats.org/officeDocument/2006/relationships/notesSlide" Target="/ppt/notesSlides/notesSlide2.xml" Id="R92de7bf5a4e549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d3439124fa4572" /><Relationship Type="http://schemas.openxmlformats.org/officeDocument/2006/relationships/image" Target="/ppt/media/image5.png" Id="R74e08f972b87423e" /><Relationship Type="http://schemas.openxmlformats.org/officeDocument/2006/relationships/image" Target="/ppt/media/image6.png" Id="R8eea91d41be34991" /><Relationship Type="http://schemas.openxmlformats.org/officeDocument/2006/relationships/image" Target="/ppt/media/image2.jpeg" Id="Re6b3b3eb6315434b" /><Relationship Type="http://schemas.openxmlformats.org/officeDocument/2006/relationships/notesSlide" Target="/ppt/notesSlides/notesSlide3.xml" Id="Rcfc521e9b2d4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3e6fdfb82154539" /><Relationship Type="http://schemas.openxmlformats.org/officeDocument/2006/relationships/image" Target="/ppt/media/image7.png" Id="Rfab4dccbed9d43d5" /><Relationship Type="http://schemas.openxmlformats.org/officeDocument/2006/relationships/image" Target="/ppt/media/image8.png" Id="R2f505612df62433b" /><Relationship Type="http://schemas.openxmlformats.org/officeDocument/2006/relationships/notesSlide" Target="/ppt/notesSlides/notesSlide4.xml" Id="Rc233f740d2584e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c12cb61ac94488" /><Relationship Type="http://schemas.openxmlformats.org/officeDocument/2006/relationships/image" Target="/ppt/media/image9.png" Id="R844ef3b0cb2d45fe" /><Relationship Type="http://schemas.openxmlformats.org/officeDocument/2006/relationships/image" Target="/ppt/media/image10.png" Id="R2fb526cf1f0d420e" /><Relationship Type="http://schemas.openxmlformats.org/officeDocument/2006/relationships/notesSlide" Target="/ppt/notesSlides/notesSlide5.xml" Id="R1d6fbd8a6f8148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08eb8117dd41b0" /><Relationship Type="http://schemas.openxmlformats.org/officeDocument/2006/relationships/image" Target="/ppt/media/image11.png" Id="R00ca28d3cd474b87" /><Relationship Type="http://schemas.openxmlformats.org/officeDocument/2006/relationships/image" Target="/ppt/media/image12.png" Id="R0525faec5f134dea" /><Relationship Type="http://schemas.openxmlformats.org/officeDocument/2006/relationships/notesSlide" Target="/ppt/notesSlides/notesSlide6.xml" Id="R9f6d8e7544834f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5ecc5181fe48c0" /><Relationship Type="http://schemas.openxmlformats.org/officeDocument/2006/relationships/image" Target="/ppt/media/image13.png" Id="R0ae3cc125ce64e65" /><Relationship Type="http://schemas.openxmlformats.org/officeDocument/2006/relationships/image" Target="/ppt/media/image14.png" Id="R3d496d102f22417b" /><Relationship Type="http://schemas.openxmlformats.org/officeDocument/2006/relationships/notesSlide" Target="/ppt/notesSlides/notesSlide7.xml" Id="Rdab95c4357584a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7b3d436e114f8d" /><Relationship Type="http://schemas.openxmlformats.org/officeDocument/2006/relationships/image" Target="/ppt/media/image15.png" Id="Rae747afc79064c96" /><Relationship Type="http://schemas.openxmlformats.org/officeDocument/2006/relationships/image" Target="/ppt/media/image16.png" Id="R4b80e10fda5e410e" /><Relationship Type="http://schemas.openxmlformats.org/officeDocument/2006/relationships/notesSlide" Target="/ppt/notesSlides/notesSlide8.xml" Id="R3132075737e542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ef523cf6ee4fd1" /><Relationship Type="http://schemas.openxmlformats.org/officeDocument/2006/relationships/image" Target="/ppt/media/image17.png" Id="Rdcf6f819b2a148be" /><Relationship Type="http://schemas.openxmlformats.org/officeDocument/2006/relationships/image" Target="/ppt/media/image18.png" Id="R283f95ec834d45ce" /><Relationship Type="http://schemas.openxmlformats.org/officeDocument/2006/relationships/notesSlide" Target="/ppt/notesSlides/notesSlide9.xml" Id="R6259a9bd100a41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df9bfa02574a8b" /><Relationship Type="http://schemas.openxmlformats.org/officeDocument/2006/relationships/image" Target="/ppt/media/image19.png" Id="Rf404017523c14a19" /><Relationship Type="http://schemas.openxmlformats.org/officeDocument/2006/relationships/image" Target="/ppt/media/image20.png" Id="R5c84487eec2542a8" /><Relationship Type="http://schemas.openxmlformats.org/officeDocument/2006/relationships/notesSlide" Target="/ppt/notesSlides/notesSlide10.xml" Id="Rac99ab589a2e41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b15e7fa862148cc" /><Relationship Type="http://schemas.openxmlformats.org/officeDocument/2006/relationships/image" Target="/ppt/media/image21.png" Id="Re3774d3402bc442c" /><Relationship Type="http://schemas.openxmlformats.org/officeDocument/2006/relationships/image" Target="/ppt/media/image22.png" Id="R475ba3ab57974810" /><Relationship Type="http://schemas.openxmlformats.org/officeDocument/2006/relationships/notesSlide" Target="/ppt/notesSlides/notesSlide11.xml" Id="R5f75682fd2f74af1" /></Relationships>
</file>

<file path=ppt/slides/slide1.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3D0F72B-5CFC-4608-AE23-220A6DAE4C9C}"/>
              </a:ext>
            </a:extLst>
          </p:cNvPr>
          <p:cNvPicPr>
            <a:picLocks xmlns:a="http://schemas.openxmlformats.org/drawingml/2006/main" noChangeAspect="1"/>
          </p:cNvPicPr>
          <p:nvPr/>
        </p:nvPicPr>
        <p:blipFill>
          <a:blip xmlns:r="http://schemas.openxmlformats.org/officeDocument/2006/relationships" xmlns:a="http://schemas.openxmlformats.org/drawingml/2006/main" r:embed="Reffb6c3f6b134e26"/>
          <a:srcRect xmlns:a="http://schemas.openxmlformats.org/drawingml/2006/main" l="17188" t="0" r="17188" b="0"/>
          <a:stretch xmlns:a="http://schemas.openxmlformats.org/drawingml/2006/main">
            <a:fillRect l="0" t="0" r="0" b="0"/>
          </a:stretch>
        </p:blipFill>
        <p:spPr>
          <a:xfrm xmlns:a="http://schemas.openxmlformats.org/drawingml/2006/main">
            <a:off x="8255000" y="0"/>
            <a:ext cx="8001000" cy="914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837B91-67FD-4830-A72C-40B54DB88F44}"/>
              </a:ext>
            </a:extLst>
          </p:cNvPr>
          <p:cNvSpPr>
            <a:spLocks xmlns:a="http://schemas.openxmlformats.org/drawingml/2006/main" noGrp="1"/>
          </p:cNvSpPr>
          <p:nvPr/>
        </p:nvSpPr>
        <p:spPr>
          <a:xfrm xmlns:a="http://schemas.openxmlformats.org/drawingml/2006/main">
            <a:off x="0" y="0"/>
            <a:ext cx="10350500" cy="9144000"/>
          </a:xfrm>
          <a:prstGeom xmlns:a="http://schemas.openxmlformats.org/drawingml/2006/main" prst="rect">
            <a:avLst/>
          </a:prstGeom>
          <a:solidFill xmlns:a="http://schemas.openxmlformats.org/drawingml/2006/main">
            <a:srgbClr val="0919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4B553C-0D05-480D-9924-021878E40EB3}"/>
              </a:ext>
            </a:extLst>
          </p:cNvPr>
          <p:cNvSpPr>
            <a:spLocks xmlns:a="http://schemas.openxmlformats.org/drawingml/2006/main" noGrp="1"/>
          </p:cNvSpPr>
          <p:nvPr/>
        </p:nvSpPr>
        <p:spPr>
          <a:xfrm xmlns:a="http://schemas.openxmlformats.org/drawingml/2006/main">
            <a:off x="10350500" y="0"/>
            <a:ext cx="5905500" cy="9144000"/>
          </a:xfrm>
          <a:prstGeom xmlns:a="http://schemas.openxmlformats.org/drawingml/2006/main" prst="rect">
            <a:avLst/>
          </a:prstGeom>
          <a:solidFill xmlns:a="http://schemas.openxmlformats.org/drawingml/2006/main">
            <a:srgbClr val="09191B">
              <a:alpha val="18000"/>
            </a:srgbClr>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AEFBFD-545F-4328-8BCA-2E5CFEDEA1AE}"/>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AD1F272F-F0B2-409B-B54C-0971C5397777}"/>
              </a:ext>
            </a:extLst>
          </p:cNvPr>
          <p:cNvPicPr>
            <a:picLocks xmlns:a="http://schemas.openxmlformats.org/drawingml/2006/main" noChangeAspect="1"/>
          </p:cNvPicPr>
          <p:nvPr/>
        </p:nvPicPr>
        <p:blipFill>
          <a:blip xmlns:r="http://schemas.openxmlformats.org/officeDocument/2006/relationships" xmlns:a="http://schemas.openxmlformats.org/drawingml/2006/main" r:embed="Rc1ce03edf2ec4366"/>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581A4E-CDAF-4957-A922-57F59149F718}"/>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EC9C5A23-2F7F-4DFC-93FB-26A64E2C7B4B}"/>
              </a:ext>
            </a:extLst>
          </p:cNvPr>
          <p:cNvPicPr>
            <a:picLocks xmlns:a="http://schemas.openxmlformats.org/drawingml/2006/main" noChangeAspect="1"/>
          </p:cNvPicPr>
          <p:nvPr/>
        </p:nvPicPr>
        <p:blipFill>
          <a:blip xmlns:r="http://schemas.openxmlformats.org/officeDocument/2006/relationships" xmlns:a="http://schemas.openxmlformats.org/drawingml/2006/main" r:embed="R18f86f0a5f994a46"/>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8" name="AILANTO PER ALPS BATTERY · SEGMENTO">
            <a:extLst xmlns:a="http://schemas.openxmlformats.org/drawingml/2006/main">
              <a:ext uri="{FF2B5EF4-FFF2-40B4-BE49-F238E27FC236}">
                <a16:creationId xmlns:a16="http://schemas.microsoft.com/office/drawing/2014/main" id="{9AA148D1-C6B1-4C71-A484-E27FC383F347}"/>
              </a:ext>
            </a:extLst>
          </p:cNvPr>
          <p:cNvSpPr>
            <a:spLocks xmlns:a="http://schemas.openxmlformats.org/drawingml/2006/main" noGrp="1"/>
          </p:cNvSpPr>
          <p:nvPr/>
        </p:nvSpPr>
        <p:spPr>
          <a:xfrm xmlns:a="http://schemas.openxmlformats.org/drawingml/2006/main">
            <a:off x="914400" y="1917700"/>
            <a:ext cx="1397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1">
                <a:solidFill>
                  <a:srgbClr val="C8F67C"/>
                </a:solidFill>
                <a:latin typeface="Liberation Sans"/>
                <a:ea typeface="Liberation Sans"/>
                <a:cs typeface="Liberation Sans"/>
              </a:defRPr>
            </a:defPPr>
          </a:lstStyle>
          <a:p xmlns:a="http://schemas.openxmlformats.org/drawingml/2006/main">
            <a:pPr>
              <a:lnSpc>
                <a:spcPct val="108000"/>
              </a:lnSpc>
              <a:buNone/>
              <a:defRPr sz="1400" b="1">
                <a:solidFill>
                  <a:srgbClr val="C8F67C"/>
                </a:solidFill>
                <a:latin typeface="Liberation Sans"/>
                <a:ea typeface="Liberation Sans"/>
                <a:cs typeface="Liberation Sans"/>
              </a:defRPr>
            </a:pPr>
            <a:r>
              <a:rPr sz="1400" b="1">
                <a:solidFill>
                  <a:srgbClr val="C8F67C"/>
                </a:solidFill>
                <a:latin typeface="Liberation Sans"/>
                <a:ea typeface="Liberation Sans"/>
                <a:cs typeface="Liberation Sans"/>
              </a:rPr>
              <a:t>AILANTO PER ALPS BATTERY · SEGMENTO</a:t>
            </a:r>
          </a:p>
        </p:txBody>
      </p:sp>
      <p:sp>
        <p:nvSpPr>
          <p:cNvPr id="9" name="Il passaporto&#10;digitale&#10;della batteria.">
            <a:extLst xmlns:a="http://schemas.openxmlformats.org/drawingml/2006/main">
              <a:ext uri="{FF2B5EF4-FFF2-40B4-BE49-F238E27FC236}">
                <a16:creationId xmlns:a16="http://schemas.microsoft.com/office/drawing/2014/main" id="{B5F09FD7-E103-4958-BC24-A82F57A3A921}"/>
              </a:ext>
            </a:extLst>
          </p:cNvPr>
          <p:cNvSpPr>
            <a:spLocks xmlns:a="http://schemas.openxmlformats.org/drawingml/2006/main" noGrp="1"/>
          </p:cNvSpPr>
          <p:nvPr/>
        </p:nvSpPr>
        <p:spPr>
          <a:xfrm xmlns:a="http://schemas.openxmlformats.org/drawingml/2006/main">
            <a:off x="914400" y="2628900"/>
            <a:ext cx="9842500" cy="275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00" b="1">
                <a:solidFill>
                  <a:srgbClr val="F4F4E9"/>
                </a:solidFill>
                <a:latin typeface="Liberation Sans"/>
                <a:ea typeface="Liberation Sans"/>
                <a:cs typeface="Liberation Sans"/>
              </a:defRPr>
            </a:defPPr>
          </a:lstStyle>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Il passaporto</a:t>
            </a:r>
          </a:p>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digitale</a:t>
            </a:r>
          </a:p>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della batteria.</a:t>
            </a:r>
          </a:p>
        </p:txBody>
      </p:sp>
      <p:sp>
        <p:nvSpPr>
          <p:cNvPr id="10" name="Identità digitale e dati verificabili per collegare&#10;">
            <a:extLst xmlns:a="http://schemas.openxmlformats.org/drawingml/2006/main">
              <a:ext uri="{FF2B5EF4-FFF2-40B4-BE49-F238E27FC236}">
                <a16:creationId xmlns:a16="http://schemas.microsoft.com/office/drawing/2014/main" id="{AEE367A2-9DF1-45DB-A6C6-9E462ABD7499}"/>
              </a:ext>
            </a:extLst>
          </p:cNvPr>
          <p:cNvSpPr>
            <a:spLocks xmlns:a="http://schemas.openxmlformats.org/drawingml/2006/main" noGrp="1"/>
          </p:cNvSpPr>
          <p:nvPr/>
        </p:nvSpPr>
        <p:spPr>
          <a:xfrm xmlns:a="http://schemas.openxmlformats.org/drawingml/2006/main">
            <a:off x="914400" y="57277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0">
                <a:solidFill>
                  <a:srgbClr val="F4F4E9"/>
                </a:solidFill>
                <a:latin typeface="Liberation Sans"/>
                <a:ea typeface="Liberation Sans"/>
                <a:cs typeface="Liberation Sans"/>
              </a:defRPr>
            </a:defPPr>
          </a:lstStyle>
          <a:p xmlns:a="http://schemas.openxmlformats.org/drawingml/2006/main">
            <a:pPr>
              <a:lnSpc>
                <a:spcPct val="108000"/>
              </a:lnSpc>
              <a:buNone/>
              <a:defRPr sz="2600" b="0">
                <a:solidFill>
                  <a:srgbClr val="F4F4E9"/>
                </a:solidFill>
                <a:latin typeface="Liberation Sans"/>
                <a:ea typeface="Liberation Sans"/>
                <a:cs typeface="Liberation Sans"/>
              </a:defRPr>
            </a:pPr>
            <a:r>
              <a:rPr sz="2600" b="0">
                <a:solidFill>
                  <a:srgbClr val="F4F4E9"/>
                </a:solidFill>
                <a:latin typeface="Liberation Sans"/>
                <a:ea typeface="Liberation Sans"/>
                <a:cs typeface="Liberation Sans"/>
              </a:rPr>
              <a:t>Identità digitale e dati verificabili per collegare</a:t>
            </a:r>
          </a:p>
          <a:p xmlns:a="http://schemas.openxmlformats.org/drawingml/2006/main">
            <a:pPr>
              <a:lnSpc>
                <a:spcPct val="108000"/>
              </a:lnSpc>
              <a:buNone/>
              <a:defRPr sz="2600" b="0">
                <a:solidFill>
                  <a:srgbClr val="F4F4E9"/>
                </a:solidFill>
                <a:latin typeface="Liberation Sans"/>
                <a:ea typeface="Liberation Sans"/>
                <a:cs typeface="Liberation Sans"/>
              </a:defRPr>
            </a:pPr>
            <a:r>
              <a:rPr sz="2600" b="0">
                <a:solidFill>
                  <a:srgbClr val="F4F4E9"/>
                </a:solidFill>
                <a:latin typeface="Liberation Sans"/>
                <a:ea typeface="Liberation Sans"/>
                <a:cs typeface="Liberation Sans"/>
              </a:rPr>
              <a:t>produzione, utilizzo e storia di ogni batteria.</a:t>
            </a:r>
          </a:p>
        </p:txBody>
      </p:sp>
      <p:sp>
        <p:nvSpPr>
          <p:cNvPr id="11" name="">
            <a:extLst xmlns:a="http://schemas.openxmlformats.org/drawingml/2006/main">
              <a:ext uri="{FF2B5EF4-FFF2-40B4-BE49-F238E27FC236}">
                <a16:creationId xmlns:a16="http://schemas.microsoft.com/office/drawing/2014/main" id="{459A6F0F-E8A0-48A4-9D12-5878FB355D83}"/>
              </a:ext>
            </a:extLst>
          </p:cNvPr>
          <p:cNvSpPr>
            <a:spLocks xmlns:a="http://schemas.openxmlformats.org/drawingml/2006/main" noGrp="1"/>
          </p:cNvSpPr>
          <p:nvPr/>
        </p:nvSpPr>
        <p:spPr>
          <a:xfrm xmlns:a="http://schemas.openxmlformats.org/drawingml/2006/main">
            <a:off x="914400" y="7556500"/>
            <a:ext cx="7747000" cy="0"/>
          </a:xfrm>
          <a:prstGeom xmlns:a="http://schemas.openxmlformats.org/drawingml/2006/main" prst="line">
            <a:avLst/>
          </a:prstGeom>
          <a:noFill xmlns:a="http://schemas.openxmlformats.org/drawingml/2006/main"/>
          <a:ln xmlns:a="http://schemas.openxmlformats.org/drawingml/2006/main" w="25400">
            <a:solidFill>
              <a:srgbClr val="C8F67C"/>
            </a:solidFill>
            <a:prstDash val="solid"/>
          </a:ln>
        </p:spPr>
      </p:sp>
      <p:sp>
        <p:nvSpPr>
          <p:cNvPr id="12" name="IDENTITÀ  /  DOCUMENTI  /  CICLO DI VITA">
            <a:extLst xmlns:a="http://schemas.openxmlformats.org/drawingml/2006/main">
              <a:ext uri="{FF2B5EF4-FFF2-40B4-BE49-F238E27FC236}">
                <a16:creationId xmlns:a16="http://schemas.microsoft.com/office/drawing/2014/main" id="{8744B869-D8B0-48C8-A65E-042175E71107}"/>
              </a:ext>
            </a:extLst>
          </p:cNvPr>
          <p:cNvSpPr>
            <a:spLocks xmlns:a="http://schemas.openxmlformats.org/drawingml/2006/main" noGrp="1"/>
          </p:cNvSpPr>
          <p:nvPr/>
        </p:nvSpPr>
        <p:spPr>
          <a:xfrm xmlns:a="http://schemas.openxmlformats.org/drawingml/2006/main">
            <a:off x="914400" y="78105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IDENTITÀ  /  DOCUMENTI  /  CICLO DI VITA</a:t>
            </a:r>
          </a:p>
        </p:txBody>
      </p:sp>
      <p:sp>
        <p:nvSpPr>
          <p:cNvPr id="13" name="Soluzione proposta · Immagini e loghi ufficiali · Ot">
            <a:extLst xmlns:a="http://schemas.openxmlformats.org/drawingml/2006/main">
              <a:ext uri="{FF2B5EF4-FFF2-40B4-BE49-F238E27FC236}">
                <a16:creationId xmlns:a16="http://schemas.microsoft.com/office/drawing/2014/main" id="{CE554902-16D9-4B91-BBC7-469E6CB6D68A}"/>
              </a:ext>
            </a:extLst>
          </p:cNvPr>
          <p:cNvSpPr>
            <a:spLocks xmlns:a="http://schemas.openxmlformats.org/drawingml/2006/main" noGrp="1"/>
          </p:cNvSpPr>
          <p:nvPr/>
        </p:nvSpPr>
        <p:spPr>
          <a:xfrm xmlns:a="http://schemas.openxmlformats.org/drawingml/2006/main">
            <a:off x="914400" y="8648700"/>
            <a:ext cx="13462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F4F4E9"/>
                </a:solidFill>
                <a:latin typeface="Liberation Sans"/>
                <a:ea typeface="Liberation Sans"/>
                <a:cs typeface="Liberation Sans"/>
              </a:defRPr>
            </a:defPPr>
          </a:lstStyle>
          <a:p xmlns:a="http://schemas.openxmlformats.org/drawingml/2006/main">
            <a:pPr>
              <a:lnSpc>
                <a:spcPct val="108000"/>
              </a:lnSpc>
              <a:buNone/>
              <a:defRPr sz="1200" b="0">
                <a:solidFill>
                  <a:srgbClr val="F4F4E9"/>
                </a:solidFill>
                <a:latin typeface="Liberation Sans"/>
                <a:ea typeface="Liberation Sans"/>
                <a:cs typeface="Liberation Sans"/>
              </a:defRPr>
            </a:pPr>
            <a:r>
              <a:rPr sz="1200" b="0">
                <a:solidFill>
                  <a:srgbClr val="F4F4E9"/>
                </a:solidFill>
                <a:latin typeface="Liberation Sans"/>
                <a:ea typeface="Liberation Sans"/>
                <a:cs typeface="Liberation Sans"/>
              </a:rPr>
              <a:t>Soluzione proposta · Immagini e loghi ufficiali · Ottobre 2026</a:t>
            </a:r>
          </a:p>
        </p:txBody>
      </p:sp>
      <p:sp>
        <p:nvSpPr>
          <p:cNvPr id="14" name="01 / 11">
            <a:extLst xmlns:a="http://schemas.openxmlformats.org/drawingml/2006/main">
              <a:ext uri="{FF2B5EF4-FFF2-40B4-BE49-F238E27FC236}">
                <a16:creationId xmlns:a16="http://schemas.microsoft.com/office/drawing/2014/main" id="{EE6392D6-4BE9-46C9-9CAD-71C422798189}"/>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09191B"/>
                </a:solidFill>
                <a:latin typeface="Liberation Sans"/>
                <a:ea typeface="Liberation Sans"/>
                <a:cs typeface="Liberation Sans"/>
              </a:defRPr>
            </a:defPPr>
          </a:lstStyle>
          <a:p xmlns:a="http://schemas.openxmlformats.org/drawingml/2006/main">
            <a:pPr>
              <a:lnSpc>
                <a:spcPct val="108000"/>
              </a:lnSpc>
              <a:buNone/>
              <a:defRPr sz="1300" b="1">
                <a:solidFill>
                  <a:srgbClr val="09191B"/>
                </a:solidFill>
                <a:latin typeface="Liberation Sans"/>
                <a:ea typeface="Liberation Sans"/>
                <a:cs typeface="Liberation Sans"/>
              </a:defRPr>
            </a:pPr>
            <a:r>
              <a:rPr sz="1300" b="1">
                <a:solidFill>
                  <a:srgbClr val="09191B"/>
                </a:solidFill>
                <a:latin typeface="Liberation Sans"/>
                <a:ea typeface="Liberation Sans"/>
                <a:cs typeface="Liberation Sans"/>
              </a:rPr>
              <a:t>01 / 11</a:t>
            </a:r>
          </a:p>
        </p:txBody>
      </p:sp>
    </p:spTree>
    <p:extLst>
      <p:ext uri="{BB962C8B-B14F-4D97-AF65-F5344CB8AC3E}">
        <p14:creationId xmlns:p14="http://schemas.microsoft.com/office/powerpoint/2010/main" val="1018407303"/>
      </p:ext>
    </p:extLst>
  </p:cSld>
</p:sld>
</file>

<file path=ppt/slides/slide2.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68B6E26-BF8B-4668-ADB6-B641D9894C68}"/>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230F3154-037E-4F1E-8B7D-2B4499AE7C9A}"/>
              </a:ext>
            </a:extLst>
          </p:cNvPr>
          <p:cNvPicPr>
            <a:picLocks xmlns:a="http://schemas.openxmlformats.org/drawingml/2006/main" noChangeAspect="1"/>
          </p:cNvPicPr>
          <p:nvPr/>
        </p:nvPicPr>
        <p:blipFill>
          <a:blip xmlns:r="http://schemas.openxmlformats.org/officeDocument/2006/relationships" xmlns:a="http://schemas.openxmlformats.org/drawingml/2006/main" r:embed="R1a723e6056c04a41"/>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5652B7-51F7-4F85-9288-B1B13684F60A}"/>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7A1093A8-887B-4926-AB37-070829F7A6D8}"/>
              </a:ext>
            </a:extLst>
          </p:cNvPr>
          <p:cNvPicPr>
            <a:picLocks xmlns:a="http://schemas.openxmlformats.org/drawingml/2006/main" noChangeAspect="1"/>
          </p:cNvPicPr>
          <p:nvPr/>
        </p:nvPicPr>
        <p:blipFill>
          <a:blip xmlns:r="http://schemas.openxmlformats.org/officeDocument/2006/relationships" xmlns:a="http://schemas.openxmlformats.org/drawingml/2006/main" r:embed="Rf11f4b9c63b648f3"/>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LA SOLUZIONE">
            <a:extLst xmlns:a="http://schemas.openxmlformats.org/drawingml/2006/main">
              <a:ext uri="{FF2B5EF4-FFF2-40B4-BE49-F238E27FC236}">
                <a16:creationId xmlns:a16="http://schemas.microsoft.com/office/drawing/2014/main" id="{B9DFE2F9-4F87-48DC-9CB7-60BA0C2E0861}"/>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LA SOLUZIONE</a:t>
            </a:r>
          </a:p>
        </p:txBody>
      </p:sp>
      <p:sp>
        <p:nvSpPr>
          <p:cNvPr id="6" name="Un servizio digitale&#10;per le batterie su misura">
            <a:extLst xmlns:a="http://schemas.openxmlformats.org/drawingml/2006/main">
              <a:ext uri="{FF2B5EF4-FFF2-40B4-BE49-F238E27FC236}">
                <a16:creationId xmlns:a16="http://schemas.microsoft.com/office/drawing/2014/main" id="{885D3FD6-94E3-490F-9474-0743570C601E}"/>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Un servizio digitale</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per le batterie su misura</a:t>
            </a:r>
          </a:p>
        </p:txBody>
      </p:sp>
      <p:sp>
        <p:nvSpPr>
          <p:cNvPr id="7" name="Alps Battery propone soluzioni al litio per macchine">
            <a:extLst xmlns:a="http://schemas.openxmlformats.org/drawingml/2006/main">
              <a:ext uri="{FF2B5EF4-FFF2-40B4-BE49-F238E27FC236}">
                <a16:creationId xmlns:a16="http://schemas.microsoft.com/office/drawing/2014/main" id="{9B4C66D6-28C8-49CB-9F7F-4577A91DF584}"/>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Alps Battery propone soluzioni al litio per macchine elettriche e ibride, con chimiche e configurazioni personalizzate.</a:t>
            </a:r>
          </a:p>
        </p:txBody>
      </p:sp>
      <p:sp>
        <p:nvSpPr>
          <p:cNvPr id="8" name="">
            <a:extLst xmlns:a="http://schemas.openxmlformats.org/drawingml/2006/main">
              <a:ext uri="{FF2B5EF4-FFF2-40B4-BE49-F238E27FC236}">
                <a16:creationId xmlns:a16="http://schemas.microsoft.com/office/drawing/2014/main" id="{6E7D9EF7-1EB4-4772-9699-A2CF8E604E82}"/>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Fonte: alpsbattery.com · Interfacce, dati disponibil">
            <a:extLst xmlns:a="http://schemas.openxmlformats.org/drawingml/2006/main">
              <a:ext uri="{FF2B5EF4-FFF2-40B4-BE49-F238E27FC236}">
                <a16:creationId xmlns:a16="http://schemas.microsoft.com/office/drawing/2014/main" id="{FDE2DCF5-4F1E-44F0-A08C-B4258DC727EE}"/>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Fonte: alpsbattery.com · Interfacce, dati disponibili e perimetro dell’integrazione da concordare.</a:t>
            </a:r>
          </a:p>
        </p:txBody>
      </p:sp>
      <p:sp>
        <p:nvSpPr>
          <p:cNvPr id="10" name="02 / 11">
            <a:extLst xmlns:a="http://schemas.openxmlformats.org/drawingml/2006/main">
              <a:ext uri="{FF2B5EF4-FFF2-40B4-BE49-F238E27FC236}">
                <a16:creationId xmlns:a16="http://schemas.microsoft.com/office/drawing/2014/main" id="{1EF7EDBF-7981-488D-A058-3093D6ACFE80}"/>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02 / 11</a:t>
            </a:r>
          </a:p>
        </p:txBody>
      </p:sp>
      <p:sp>
        <p:nvSpPr>
          <p:cNvPr id="11" name="01">
            <a:extLst xmlns:a="http://schemas.openxmlformats.org/drawingml/2006/main">
              <a:ext uri="{FF2B5EF4-FFF2-40B4-BE49-F238E27FC236}">
                <a16:creationId xmlns:a16="http://schemas.microsoft.com/office/drawing/2014/main" id="{35DDD306-2F2D-4583-924D-51BAEC9C2855}"/>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Identità del prodotto">
            <a:extLst xmlns:a="http://schemas.openxmlformats.org/drawingml/2006/main">
              <a:ext uri="{FF2B5EF4-FFF2-40B4-BE49-F238E27FC236}">
                <a16:creationId xmlns:a16="http://schemas.microsoft.com/office/drawing/2014/main" id="{2E0C21DE-8C54-4DCA-9400-A5AB5B30C366}"/>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Identità del prodotto</a:t>
            </a:r>
          </a:p>
        </p:txBody>
      </p:sp>
      <p:sp>
        <p:nvSpPr>
          <p:cNvPr id="13" name="Identità, configurazione e&#10;documenti collegati alla&#10;">
            <a:extLst xmlns:a="http://schemas.openxmlformats.org/drawingml/2006/main">
              <a:ext uri="{FF2B5EF4-FFF2-40B4-BE49-F238E27FC236}">
                <a16:creationId xmlns:a16="http://schemas.microsoft.com/office/drawing/2014/main" id="{0FD19A87-3E73-40C0-91DD-67EA2ADD1840}"/>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Identità, configurazione 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documenti collegati alla</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singola batteria.</a:t>
            </a:r>
          </a:p>
        </p:txBody>
      </p:sp>
      <p:sp>
        <p:nvSpPr>
          <p:cNvPr id="14" name="02">
            <a:extLst xmlns:a="http://schemas.openxmlformats.org/drawingml/2006/main">
              <a:ext uri="{FF2B5EF4-FFF2-40B4-BE49-F238E27FC236}">
                <a16:creationId xmlns:a16="http://schemas.microsoft.com/office/drawing/2014/main" id="{A92B17C5-85C2-4DB9-8093-982C4F2A769A}"/>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Storia documentata">
            <a:extLst xmlns:a="http://schemas.openxmlformats.org/drawingml/2006/main">
              <a:ext uri="{FF2B5EF4-FFF2-40B4-BE49-F238E27FC236}">
                <a16:creationId xmlns:a16="http://schemas.microsoft.com/office/drawing/2014/main" id="{3A96A6B1-3C70-4D5B-9E29-31EBACC72AD1}"/>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Storia documentata</a:t>
            </a:r>
          </a:p>
        </p:txBody>
      </p:sp>
      <p:sp>
        <p:nvSpPr>
          <p:cNvPr id="16" name="Misure e interventi rendono&#10;ricostruibile la storia ">
            <a:extLst xmlns:a="http://schemas.openxmlformats.org/drawingml/2006/main">
              <a:ext uri="{FF2B5EF4-FFF2-40B4-BE49-F238E27FC236}">
                <a16:creationId xmlns:a16="http://schemas.microsoft.com/office/drawing/2014/main" id="{0DCE7684-1232-4905-A7BA-2102E1604C3E}"/>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Misure e interventi rendono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ricostruibile la storia del</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prodotto in esercizio.</a:t>
            </a:r>
          </a:p>
        </p:txBody>
      </p:sp>
      <p:sp>
        <p:nvSpPr>
          <p:cNvPr id="17" name="03">
            <a:extLst xmlns:a="http://schemas.openxmlformats.org/drawingml/2006/main">
              <a:ext uri="{FF2B5EF4-FFF2-40B4-BE49-F238E27FC236}">
                <a16:creationId xmlns:a16="http://schemas.microsoft.com/office/drawing/2014/main" id="{0A789672-30B4-4957-A275-68B434EDCB8B}"/>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Scambio con la filiera">
            <a:extLst xmlns:a="http://schemas.openxmlformats.org/drawingml/2006/main">
              <a:ext uri="{FF2B5EF4-FFF2-40B4-BE49-F238E27FC236}">
                <a16:creationId xmlns:a16="http://schemas.microsoft.com/office/drawing/2014/main" id="{1C794CEA-8119-4BB3-89EA-02FD512A8096}"/>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Scambio con la filiera</a:t>
            </a:r>
          </a:p>
        </p:txBody>
      </p:sp>
      <p:sp>
        <p:nvSpPr>
          <p:cNvPr id="19" name="Informazioni consultabili&#10;dai soggetti autorizzati,&#10;">
            <a:extLst xmlns:a="http://schemas.openxmlformats.org/drawingml/2006/main">
              <a:ext uri="{FF2B5EF4-FFF2-40B4-BE49-F238E27FC236}">
                <a16:creationId xmlns:a16="http://schemas.microsoft.com/office/drawing/2014/main" id="{052A4E1F-AB88-4D66-A8E9-48AC519067F5}"/>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Informazioni consultabili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dai soggetti autorizzati,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secondo i diritti di accesso.</a:t>
            </a:r>
          </a:p>
        </p:txBody>
      </p:sp>
      <p:sp>
        <p:nvSpPr>
          <p:cNvPr id="20" name="">
            <a:extLst xmlns:a="http://schemas.openxmlformats.org/drawingml/2006/main">
              <a:ext uri="{FF2B5EF4-FFF2-40B4-BE49-F238E27FC236}">
                <a16:creationId xmlns:a16="http://schemas.microsoft.com/office/drawing/2014/main" id="{E6DB2482-02C9-4C6D-93DA-55DB08F6E79C}"/>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Integrazione proposta con i sistemi Alps Battery e, ">
            <a:extLst xmlns:a="http://schemas.openxmlformats.org/drawingml/2006/main">
              <a:ext uri="{FF2B5EF4-FFF2-40B4-BE49-F238E27FC236}">
                <a16:creationId xmlns:a16="http://schemas.microsoft.com/office/drawing/2014/main" id="{A1147A20-CF32-41AE-BB01-3C351A332589}"/>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Integrazione proposta con i sistemi Alps Battery e, dove disponibili, con i dati di BMS e costruttori.</a:t>
            </a:r>
          </a:p>
        </p:txBody>
      </p:sp>
    </p:spTree>
    <p:extLst>
      <p:ext uri="{BB962C8B-B14F-4D97-AF65-F5344CB8AC3E}">
        <p14:creationId xmlns:p14="http://schemas.microsoft.com/office/powerpoint/2010/main" val="767076169"/>
      </p:ext>
    </p:extLst>
  </p:cSld>
</p:sld>
</file>

<file path=ppt/slides/slide3.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DEF5A5C-9022-4CD4-96E0-1DC898C38B6F}"/>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BAD14DD3-738D-4BE0-95D0-88D7145A6D9E}"/>
              </a:ext>
            </a:extLst>
          </p:cNvPr>
          <p:cNvPicPr>
            <a:picLocks xmlns:a="http://schemas.openxmlformats.org/drawingml/2006/main" noChangeAspect="1"/>
          </p:cNvPicPr>
          <p:nvPr/>
        </p:nvPicPr>
        <p:blipFill>
          <a:blip xmlns:r="http://schemas.openxmlformats.org/officeDocument/2006/relationships" xmlns:a="http://schemas.openxmlformats.org/drawingml/2006/main" r:embed="R74e08f972b87423e"/>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3EA00B-BB10-46C3-8ED3-930652571799}"/>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AECCA28B-2086-46ED-AB3C-3BFF46295A5E}"/>
              </a:ext>
            </a:extLst>
          </p:cNvPr>
          <p:cNvPicPr>
            <a:picLocks xmlns:a="http://schemas.openxmlformats.org/drawingml/2006/main" noChangeAspect="1"/>
          </p:cNvPicPr>
          <p:nvPr/>
        </p:nvPicPr>
        <p:blipFill>
          <a:blip xmlns:r="http://schemas.openxmlformats.org/officeDocument/2006/relationships" xmlns:a="http://schemas.openxmlformats.org/drawingml/2006/main" r:embed="R8eea91d41be34991"/>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DIGITALE">
            <a:extLst xmlns:a="http://schemas.openxmlformats.org/drawingml/2006/main">
              <a:ext uri="{FF2B5EF4-FFF2-40B4-BE49-F238E27FC236}">
                <a16:creationId xmlns:a16="http://schemas.microsoft.com/office/drawing/2014/main" id="{768AAD2E-4487-4EE7-8BCE-950E97F34700}"/>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DIGITALE</a:t>
            </a:r>
          </a:p>
        </p:txBody>
      </p:sp>
      <p:sp>
        <p:nvSpPr>
          <p:cNvPr id="6" name="Un’identità digitale&#10;per ogni batteria">
            <a:extLst xmlns:a="http://schemas.openxmlformats.org/drawingml/2006/main">
              <a:ext uri="{FF2B5EF4-FFF2-40B4-BE49-F238E27FC236}">
                <a16:creationId xmlns:a16="http://schemas.microsoft.com/office/drawing/2014/main" id="{9CE90656-F07C-42A2-9344-32AE3DEE1EB0}"/>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Un’identità digitale</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per ogni batteria</a:t>
            </a:r>
          </a:p>
        </p:txBody>
      </p:sp>
      <p:sp>
        <p:nvSpPr>
          <p:cNvPr id="7" name="Il numero di serie collega configurazione, collaudi,">
            <a:extLst xmlns:a="http://schemas.openxmlformats.org/drawingml/2006/main">
              <a:ext uri="{FF2B5EF4-FFF2-40B4-BE49-F238E27FC236}">
                <a16:creationId xmlns:a16="http://schemas.microsoft.com/office/drawing/2014/main" id="{2E1EB624-6BF1-4F0B-A2B9-0C83C9FB7FA0}"/>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Il numero di serie collega configurazione, collaudi, documenti e storia degli interventi.</a:t>
            </a:r>
          </a:p>
        </p:txBody>
      </p:sp>
      <p:sp>
        <p:nvSpPr>
          <p:cNvPr id="8" name="">
            <a:extLst xmlns:a="http://schemas.openxmlformats.org/drawingml/2006/main">
              <a:ext uri="{FF2B5EF4-FFF2-40B4-BE49-F238E27FC236}">
                <a16:creationId xmlns:a16="http://schemas.microsoft.com/office/drawing/2014/main" id="{85C3063C-FAB6-46FA-AEA2-5F0C56C6BCD1}"/>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Contenuti proposti · Reg. (UE) 2023/1542, artt. 77-7">
            <a:extLst xmlns:a="http://schemas.openxmlformats.org/drawingml/2006/main">
              <a:ext uri="{FF2B5EF4-FFF2-40B4-BE49-F238E27FC236}">
                <a16:creationId xmlns:a16="http://schemas.microsoft.com/office/drawing/2014/main" id="{9645F236-9034-4901-9505-FE44D8C906E8}"/>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Contenuti proposti · Reg. (UE) 2023/1542, artt. 77-78 e allegato XIII; applicabilità da verificare per prodotto.</a:t>
            </a:r>
          </a:p>
        </p:txBody>
      </p:sp>
      <p:sp>
        <p:nvSpPr>
          <p:cNvPr id="10" name="03 / 11">
            <a:extLst xmlns:a="http://schemas.openxmlformats.org/drawingml/2006/main">
              <a:ext uri="{FF2B5EF4-FFF2-40B4-BE49-F238E27FC236}">
                <a16:creationId xmlns:a16="http://schemas.microsoft.com/office/drawing/2014/main" id="{129F0BD2-AEAE-4EDB-A541-AB40C08E709C}"/>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03 / 11</a:t>
            </a:r>
          </a:p>
        </p:txBody>
      </p:sp>
      <p:pic>
        <p:nvPicPr>
          <p:cNvPr id="11" name="">
            <a:extLst xmlns:a="http://schemas.openxmlformats.org/drawingml/2006/main">
              <a:ext uri="{FF2B5EF4-FFF2-40B4-BE49-F238E27FC236}">
                <a16:creationId xmlns:a16="http://schemas.microsoft.com/office/drawing/2014/main" id="{5C35AB86-BC71-4F62-86D7-0E851B1E2647}"/>
              </a:ext>
            </a:extLst>
          </p:cNvPr>
          <p:cNvPicPr>
            <a:picLocks xmlns:a="http://schemas.openxmlformats.org/drawingml/2006/main" noChangeAspect="1"/>
          </p:cNvPicPr>
          <p:nvPr/>
        </p:nvPicPr>
        <p:blipFill>
          <a:blip xmlns:r="http://schemas.openxmlformats.org/officeDocument/2006/relationships" xmlns:a="http://schemas.openxmlformats.org/drawingml/2006/main" r:embed="Re6b3b3eb6315434b"/>
          <a:stretch xmlns:a="http://schemas.openxmlformats.org/drawingml/2006/main"/>
        </p:blipFill>
        <p:spPr>
          <a:xfrm xmlns:a="http://schemas.openxmlformats.org/drawingml/2006/main">
            <a:off x="1041400" y="4330700"/>
            <a:ext cx="3340100" cy="33401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426F800-454B-48DF-90C3-CB8AE7D7D918}"/>
              </a:ext>
            </a:extLst>
          </p:cNvPr>
          <p:cNvSpPr>
            <a:spLocks xmlns:a="http://schemas.openxmlformats.org/drawingml/2006/main" noGrp="1"/>
          </p:cNvSpPr>
          <p:nvPr/>
        </p:nvSpPr>
        <p:spPr>
          <a:xfrm xmlns:a="http://schemas.openxmlformats.org/drawingml/2006/main">
            <a:off x="4749800" y="4356100"/>
            <a:ext cx="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13" name="Identità e configurazione">
            <a:extLst xmlns:a="http://schemas.openxmlformats.org/drawingml/2006/main">
              <a:ext uri="{FF2B5EF4-FFF2-40B4-BE49-F238E27FC236}">
                <a16:creationId xmlns:a16="http://schemas.microsoft.com/office/drawing/2014/main" id="{C5B38441-D039-4495-ABC7-06E5D91DC243}"/>
              </a:ext>
            </a:extLst>
          </p:cNvPr>
          <p:cNvSpPr>
            <a:spLocks xmlns:a="http://schemas.openxmlformats.org/drawingml/2006/main" noGrp="1"/>
          </p:cNvSpPr>
          <p:nvPr/>
        </p:nvSpPr>
        <p:spPr>
          <a:xfrm xmlns:a="http://schemas.openxmlformats.org/drawingml/2006/main">
            <a:off x="5283200" y="42672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Identità e configurazione</a:t>
            </a:r>
          </a:p>
        </p:txBody>
      </p:sp>
      <p:sp>
        <p:nvSpPr>
          <p:cNvPr id="14" name="Modello, matricola, chimica, capacità e componenti.">
            <a:extLst xmlns:a="http://schemas.openxmlformats.org/drawingml/2006/main">
              <a:ext uri="{FF2B5EF4-FFF2-40B4-BE49-F238E27FC236}">
                <a16:creationId xmlns:a16="http://schemas.microsoft.com/office/drawing/2014/main" id="{D5663520-EE44-4F00-8F83-02A9B9095999}"/>
              </a:ext>
            </a:extLst>
          </p:cNvPr>
          <p:cNvSpPr>
            <a:spLocks xmlns:a="http://schemas.openxmlformats.org/drawingml/2006/main" noGrp="1"/>
          </p:cNvSpPr>
          <p:nvPr/>
        </p:nvSpPr>
        <p:spPr>
          <a:xfrm xmlns:a="http://schemas.openxmlformats.org/drawingml/2006/main">
            <a:off x="5283200" y="47498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Modello, matricola, chimica, capacità e componenti.</a:t>
            </a:r>
          </a:p>
        </p:txBody>
      </p:sp>
      <p:sp>
        <p:nvSpPr>
          <p:cNvPr id="15" name="Documenti e prove">
            <a:extLst xmlns:a="http://schemas.openxmlformats.org/drawingml/2006/main">
              <a:ext uri="{FF2B5EF4-FFF2-40B4-BE49-F238E27FC236}">
                <a16:creationId xmlns:a16="http://schemas.microsoft.com/office/drawing/2014/main" id="{BB12A81E-9F77-4E28-8F99-22FF2D398A17}"/>
              </a:ext>
            </a:extLst>
          </p:cNvPr>
          <p:cNvSpPr>
            <a:spLocks xmlns:a="http://schemas.openxmlformats.org/drawingml/2006/main" noGrp="1"/>
          </p:cNvSpPr>
          <p:nvPr/>
        </p:nvSpPr>
        <p:spPr>
          <a:xfrm xmlns:a="http://schemas.openxmlformats.org/drawingml/2006/main">
            <a:off x="5283200" y="52070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Documenti e prove</a:t>
            </a:r>
          </a:p>
        </p:txBody>
      </p:sp>
      <p:sp>
        <p:nvSpPr>
          <p:cNvPr id="16" name="Documentazione tecnica, collaudi e dichiarazioni per">
            <a:extLst xmlns:a="http://schemas.openxmlformats.org/drawingml/2006/main">
              <a:ext uri="{FF2B5EF4-FFF2-40B4-BE49-F238E27FC236}">
                <a16:creationId xmlns:a16="http://schemas.microsoft.com/office/drawing/2014/main" id="{D19E142C-2B95-4827-9261-EDEE0582B5FE}"/>
              </a:ext>
            </a:extLst>
          </p:cNvPr>
          <p:cNvSpPr>
            <a:spLocks xmlns:a="http://schemas.openxmlformats.org/drawingml/2006/main" noGrp="1"/>
          </p:cNvSpPr>
          <p:nvPr/>
        </p:nvSpPr>
        <p:spPr>
          <a:xfrm xmlns:a="http://schemas.openxmlformats.org/drawingml/2006/main">
            <a:off x="5283200" y="56896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Documentazione tecnica, collaudi e dichiarazioni pertinenti.</a:t>
            </a:r>
          </a:p>
        </p:txBody>
      </p:sp>
      <p:sp>
        <p:nvSpPr>
          <p:cNvPr id="17" name="Storia della batteria">
            <a:extLst xmlns:a="http://schemas.openxmlformats.org/drawingml/2006/main">
              <a:ext uri="{FF2B5EF4-FFF2-40B4-BE49-F238E27FC236}">
                <a16:creationId xmlns:a16="http://schemas.microsoft.com/office/drawing/2014/main" id="{6678370A-BBFA-424B-868B-ECC5F2CADD94}"/>
              </a:ext>
            </a:extLst>
          </p:cNvPr>
          <p:cNvSpPr>
            <a:spLocks xmlns:a="http://schemas.openxmlformats.org/drawingml/2006/main" noGrp="1"/>
          </p:cNvSpPr>
          <p:nvPr/>
        </p:nvSpPr>
        <p:spPr>
          <a:xfrm xmlns:a="http://schemas.openxmlformats.org/drawingml/2006/main">
            <a:off x="5283200" y="61468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Storia della batteria</a:t>
            </a:r>
          </a:p>
        </p:txBody>
      </p:sp>
      <p:sp>
        <p:nvSpPr>
          <p:cNvPr id="18" name="Consegna, dati di utilizzo, manutenzioni e sostituzi">
            <a:extLst xmlns:a="http://schemas.openxmlformats.org/drawingml/2006/main">
              <a:ext uri="{FF2B5EF4-FFF2-40B4-BE49-F238E27FC236}">
                <a16:creationId xmlns:a16="http://schemas.microsoft.com/office/drawing/2014/main" id="{1497BD37-A0F5-44E6-A971-41DDF3BBC18B}"/>
              </a:ext>
            </a:extLst>
          </p:cNvPr>
          <p:cNvSpPr>
            <a:spLocks xmlns:a="http://schemas.openxmlformats.org/drawingml/2006/main" noGrp="1"/>
          </p:cNvSpPr>
          <p:nvPr/>
        </p:nvSpPr>
        <p:spPr>
          <a:xfrm xmlns:a="http://schemas.openxmlformats.org/drawingml/2006/main">
            <a:off x="5283200" y="66294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Consegna, dati di utilizzo, manutenzioni e sostituzioni.</a:t>
            </a:r>
          </a:p>
        </p:txBody>
      </p:sp>
      <p:sp>
        <p:nvSpPr>
          <p:cNvPr id="19" name="Accesso tramite QR">
            <a:extLst xmlns:a="http://schemas.openxmlformats.org/drawingml/2006/main">
              <a:ext uri="{FF2B5EF4-FFF2-40B4-BE49-F238E27FC236}">
                <a16:creationId xmlns:a16="http://schemas.microsoft.com/office/drawing/2014/main" id="{D16455EF-7FA8-456D-BF85-A3646462BEE9}"/>
              </a:ext>
            </a:extLst>
          </p:cNvPr>
          <p:cNvSpPr>
            <a:spLocks xmlns:a="http://schemas.openxmlformats.org/drawingml/2006/main" noGrp="1"/>
          </p:cNvSpPr>
          <p:nvPr/>
        </p:nvSpPr>
        <p:spPr>
          <a:xfrm xmlns:a="http://schemas.openxmlformats.org/drawingml/2006/main">
            <a:off x="5283200" y="70866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Accesso tramite QR</a:t>
            </a:r>
          </a:p>
        </p:txBody>
      </p:sp>
      <p:sp>
        <p:nvSpPr>
          <p:cNvPr id="20" name="Informazioni pubbliche e riservate secondo i diritti">
            <a:extLst xmlns:a="http://schemas.openxmlformats.org/drawingml/2006/main">
              <a:ext uri="{FF2B5EF4-FFF2-40B4-BE49-F238E27FC236}">
                <a16:creationId xmlns:a16="http://schemas.microsoft.com/office/drawing/2014/main" id="{AB217982-02C1-4F9B-9E70-7E8F65DF813F}"/>
              </a:ext>
            </a:extLst>
          </p:cNvPr>
          <p:cNvSpPr>
            <a:spLocks xmlns:a="http://schemas.openxmlformats.org/drawingml/2006/main" noGrp="1"/>
          </p:cNvSpPr>
          <p:nvPr/>
        </p:nvSpPr>
        <p:spPr>
          <a:xfrm xmlns:a="http://schemas.openxmlformats.org/drawingml/2006/main">
            <a:off x="5283200" y="75692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Informazioni pubbliche e riservate secondo i diritti di accesso.</a:t>
            </a:r>
          </a:p>
        </p:txBody>
      </p:sp>
      <p:sp>
        <p:nvSpPr>
          <p:cNvPr id="21" name="Alps Battery · NCM Multimaster">
            <a:extLst xmlns:a="http://schemas.openxmlformats.org/drawingml/2006/main">
              <a:ext uri="{FF2B5EF4-FFF2-40B4-BE49-F238E27FC236}">
                <a16:creationId xmlns:a16="http://schemas.microsoft.com/office/drawing/2014/main" id="{96710F80-CCCD-46D5-A060-5B714219878C}"/>
              </a:ext>
            </a:extLst>
          </p:cNvPr>
          <p:cNvSpPr>
            <a:spLocks xmlns:a="http://schemas.openxmlformats.org/drawingml/2006/main" noGrp="1"/>
          </p:cNvSpPr>
          <p:nvPr/>
        </p:nvSpPr>
        <p:spPr>
          <a:xfrm xmlns:a="http://schemas.openxmlformats.org/drawingml/2006/main">
            <a:off x="914400" y="79502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Alps Battery · NCM Multimaster</a:t>
            </a:r>
          </a:p>
        </p:txBody>
      </p:sp>
    </p:spTree>
    <p:extLst>
      <p:ext uri="{BB962C8B-B14F-4D97-AF65-F5344CB8AC3E}">
        <p14:creationId xmlns:p14="http://schemas.microsoft.com/office/powerpoint/2010/main" val="1644711653"/>
      </p:ext>
    </p:extLst>
  </p:cSld>
</p:sld>
</file>

<file path=ppt/slides/slide4.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45F1E5-A350-4C3C-9E6E-707BA8C1813F}"/>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355671D6-F76C-4D79-9F09-0C0939CE3C69}"/>
              </a:ext>
            </a:extLst>
          </p:cNvPr>
          <p:cNvPicPr>
            <a:picLocks xmlns:a="http://schemas.openxmlformats.org/drawingml/2006/main" noChangeAspect="1"/>
          </p:cNvPicPr>
          <p:nvPr/>
        </p:nvPicPr>
        <p:blipFill>
          <a:blip xmlns:r="http://schemas.openxmlformats.org/officeDocument/2006/relationships" xmlns:a="http://schemas.openxmlformats.org/drawingml/2006/main" r:embed="Rfab4dccbed9d43d5"/>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78245CD-D3BD-4E89-B7DF-55E5B72E8224}"/>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609F35E0-BBE9-462F-8669-AE25A73DAFE3}"/>
              </a:ext>
            </a:extLst>
          </p:cNvPr>
          <p:cNvPicPr>
            <a:picLocks xmlns:a="http://schemas.openxmlformats.org/drawingml/2006/main" noChangeAspect="1"/>
          </p:cNvPicPr>
          <p:nvPr/>
        </p:nvPicPr>
        <p:blipFill>
          <a:blip xmlns:r="http://schemas.openxmlformats.org/officeDocument/2006/relationships" xmlns:a="http://schemas.openxmlformats.org/drawingml/2006/main" r:embed="R2f505612df62433b"/>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BATTERIE · REQUISITI UE">
            <a:extLst xmlns:a="http://schemas.openxmlformats.org/drawingml/2006/main">
              <a:ext uri="{FF2B5EF4-FFF2-40B4-BE49-F238E27FC236}">
                <a16:creationId xmlns:a16="http://schemas.microsoft.com/office/drawing/2014/main" id="{AC33D4AC-4472-45E5-B251-6B0A0F0422F9}"/>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BATTERIE · REQUISITI UE</a:t>
            </a:r>
          </a:p>
        </p:txBody>
      </p:sp>
      <p:sp>
        <p:nvSpPr>
          <p:cNvPr id="6" name="Preparare il passaporto&#10;del 18 febbraio 2027">
            <a:extLst xmlns:a="http://schemas.openxmlformats.org/drawingml/2006/main">
              <a:ext uri="{FF2B5EF4-FFF2-40B4-BE49-F238E27FC236}">
                <a16:creationId xmlns:a16="http://schemas.microsoft.com/office/drawing/2014/main" id="{B8B4C11D-120F-4E39-B3A9-3A96AEA9B8FC}"/>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Preparare il passaporto</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del 18 febbraio 2027</a:t>
            </a:r>
          </a:p>
        </p:txBody>
      </p:sp>
      <p:sp>
        <p:nvSpPr>
          <p:cNvPr id="7" name="Per le batterie industriali oltre 2 kWh immesse sul ">
            <a:extLst xmlns:a="http://schemas.openxmlformats.org/drawingml/2006/main">
              <a:ext uri="{FF2B5EF4-FFF2-40B4-BE49-F238E27FC236}">
                <a16:creationId xmlns:a16="http://schemas.microsoft.com/office/drawing/2014/main" id="{652CD3DF-2DFC-44AA-83A6-455DC0DDAA1F}"/>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Per le batterie industriali oltre 2 kWh immesse sul mercato o messe in servizio nell’UE da quella data.</a:t>
            </a:r>
          </a:p>
        </p:txBody>
      </p:sp>
      <p:sp>
        <p:nvSpPr>
          <p:cNvPr id="8" name="">
            <a:extLst xmlns:a="http://schemas.openxmlformats.org/drawingml/2006/main">
              <a:ext uri="{FF2B5EF4-FFF2-40B4-BE49-F238E27FC236}">
                <a16:creationId xmlns:a16="http://schemas.microsoft.com/office/drawing/2014/main" id="{F354D3C9-648A-4F52-A7B9-4DF926B62058}"/>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Reg. (UE) 2023/1542, art. 77 · FAQ Commissione, sett">
            <a:extLst xmlns:a="http://schemas.openxmlformats.org/drawingml/2006/main">
              <a:ext uri="{FF2B5EF4-FFF2-40B4-BE49-F238E27FC236}">
                <a16:creationId xmlns:a16="http://schemas.microsoft.com/office/drawing/2014/main" id="{4D4286BA-1032-4C2A-AD15-97F75411E66E}"/>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Reg. (UE) 2023/1542, art. 77 · FAQ Commissione, settembre 2026. Verifica richiesta sulla gamma Alps.</a:t>
            </a:r>
          </a:p>
        </p:txBody>
      </p:sp>
      <p:sp>
        <p:nvSpPr>
          <p:cNvPr id="10" name="04 / 11">
            <a:extLst xmlns:a="http://schemas.openxmlformats.org/drawingml/2006/main">
              <a:ext uri="{FF2B5EF4-FFF2-40B4-BE49-F238E27FC236}">
                <a16:creationId xmlns:a16="http://schemas.microsoft.com/office/drawing/2014/main" id="{90C95523-CE5D-4075-9460-7C2DD02ECB0B}"/>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04 / 11</a:t>
            </a:r>
          </a:p>
        </p:txBody>
      </p:sp>
      <p:sp>
        <p:nvSpPr>
          <p:cNvPr id="11" name="01">
            <a:extLst xmlns:a="http://schemas.openxmlformats.org/drawingml/2006/main">
              <a:ext uri="{FF2B5EF4-FFF2-40B4-BE49-F238E27FC236}">
                <a16:creationId xmlns:a16="http://schemas.microsoft.com/office/drawing/2014/main" id="{1040F0B1-5A00-49EE-AF1F-2CD2C9FF91C7}"/>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Perimetro">
            <a:extLst xmlns:a="http://schemas.openxmlformats.org/drawingml/2006/main">
              <a:ext uri="{FF2B5EF4-FFF2-40B4-BE49-F238E27FC236}">
                <a16:creationId xmlns:a16="http://schemas.microsoft.com/office/drawing/2014/main" id="{A9179068-DCA8-412F-B5C3-01F6755CC1FC}"/>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Perimetro</a:t>
            </a:r>
          </a:p>
        </p:txBody>
      </p:sp>
      <p:sp>
        <p:nvSpPr>
          <p:cNvPr id="13" name="Identificare la batteria finita,&#10;la capacità e il so">
            <a:extLst xmlns:a="http://schemas.openxmlformats.org/drawingml/2006/main">
              <a:ext uri="{FF2B5EF4-FFF2-40B4-BE49-F238E27FC236}">
                <a16:creationId xmlns:a16="http://schemas.microsoft.com/office/drawing/2014/main" id="{C353AD6D-C377-49EE-B4F2-4FC95550992B}"/>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Identificare la batteria finita,</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la capacità e il soggetto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responsabile dell’immissione.</a:t>
            </a:r>
          </a:p>
        </p:txBody>
      </p:sp>
      <p:sp>
        <p:nvSpPr>
          <p:cNvPr id="14" name="02">
            <a:extLst xmlns:a="http://schemas.openxmlformats.org/drawingml/2006/main">
              <a:ext uri="{FF2B5EF4-FFF2-40B4-BE49-F238E27FC236}">
                <a16:creationId xmlns:a16="http://schemas.microsoft.com/office/drawing/2014/main" id="{C698DE3C-782B-4B38-BCCA-561960EB7F15}"/>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Dati e accessi">
            <a:extLst xmlns:a="http://schemas.openxmlformats.org/drawingml/2006/main">
              <a:ext uri="{FF2B5EF4-FFF2-40B4-BE49-F238E27FC236}">
                <a16:creationId xmlns:a16="http://schemas.microsoft.com/office/drawing/2014/main" id="{ACBE0CBF-A0BA-478A-8904-2941A0591288}"/>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Dati e accessi</a:t>
            </a:r>
          </a:p>
        </p:txBody>
      </p:sp>
      <p:sp>
        <p:nvSpPr>
          <p:cNvPr id="16" name="Associare identificativo e QR,&#10;dati applicabili, agg">
            <a:extLst xmlns:a="http://schemas.openxmlformats.org/drawingml/2006/main">
              <a:ext uri="{FF2B5EF4-FFF2-40B4-BE49-F238E27FC236}">
                <a16:creationId xmlns:a16="http://schemas.microsoft.com/office/drawing/2014/main" id="{26E05CE3-F979-46D5-82E2-6AB61CC8309E}"/>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Associare identificativo e QR,</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dati applicabili, aggiornamenti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 accessi differenziati.</a:t>
            </a:r>
          </a:p>
        </p:txBody>
      </p:sp>
      <p:sp>
        <p:nvSpPr>
          <p:cNvPr id="17" name="03">
            <a:extLst xmlns:a="http://schemas.openxmlformats.org/drawingml/2006/main">
              <a:ext uri="{FF2B5EF4-FFF2-40B4-BE49-F238E27FC236}">
                <a16:creationId xmlns:a16="http://schemas.microsoft.com/office/drawing/2014/main" id="{F12736F6-594D-4F65-8A90-E3B6621B93D0}"/>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Interoperabilità">
            <a:extLst xmlns:a="http://schemas.openxmlformats.org/drawingml/2006/main">
              <a:ext uri="{FF2B5EF4-FFF2-40B4-BE49-F238E27FC236}">
                <a16:creationId xmlns:a16="http://schemas.microsoft.com/office/drawing/2014/main" id="{5D7959A1-58CE-46A0-A2A8-25DEEBFFDC9D}"/>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Interoperabilità</a:t>
            </a:r>
          </a:p>
        </p:txBody>
      </p:sp>
      <p:sp>
        <p:nvSpPr>
          <p:cNvPr id="19" name="Predisporre formati aperti,&#10;continuità dei dati e&#10;re">
            <a:extLst xmlns:a="http://schemas.openxmlformats.org/drawingml/2006/main">
              <a:ext uri="{FF2B5EF4-FFF2-40B4-BE49-F238E27FC236}">
                <a16:creationId xmlns:a16="http://schemas.microsoft.com/office/drawing/2014/main" id="{B3680DEE-5DAB-4FEA-B45C-7B7BB16D6616}"/>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Predisporre formati aperti,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continuità dei dati 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registrazione nel registro DPP.</a:t>
            </a:r>
          </a:p>
        </p:txBody>
      </p:sp>
      <p:sp>
        <p:nvSpPr>
          <p:cNvPr id="20" name="">
            <a:extLst xmlns:a="http://schemas.openxmlformats.org/drawingml/2006/main">
              <a:ext uri="{FF2B5EF4-FFF2-40B4-BE49-F238E27FC236}">
                <a16:creationId xmlns:a16="http://schemas.microsoft.com/office/drawing/2014/main" id="{354CB4CC-F8B7-4268-A73D-4CFF62893124}"/>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Segmento può supportare il percorso: la conformità d">
            <a:extLst xmlns:a="http://schemas.openxmlformats.org/drawingml/2006/main">
              <a:ext uri="{FF2B5EF4-FFF2-40B4-BE49-F238E27FC236}">
                <a16:creationId xmlns:a16="http://schemas.microsoft.com/office/drawing/2014/main" id="{B8F20EA7-449E-4E88-9573-B6F0F4D5ADAC}"/>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Segmento può supportare il percorso: la conformità dipende anche da dati, processi e requisiti applicabili.</a:t>
            </a:r>
          </a:p>
        </p:txBody>
      </p:sp>
    </p:spTree>
    <p:extLst>
      <p:ext uri="{BB962C8B-B14F-4D97-AF65-F5344CB8AC3E}">
        <p14:creationId xmlns:p14="http://schemas.microsoft.com/office/powerpoint/2010/main" val="935161071"/>
      </p:ext>
    </p:extLst>
  </p:cSld>
</p:sld>
</file>

<file path=ppt/slides/slide5.xml><?xml version="1.0" encoding="utf-8"?>
<p:sld xmlns:p="http://schemas.openxmlformats.org/presentationml/2006/main">
  <p:cSld>
    <p:bg>
      <p:bgPr>
        <a:solidFill xmlns:a="http://schemas.openxmlformats.org/drawingml/2006/main">
          <a:srgbClr val="183F3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58AFF90-5AB0-4530-899B-1C860809C953}"/>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608B6828-65FD-44D8-8B0C-C958D9C51123}"/>
              </a:ext>
            </a:extLst>
          </p:cNvPr>
          <p:cNvPicPr>
            <a:picLocks xmlns:a="http://schemas.openxmlformats.org/drawingml/2006/main" noChangeAspect="1"/>
          </p:cNvPicPr>
          <p:nvPr/>
        </p:nvPicPr>
        <p:blipFill>
          <a:blip xmlns:r="http://schemas.openxmlformats.org/officeDocument/2006/relationships" xmlns:a="http://schemas.openxmlformats.org/drawingml/2006/main" r:embed="R844ef3b0cb2d45fe"/>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DF41C6-98D9-4158-AB14-F0C26AECB634}"/>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0A880294-9860-46AB-8597-056ACF511C80}"/>
              </a:ext>
            </a:extLst>
          </p:cNvPr>
          <p:cNvPicPr>
            <a:picLocks xmlns:a="http://schemas.openxmlformats.org/drawingml/2006/main" noChangeAspect="1"/>
          </p:cNvPicPr>
          <p:nvPr/>
        </p:nvPicPr>
        <p:blipFill>
          <a:blip xmlns:r="http://schemas.openxmlformats.org/officeDocument/2006/relationships" xmlns:a="http://schemas.openxmlformats.org/drawingml/2006/main" r:embed="R2fb526cf1f0d420e"/>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DIGITALE · CICLO DI VITA">
            <a:extLst xmlns:a="http://schemas.openxmlformats.org/drawingml/2006/main">
              <a:ext uri="{FF2B5EF4-FFF2-40B4-BE49-F238E27FC236}">
                <a16:creationId xmlns:a16="http://schemas.microsoft.com/office/drawing/2014/main" id="{BC5B4DCB-1594-4F94-90B0-95C638B16D9E}"/>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PASSAPORTO DIGITALE · CICLO DI VITA</a:t>
            </a:r>
          </a:p>
        </p:txBody>
      </p:sp>
      <p:sp>
        <p:nvSpPr>
          <p:cNvPr id="6" name="Il passaporto segue la batteria">
            <a:extLst xmlns:a="http://schemas.openxmlformats.org/drawingml/2006/main">
              <a:ext uri="{FF2B5EF4-FFF2-40B4-BE49-F238E27FC236}">
                <a16:creationId xmlns:a16="http://schemas.microsoft.com/office/drawing/2014/main" id="{C02E55FB-9997-41D0-BF6B-44AA16F34DBD}"/>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Il passaporto segue la batteria</a:t>
            </a:r>
          </a:p>
        </p:txBody>
      </p:sp>
      <p:sp>
        <p:nvSpPr>
          <p:cNvPr id="7" name="Ogni evento collega responsabile, data, configurazio">
            <a:extLst xmlns:a="http://schemas.openxmlformats.org/drawingml/2006/main">
              <a:ext uri="{FF2B5EF4-FFF2-40B4-BE49-F238E27FC236}">
                <a16:creationId xmlns:a16="http://schemas.microsoft.com/office/drawing/2014/main" id="{801552B5-B6E1-4656-BA22-C591E3F1F843}"/>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Ogni evento collega responsabile, data, configurazione e documenti di supporto.</a:t>
            </a:r>
          </a:p>
        </p:txBody>
      </p:sp>
      <p:sp>
        <p:nvSpPr>
          <p:cNvPr id="8" name="">
            <a:extLst xmlns:a="http://schemas.openxmlformats.org/drawingml/2006/main">
              <a:ext uri="{FF2B5EF4-FFF2-40B4-BE49-F238E27FC236}">
                <a16:creationId xmlns:a16="http://schemas.microsoft.com/office/drawing/2014/main" id="{BE398539-18F4-4FAB-937C-A9690EC5D794}"/>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Reg. (UE) 2023/1542, art. 77 · Riuso e cambi di stat">
            <a:extLst xmlns:a="http://schemas.openxmlformats.org/drawingml/2006/main">
              <a:ext uri="{FF2B5EF4-FFF2-40B4-BE49-F238E27FC236}">
                <a16:creationId xmlns:a16="http://schemas.microsoft.com/office/drawing/2014/main" id="{E662C214-0395-493B-9821-C95AC52A6115}"/>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Reg. (UE) 2023/1542, art. 77 · Riuso e cambi di stato seguono le disposizioni applicabili.</a:t>
            </a:r>
          </a:p>
        </p:txBody>
      </p:sp>
      <p:sp>
        <p:nvSpPr>
          <p:cNvPr id="10" name="05 / 11">
            <a:extLst xmlns:a="http://schemas.openxmlformats.org/drawingml/2006/main">
              <a:ext uri="{FF2B5EF4-FFF2-40B4-BE49-F238E27FC236}">
                <a16:creationId xmlns:a16="http://schemas.microsoft.com/office/drawing/2014/main" id="{09664EF2-D078-4F39-B363-76E08D637137}"/>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05 / 11</a:t>
            </a:r>
          </a:p>
        </p:txBody>
      </p:sp>
      <p:sp>
        <p:nvSpPr>
          <p:cNvPr id="11" name="01">
            <a:extLst xmlns:a="http://schemas.openxmlformats.org/drawingml/2006/main">
              <a:ext uri="{FF2B5EF4-FFF2-40B4-BE49-F238E27FC236}">
                <a16:creationId xmlns:a16="http://schemas.microsoft.com/office/drawing/2014/main" id="{1942ABCB-9CF7-46F7-9041-3A6459965C33}"/>
              </a:ext>
            </a:extLst>
          </p:cNvPr>
          <p:cNvSpPr>
            <a:spLocks xmlns:a="http://schemas.openxmlformats.org/drawingml/2006/main" noGrp="1"/>
          </p:cNvSpPr>
          <p:nvPr/>
        </p:nvSpPr>
        <p:spPr>
          <a:xfrm xmlns:a="http://schemas.openxmlformats.org/drawingml/2006/main">
            <a:off x="9144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01</a:t>
            </a:r>
          </a:p>
        </p:txBody>
      </p:sp>
      <p:sp>
        <p:nvSpPr>
          <p:cNvPr id="12" name="">
            <a:extLst xmlns:a="http://schemas.openxmlformats.org/drawingml/2006/main">
              <a:ext uri="{FF2B5EF4-FFF2-40B4-BE49-F238E27FC236}">
                <a16:creationId xmlns:a16="http://schemas.microsoft.com/office/drawing/2014/main" id="{BEE72AAB-658F-47D1-8732-B45310E0571A}"/>
              </a:ext>
            </a:extLst>
          </p:cNvPr>
          <p:cNvSpPr>
            <a:spLocks xmlns:a="http://schemas.openxmlformats.org/drawingml/2006/main" noGrp="1"/>
          </p:cNvSpPr>
          <p:nvPr/>
        </p:nvSpPr>
        <p:spPr>
          <a:xfrm xmlns:a="http://schemas.openxmlformats.org/drawingml/2006/main">
            <a:off x="9144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13" name="Produzione">
            <a:extLst xmlns:a="http://schemas.openxmlformats.org/drawingml/2006/main">
              <a:ext uri="{FF2B5EF4-FFF2-40B4-BE49-F238E27FC236}">
                <a16:creationId xmlns:a16="http://schemas.microsoft.com/office/drawing/2014/main" id="{A730D9FF-DA28-40BD-B0BC-3BF9BA03D170}"/>
              </a:ext>
            </a:extLst>
          </p:cNvPr>
          <p:cNvSpPr>
            <a:spLocks xmlns:a="http://schemas.openxmlformats.org/drawingml/2006/main" noGrp="1"/>
          </p:cNvSpPr>
          <p:nvPr/>
        </p:nvSpPr>
        <p:spPr>
          <a:xfrm xmlns:a="http://schemas.openxmlformats.org/drawingml/2006/main">
            <a:off x="9144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Produzione</a:t>
            </a:r>
          </a:p>
        </p:txBody>
      </p:sp>
      <p:sp>
        <p:nvSpPr>
          <p:cNvPr id="14" name="Componenti, versione&#10;del progetto, collaudo&#10;e rilasc">
            <a:extLst xmlns:a="http://schemas.openxmlformats.org/drawingml/2006/main">
              <a:ext uri="{FF2B5EF4-FFF2-40B4-BE49-F238E27FC236}">
                <a16:creationId xmlns:a16="http://schemas.microsoft.com/office/drawing/2014/main" id="{B6E451CC-2AAA-4340-9015-3C6FD72266D6}"/>
              </a:ext>
            </a:extLst>
          </p:cNvPr>
          <p:cNvSpPr>
            <a:spLocks xmlns:a="http://schemas.openxmlformats.org/drawingml/2006/main" noGrp="1"/>
          </p:cNvSpPr>
          <p:nvPr/>
        </p:nvSpPr>
        <p:spPr>
          <a:xfrm xmlns:a="http://schemas.openxmlformats.org/drawingml/2006/main">
            <a:off x="9144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Componenti, versione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del progetto, collaudo</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e rilascio.</a:t>
            </a:r>
          </a:p>
        </p:txBody>
      </p:sp>
      <p:sp>
        <p:nvSpPr>
          <p:cNvPr id="15" name="02">
            <a:extLst xmlns:a="http://schemas.openxmlformats.org/drawingml/2006/main">
              <a:ext uri="{FF2B5EF4-FFF2-40B4-BE49-F238E27FC236}">
                <a16:creationId xmlns:a16="http://schemas.microsoft.com/office/drawing/2014/main" id="{A942C64F-DD20-4DC9-953E-1427A08F4EB8}"/>
              </a:ext>
            </a:extLst>
          </p:cNvPr>
          <p:cNvSpPr>
            <a:spLocks xmlns:a="http://schemas.openxmlformats.org/drawingml/2006/main" noGrp="1"/>
          </p:cNvSpPr>
          <p:nvPr/>
        </p:nvSpPr>
        <p:spPr>
          <a:xfrm xmlns:a="http://schemas.openxmlformats.org/drawingml/2006/main">
            <a:off x="46228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02</a:t>
            </a:r>
          </a:p>
        </p:txBody>
      </p:sp>
      <p:sp>
        <p:nvSpPr>
          <p:cNvPr id="16" name="">
            <a:extLst xmlns:a="http://schemas.openxmlformats.org/drawingml/2006/main">
              <a:ext uri="{FF2B5EF4-FFF2-40B4-BE49-F238E27FC236}">
                <a16:creationId xmlns:a16="http://schemas.microsoft.com/office/drawing/2014/main" id="{20BC8AFF-2C8E-43B6-9053-76329056CA8C}"/>
              </a:ext>
            </a:extLst>
          </p:cNvPr>
          <p:cNvSpPr>
            <a:spLocks xmlns:a="http://schemas.openxmlformats.org/drawingml/2006/main" noGrp="1"/>
          </p:cNvSpPr>
          <p:nvPr/>
        </p:nvSpPr>
        <p:spPr>
          <a:xfrm xmlns:a="http://schemas.openxmlformats.org/drawingml/2006/main">
            <a:off x="46228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17" name="Integrazione">
            <a:extLst xmlns:a="http://schemas.openxmlformats.org/drawingml/2006/main">
              <a:ext uri="{FF2B5EF4-FFF2-40B4-BE49-F238E27FC236}">
                <a16:creationId xmlns:a16="http://schemas.microsoft.com/office/drawing/2014/main" id="{7D3D3E18-FCEC-4876-8598-C239D09F6127}"/>
              </a:ext>
            </a:extLst>
          </p:cNvPr>
          <p:cNvSpPr>
            <a:spLocks xmlns:a="http://schemas.openxmlformats.org/drawingml/2006/main" noGrp="1"/>
          </p:cNvSpPr>
          <p:nvPr/>
        </p:nvSpPr>
        <p:spPr>
          <a:xfrm xmlns:a="http://schemas.openxmlformats.org/drawingml/2006/main">
            <a:off x="46228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Integrazione</a:t>
            </a:r>
          </a:p>
        </p:txBody>
      </p:sp>
      <p:sp>
        <p:nvSpPr>
          <p:cNvPr id="18" name="Macchina destinataria,&#10;configurazione e&#10;messa in ser">
            <a:extLst xmlns:a="http://schemas.openxmlformats.org/drawingml/2006/main">
              <a:ext uri="{FF2B5EF4-FFF2-40B4-BE49-F238E27FC236}">
                <a16:creationId xmlns:a16="http://schemas.microsoft.com/office/drawing/2014/main" id="{158A2C56-CD11-4B12-AEAD-7017317F8568}"/>
              </a:ext>
            </a:extLst>
          </p:cNvPr>
          <p:cNvSpPr>
            <a:spLocks xmlns:a="http://schemas.openxmlformats.org/drawingml/2006/main" noGrp="1"/>
          </p:cNvSpPr>
          <p:nvPr/>
        </p:nvSpPr>
        <p:spPr>
          <a:xfrm xmlns:a="http://schemas.openxmlformats.org/drawingml/2006/main">
            <a:off x="46228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Macchina destinataria,</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configurazione 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messa in servizio.</a:t>
            </a:r>
          </a:p>
        </p:txBody>
      </p:sp>
      <p:sp>
        <p:nvSpPr>
          <p:cNvPr id="19" name="03">
            <a:extLst xmlns:a="http://schemas.openxmlformats.org/drawingml/2006/main">
              <a:ext uri="{FF2B5EF4-FFF2-40B4-BE49-F238E27FC236}">
                <a16:creationId xmlns:a16="http://schemas.microsoft.com/office/drawing/2014/main" id="{821C0F71-C9DC-465B-9AD6-3A5313B33AEA}"/>
              </a:ext>
            </a:extLst>
          </p:cNvPr>
          <p:cNvSpPr>
            <a:spLocks xmlns:a="http://schemas.openxmlformats.org/drawingml/2006/main" noGrp="1"/>
          </p:cNvSpPr>
          <p:nvPr/>
        </p:nvSpPr>
        <p:spPr>
          <a:xfrm xmlns:a="http://schemas.openxmlformats.org/drawingml/2006/main">
            <a:off x="83312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03</a:t>
            </a:r>
          </a:p>
        </p:txBody>
      </p:sp>
      <p:sp>
        <p:nvSpPr>
          <p:cNvPr id="20" name="">
            <a:extLst xmlns:a="http://schemas.openxmlformats.org/drawingml/2006/main">
              <a:ext uri="{FF2B5EF4-FFF2-40B4-BE49-F238E27FC236}">
                <a16:creationId xmlns:a16="http://schemas.microsoft.com/office/drawing/2014/main" id="{ABE5ED6E-E61B-457F-B4CD-4D594AB0EAFE}"/>
              </a:ext>
            </a:extLst>
          </p:cNvPr>
          <p:cNvSpPr>
            <a:spLocks xmlns:a="http://schemas.openxmlformats.org/drawingml/2006/main" noGrp="1"/>
          </p:cNvSpPr>
          <p:nvPr/>
        </p:nvSpPr>
        <p:spPr>
          <a:xfrm xmlns:a="http://schemas.openxmlformats.org/drawingml/2006/main">
            <a:off x="83312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21" name="Esercizio">
            <a:extLst xmlns:a="http://schemas.openxmlformats.org/drawingml/2006/main">
              <a:ext uri="{FF2B5EF4-FFF2-40B4-BE49-F238E27FC236}">
                <a16:creationId xmlns:a16="http://schemas.microsoft.com/office/drawing/2014/main" id="{7F5893EA-3DFB-4FB5-AA4E-01A32C5F054D}"/>
              </a:ext>
            </a:extLst>
          </p:cNvPr>
          <p:cNvSpPr>
            <a:spLocks xmlns:a="http://schemas.openxmlformats.org/drawingml/2006/main" noGrp="1"/>
          </p:cNvSpPr>
          <p:nvPr/>
        </p:nvSpPr>
        <p:spPr>
          <a:xfrm xmlns:a="http://schemas.openxmlformats.org/drawingml/2006/main">
            <a:off x="83312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Esercizio</a:t>
            </a:r>
          </a:p>
        </p:txBody>
      </p:sp>
      <p:sp>
        <p:nvSpPr>
          <p:cNvPr id="22" name="Dati disponibili dal BMS,&#10;manutenzioni e&#10;sostituzion">
            <a:extLst xmlns:a="http://schemas.openxmlformats.org/drawingml/2006/main">
              <a:ext uri="{FF2B5EF4-FFF2-40B4-BE49-F238E27FC236}">
                <a16:creationId xmlns:a16="http://schemas.microsoft.com/office/drawing/2014/main" id="{91F772BF-1359-4A1B-B1F5-D879ABC3F611}"/>
              </a:ext>
            </a:extLst>
          </p:cNvPr>
          <p:cNvSpPr>
            <a:spLocks xmlns:a="http://schemas.openxmlformats.org/drawingml/2006/main" noGrp="1"/>
          </p:cNvSpPr>
          <p:nvPr/>
        </p:nvSpPr>
        <p:spPr>
          <a:xfrm xmlns:a="http://schemas.openxmlformats.org/drawingml/2006/main">
            <a:off x="83312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Dati disponibili dal BMS,</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manutenzioni 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sostituzioni.</a:t>
            </a:r>
          </a:p>
        </p:txBody>
      </p:sp>
      <p:sp>
        <p:nvSpPr>
          <p:cNvPr id="23" name="04">
            <a:extLst xmlns:a="http://schemas.openxmlformats.org/drawingml/2006/main">
              <a:ext uri="{FF2B5EF4-FFF2-40B4-BE49-F238E27FC236}">
                <a16:creationId xmlns:a16="http://schemas.microsoft.com/office/drawing/2014/main" id="{6FC26E1D-27DF-4535-997A-92AED2BEB9FF}"/>
              </a:ext>
            </a:extLst>
          </p:cNvPr>
          <p:cNvSpPr>
            <a:spLocks xmlns:a="http://schemas.openxmlformats.org/drawingml/2006/main" noGrp="1"/>
          </p:cNvSpPr>
          <p:nvPr/>
        </p:nvSpPr>
        <p:spPr>
          <a:xfrm xmlns:a="http://schemas.openxmlformats.org/drawingml/2006/main">
            <a:off x="120396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04</a:t>
            </a:r>
          </a:p>
        </p:txBody>
      </p:sp>
      <p:sp>
        <p:nvSpPr>
          <p:cNvPr id="24" name="">
            <a:extLst xmlns:a="http://schemas.openxmlformats.org/drawingml/2006/main">
              <a:ext uri="{FF2B5EF4-FFF2-40B4-BE49-F238E27FC236}">
                <a16:creationId xmlns:a16="http://schemas.microsoft.com/office/drawing/2014/main" id="{07AEA725-D30E-4B92-B889-BBECFB96D758}"/>
              </a:ext>
            </a:extLst>
          </p:cNvPr>
          <p:cNvSpPr>
            <a:spLocks xmlns:a="http://schemas.openxmlformats.org/drawingml/2006/main" noGrp="1"/>
          </p:cNvSpPr>
          <p:nvPr/>
        </p:nvSpPr>
        <p:spPr>
          <a:xfrm xmlns:a="http://schemas.openxmlformats.org/drawingml/2006/main">
            <a:off x="120396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25" name="Seconda vita">
            <a:extLst xmlns:a="http://schemas.openxmlformats.org/drawingml/2006/main">
              <a:ext uri="{FF2B5EF4-FFF2-40B4-BE49-F238E27FC236}">
                <a16:creationId xmlns:a16="http://schemas.microsoft.com/office/drawing/2014/main" id="{1C75ABB6-DD19-4CF4-8103-408A50DE00BD}"/>
              </a:ext>
            </a:extLst>
          </p:cNvPr>
          <p:cNvSpPr>
            <a:spLocks xmlns:a="http://schemas.openxmlformats.org/drawingml/2006/main" noGrp="1"/>
          </p:cNvSpPr>
          <p:nvPr/>
        </p:nvSpPr>
        <p:spPr>
          <a:xfrm xmlns:a="http://schemas.openxmlformats.org/drawingml/2006/main">
            <a:off x="120396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Seconda vita</a:t>
            </a:r>
          </a:p>
        </p:txBody>
      </p:sp>
      <p:sp>
        <p:nvSpPr>
          <p:cNvPr id="26" name="Valutazioni per riuso,&#10;nuovo impiego&#10;e riciclo.">
            <a:extLst xmlns:a="http://schemas.openxmlformats.org/drawingml/2006/main">
              <a:ext uri="{FF2B5EF4-FFF2-40B4-BE49-F238E27FC236}">
                <a16:creationId xmlns:a16="http://schemas.microsoft.com/office/drawing/2014/main" id="{7ADA718E-6A8B-43FB-8595-6E1E033FD1ED}"/>
              </a:ext>
            </a:extLst>
          </p:cNvPr>
          <p:cNvSpPr>
            <a:spLocks xmlns:a="http://schemas.openxmlformats.org/drawingml/2006/main" noGrp="1"/>
          </p:cNvSpPr>
          <p:nvPr/>
        </p:nvSpPr>
        <p:spPr>
          <a:xfrm xmlns:a="http://schemas.openxmlformats.org/drawingml/2006/main">
            <a:off x="120396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Valutazioni per riuso,</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nuovo impiego</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e riciclo.</a:t>
            </a:r>
          </a:p>
        </p:txBody>
      </p:sp>
      <p:sp>
        <p:nvSpPr>
          <p:cNvPr id="27" name="">
            <a:extLst xmlns:a="http://schemas.openxmlformats.org/drawingml/2006/main">
              <a:ext uri="{FF2B5EF4-FFF2-40B4-BE49-F238E27FC236}">
                <a16:creationId xmlns:a16="http://schemas.microsoft.com/office/drawing/2014/main" id="{D6D420EE-645B-4B33-B25E-37A842A46F5D}"/>
              </a:ext>
            </a:extLst>
          </p:cNvPr>
          <p:cNvSpPr>
            <a:spLocks xmlns:a="http://schemas.openxmlformats.org/drawingml/2006/main" noGrp="1"/>
          </p:cNvSpPr>
          <p:nvPr/>
        </p:nvSpPr>
        <p:spPr>
          <a:xfrm xmlns:a="http://schemas.openxmlformats.org/drawingml/2006/main">
            <a:off x="914400" y="75819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28" name="Rettifiche e cambi di stato restano ricostruibili; g">
            <a:extLst xmlns:a="http://schemas.openxmlformats.org/drawingml/2006/main">
              <a:ext uri="{FF2B5EF4-FFF2-40B4-BE49-F238E27FC236}">
                <a16:creationId xmlns:a16="http://schemas.microsoft.com/office/drawing/2014/main" id="{319A66E4-2287-4456-9458-2E1A1634D5B3}"/>
              </a:ext>
            </a:extLst>
          </p:cNvPr>
          <p:cNvSpPr>
            <a:spLocks xmlns:a="http://schemas.openxmlformats.org/drawingml/2006/main" noGrp="1"/>
          </p:cNvSpPr>
          <p:nvPr/>
        </p:nvSpPr>
        <p:spPr>
          <a:xfrm xmlns:a="http://schemas.openxmlformats.org/drawingml/2006/main">
            <a:off x="1168400" y="77470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Rettifiche e cambi di stato restano ricostruibili; gli eventuali nuovi passaporti sono collegati ai precedenti.</a:t>
            </a:r>
          </a:p>
        </p:txBody>
      </p:sp>
    </p:spTree>
    <p:extLst>
      <p:ext uri="{BB962C8B-B14F-4D97-AF65-F5344CB8AC3E}">
        <p14:creationId xmlns:p14="http://schemas.microsoft.com/office/powerpoint/2010/main" val="1211195194"/>
      </p:ext>
    </p:extLst>
  </p:cSld>
</p:sld>
</file>

<file path=ppt/slides/slide6.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803A5D5-CDDB-4EF3-A1D2-72EE58A5BE46}"/>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D637047A-A622-496F-9D87-BC0AC8B60404}"/>
              </a:ext>
            </a:extLst>
          </p:cNvPr>
          <p:cNvPicPr>
            <a:picLocks xmlns:a="http://schemas.openxmlformats.org/drawingml/2006/main" noChangeAspect="1"/>
          </p:cNvPicPr>
          <p:nvPr/>
        </p:nvPicPr>
        <p:blipFill>
          <a:blip xmlns:r="http://schemas.openxmlformats.org/officeDocument/2006/relationships" xmlns:a="http://schemas.openxmlformats.org/drawingml/2006/main" r:embed="R00ca28d3cd474b87"/>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B203B4-05FF-4FEB-822D-68C6A4815791}"/>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2C6A9FBC-BAAF-4440-BEA4-E31CF0502F24}"/>
              </a:ext>
            </a:extLst>
          </p:cNvPr>
          <p:cNvPicPr>
            <a:picLocks xmlns:a="http://schemas.openxmlformats.org/drawingml/2006/main" noChangeAspect="1"/>
          </p:cNvPicPr>
          <p:nvPr/>
        </p:nvPicPr>
        <p:blipFill>
          <a:blip xmlns:r="http://schemas.openxmlformats.org/officeDocument/2006/relationships" xmlns:a="http://schemas.openxmlformats.org/drawingml/2006/main" r:embed="R0525faec5f134dea"/>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 DATI DI UTILIZZO">
            <a:extLst xmlns:a="http://schemas.openxmlformats.org/drawingml/2006/main">
              <a:ext uri="{FF2B5EF4-FFF2-40B4-BE49-F238E27FC236}">
                <a16:creationId xmlns:a16="http://schemas.microsoft.com/office/drawing/2014/main" id="{A01ED66B-1D98-4B50-9C5F-5DE902D69346}"/>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PASSAPORTO · DATI DI UTILIZZO</a:t>
            </a:r>
          </a:p>
        </p:txBody>
      </p:sp>
      <p:sp>
        <p:nvSpPr>
          <p:cNvPr id="6" name="Un passaporto aggiornato&#10;durante l’utilizzo">
            <a:extLst xmlns:a="http://schemas.openxmlformats.org/drawingml/2006/main">
              <a:ext uri="{FF2B5EF4-FFF2-40B4-BE49-F238E27FC236}">
                <a16:creationId xmlns:a16="http://schemas.microsoft.com/office/drawing/2014/main" id="{C04245EA-C428-4B89-97A2-345BE1FAA90F}"/>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Un passaporto aggiornato</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durante l’utilizzo</a:t>
            </a:r>
          </a:p>
        </p:txBody>
      </p:sp>
      <p:sp>
        <p:nvSpPr>
          <p:cNvPr id="7" name="Gli eventi e i dati disponibili descrivono le condiz">
            <a:extLst xmlns:a="http://schemas.openxmlformats.org/drawingml/2006/main">
              <a:ext uri="{FF2B5EF4-FFF2-40B4-BE49-F238E27FC236}">
                <a16:creationId xmlns:a16="http://schemas.microsoft.com/office/drawing/2014/main" id="{6AD07D0D-27A1-4D3D-B12D-68063C9719E8}"/>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Gli eventi e i dati disponibili descrivono le condizioni della batteria nel tempo.</a:t>
            </a:r>
          </a:p>
        </p:txBody>
      </p:sp>
      <p:sp>
        <p:nvSpPr>
          <p:cNvPr id="8" name="">
            <a:extLst xmlns:a="http://schemas.openxmlformats.org/drawingml/2006/main">
              <a:ext uri="{FF2B5EF4-FFF2-40B4-BE49-F238E27FC236}">
                <a16:creationId xmlns:a16="http://schemas.microsoft.com/office/drawing/2014/main" id="{E78F1E4E-37FC-4AF4-85D9-6650142BFC62}"/>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Dati e frequenze dipendono dai sistemi disponibili e">
            <a:extLst xmlns:a="http://schemas.openxmlformats.org/drawingml/2006/main">
              <a:ext uri="{FF2B5EF4-FFF2-40B4-BE49-F238E27FC236}">
                <a16:creationId xmlns:a16="http://schemas.microsoft.com/office/drawing/2014/main" id="{738AB469-08CF-408F-9A92-A9E665D58E29}"/>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Dati e frequenze dipendono dai sistemi disponibili e dai requisiti applicabili; il tempo reale non è sempre necessario.</a:t>
            </a:r>
          </a:p>
        </p:txBody>
      </p:sp>
      <p:sp>
        <p:nvSpPr>
          <p:cNvPr id="10" name="06 / 11">
            <a:extLst xmlns:a="http://schemas.openxmlformats.org/drawingml/2006/main">
              <a:ext uri="{FF2B5EF4-FFF2-40B4-BE49-F238E27FC236}">
                <a16:creationId xmlns:a16="http://schemas.microsoft.com/office/drawing/2014/main" id="{51CA2069-4220-4447-95DD-EB3768796D9E}"/>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06 / 11</a:t>
            </a:r>
          </a:p>
        </p:txBody>
      </p:sp>
      <p:sp>
        <p:nvSpPr>
          <p:cNvPr id="11" name="">
            <a:extLst xmlns:a="http://schemas.openxmlformats.org/drawingml/2006/main">
              <a:ext uri="{FF2B5EF4-FFF2-40B4-BE49-F238E27FC236}">
                <a16:creationId xmlns:a16="http://schemas.microsoft.com/office/drawing/2014/main" id="{D0DA9E46-BBE4-4E32-9FD6-9B6269FC6D3F}"/>
              </a:ext>
            </a:extLst>
          </p:cNvPr>
          <p:cNvSpPr>
            <a:spLocks xmlns:a="http://schemas.openxmlformats.org/drawingml/2006/main" noGrp="1"/>
          </p:cNvSpPr>
          <p:nvPr/>
        </p:nvSpPr>
        <p:spPr>
          <a:xfrm xmlns:a="http://schemas.openxmlformats.org/drawingml/2006/main">
            <a:off x="914400" y="4318000"/>
            <a:ext cx="6248400" cy="3708400"/>
          </a:xfrm>
          <a:prstGeom xmlns:a="http://schemas.openxmlformats.org/drawingml/2006/main" prst="roundRect">
            <a:avLst>
              <a:gd name="adj" fmla="val 4110"/>
            </a:avLst>
          </a:prstGeom>
          <a:solidFill xmlns:a="http://schemas.openxmlformats.org/drawingml/2006/main">
            <a:srgbClr val="183F37"/>
          </a:solidFill>
          <a:ln xmlns:a="http://schemas.openxmlformats.org/drawingml/2006/main" w="0">
            <a:noFill/>
            <a:prstDash val="solid"/>
          </a:ln>
        </p:spPr>
      </p:sp>
      <p:sp>
        <p:nvSpPr>
          <p:cNvPr id="12" name="DATI PROPOSTI PER BATTERIA">
            <a:extLst xmlns:a="http://schemas.openxmlformats.org/drawingml/2006/main">
              <a:ext uri="{FF2B5EF4-FFF2-40B4-BE49-F238E27FC236}">
                <a16:creationId xmlns:a16="http://schemas.microsoft.com/office/drawing/2014/main" id="{1C6E1787-AF6C-4DBB-AD32-80B49C5F1337}"/>
              </a:ext>
            </a:extLst>
          </p:cNvPr>
          <p:cNvSpPr>
            <a:spLocks xmlns:a="http://schemas.openxmlformats.org/drawingml/2006/main" noGrp="1"/>
          </p:cNvSpPr>
          <p:nvPr/>
        </p:nvSpPr>
        <p:spPr>
          <a:xfrm xmlns:a="http://schemas.openxmlformats.org/drawingml/2006/main">
            <a:off x="1219200" y="4635500"/>
            <a:ext cx="546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DATI PROPOSTI PER BATTERIA</a:t>
            </a:r>
          </a:p>
        </p:txBody>
      </p:sp>
      <p:sp>
        <p:nvSpPr>
          <p:cNvPr id="13" name="Identificazione">
            <a:extLst xmlns:a="http://schemas.openxmlformats.org/drawingml/2006/main">
              <a:ext uri="{FF2B5EF4-FFF2-40B4-BE49-F238E27FC236}">
                <a16:creationId xmlns:a16="http://schemas.microsoft.com/office/drawing/2014/main" id="{7CF49922-0A46-435B-BEE0-C40E58791322}"/>
              </a:ext>
            </a:extLst>
          </p:cNvPr>
          <p:cNvSpPr>
            <a:spLocks xmlns:a="http://schemas.openxmlformats.org/drawingml/2006/main" noGrp="1"/>
          </p:cNvSpPr>
          <p:nvPr/>
        </p:nvSpPr>
        <p:spPr>
          <a:xfrm xmlns:a="http://schemas.openxmlformats.org/drawingml/2006/main">
            <a:off x="1219200" y="51816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Identificazione</a:t>
            </a:r>
          </a:p>
        </p:txBody>
      </p:sp>
      <p:sp>
        <p:nvSpPr>
          <p:cNvPr id="14" name="Matricola e macchina">
            <a:extLst xmlns:a="http://schemas.openxmlformats.org/drawingml/2006/main">
              <a:ext uri="{FF2B5EF4-FFF2-40B4-BE49-F238E27FC236}">
                <a16:creationId xmlns:a16="http://schemas.microsoft.com/office/drawing/2014/main" id="{32AE83C7-2DD2-4818-B83C-62AA9B2BDB95}"/>
              </a:ext>
            </a:extLst>
          </p:cNvPr>
          <p:cNvSpPr>
            <a:spLocks xmlns:a="http://schemas.openxmlformats.org/drawingml/2006/main" noGrp="1"/>
          </p:cNvSpPr>
          <p:nvPr/>
        </p:nvSpPr>
        <p:spPr>
          <a:xfrm xmlns:a="http://schemas.openxmlformats.org/drawingml/2006/main">
            <a:off x="3340100" y="51816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Matricola e macchina</a:t>
            </a:r>
          </a:p>
        </p:txBody>
      </p:sp>
      <p:sp>
        <p:nvSpPr>
          <p:cNvPr id="15" name="Prestazioni">
            <a:extLst xmlns:a="http://schemas.openxmlformats.org/drawingml/2006/main">
              <a:ext uri="{FF2B5EF4-FFF2-40B4-BE49-F238E27FC236}">
                <a16:creationId xmlns:a16="http://schemas.microsoft.com/office/drawing/2014/main" id="{95EEE54D-89D0-452D-8981-E73845CD7237}"/>
              </a:ext>
            </a:extLst>
          </p:cNvPr>
          <p:cNvSpPr>
            <a:spLocks xmlns:a="http://schemas.openxmlformats.org/drawingml/2006/main" noGrp="1"/>
          </p:cNvSpPr>
          <p:nvPr/>
        </p:nvSpPr>
        <p:spPr>
          <a:xfrm xmlns:a="http://schemas.openxmlformats.org/drawingml/2006/main">
            <a:off x="1219200" y="57023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Prestazioni</a:t>
            </a:r>
          </a:p>
        </p:txBody>
      </p:sp>
      <p:sp>
        <p:nvSpPr>
          <p:cNvPr id="16" name="SoH e capacità residua">
            <a:extLst xmlns:a="http://schemas.openxmlformats.org/drawingml/2006/main">
              <a:ext uri="{FF2B5EF4-FFF2-40B4-BE49-F238E27FC236}">
                <a16:creationId xmlns:a16="http://schemas.microsoft.com/office/drawing/2014/main" id="{637E224C-31F4-4142-ABBA-26AED7171961}"/>
              </a:ext>
            </a:extLst>
          </p:cNvPr>
          <p:cNvSpPr>
            <a:spLocks xmlns:a="http://schemas.openxmlformats.org/drawingml/2006/main" noGrp="1"/>
          </p:cNvSpPr>
          <p:nvPr/>
        </p:nvSpPr>
        <p:spPr>
          <a:xfrm xmlns:a="http://schemas.openxmlformats.org/drawingml/2006/main">
            <a:off x="3340100" y="57023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SoH e capacità residua</a:t>
            </a:r>
          </a:p>
        </p:txBody>
      </p:sp>
      <p:sp>
        <p:nvSpPr>
          <p:cNvPr id="17" name="Utilizzo">
            <a:extLst xmlns:a="http://schemas.openxmlformats.org/drawingml/2006/main">
              <a:ext uri="{FF2B5EF4-FFF2-40B4-BE49-F238E27FC236}">
                <a16:creationId xmlns:a16="http://schemas.microsoft.com/office/drawing/2014/main" id="{6289037C-67A8-459E-AE32-7BDEBC324464}"/>
              </a:ext>
            </a:extLst>
          </p:cNvPr>
          <p:cNvSpPr>
            <a:spLocks xmlns:a="http://schemas.openxmlformats.org/drawingml/2006/main" noGrp="1"/>
          </p:cNvSpPr>
          <p:nvPr/>
        </p:nvSpPr>
        <p:spPr>
          <a:xfrm xmlns:a="http://schemas.openxmlformats.org/drawingml/2006/main">
            <a:off x="1219200" y="62230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Utilizzo</a:t>
            </a:r>
          </a:p>
        </p:txBody>
      </p:sp>
      <p:sp>
        <p:nvSpPr>
          <p:cNvPr id="18" name="Cicli ed eventi rilevanti">
            <a:extLst xmlns:a="http://schemas.openxmlformats.org/drawingml/2006/main">
              <a:ext uri="{FF2B5EF4-FFF2-40B4-BE49-F238E27FC236}">
                <a16:creationId xmlns:a16="http://schemas.microsoft.com/office/drawing/2014/main" id="{BC32B9C3-3BFD-49E2-A911-61878814DA09}"/>
              </a:ext>
            </a:extLst>
          </p:cNvPr>
          <p:cNvSpPr>
            <a:spLocks xmlns:a="http://schemas.openxmlformats.org/drawingml/2006/main" noGrp="1"/>
          </p:cNvSpPr>
          <p:nvPr/>
        </p:nvSpPr>
        <p:spPr>
          <a:xfrm xmlns:a="http://schemas.openxmlformats.org/drawingml/2006/main">
            <a:off x="3340100" y="62230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Cicli ed eventi rilevanti</a:t>
            </a:r>
          </a:p>
        </p:txBody>
      </p:sp>
      <p:sp>
        <p:nvSpPr>
          <p:cNvPr id="19" name="Riferimento">
            <a:extLst xmlns:a="http://schemas.openxmlformats.org/drawingml/2006/main">
              <a:ext uri="{FF2B5EF4-FFF2-40B4-BE49-F238E27FC236}">
                <a16:creationId xmlns:a16="http://schemas.microsoft.com/office/drawing/2014/main" id="{9D4FC65A-1F2E-4C0B-92D1-7D7B9801AF75}"/>
              </a:ext>
            </a:extLst>
          </p:cNvPr>
          <p:cNvSpPr>
            <a:spLocks xmlns:a="http://schemas.openxmlformats.org/drawingml/2006/main" noGrp="1"/>
          </p:cNvSpPr>
          <p:nvPr/>
        </p:nvSpPr>
        <p:spPr>
          <a:xfrm xmlns:a="http://schemas.openxmlformats.org/drawingml/2006/main">
            <a:off x="1219200" y="67437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Riferimento</a:t>
            </a:r>
          </a:p>
        </p:txBody>
      </p:sp>
      <p:sp>
        <p:nvSpPr>
          <p:cNvPr id="20" name="Data, fonte e versione">
            <a:extLst xmlns:a="http://schemas.openxmlformats.org/drawingml/2006/main">
              <a:ext uri="{FF2B5EF4-FFF2-40B4-BE49-F238E27FC236}">
                <a16:creationId xmlns:a16="http://schemas.microsoft.com/office/drawing/2014/main" id="{A56044BD-6013-4E38-B4CF-676FF8F2E9B1}"/>
              </a:ext>
            </a:extLst>
          </p:cNvPr>
          <p:cNvSpPr>
            <a:spLocks xmlns:a="http://schemas.openxmlformats.org/drawingml/2006/main" noGrp="1"/>
          </p:cNvSpPr>
          <p:nvPr/>
        </p:nvSpPr>
        <p:spPr>
          <a:xfrm xmlns:a="http://schemas.openxmlformats.org/drawingml/2006/main">
            <a:off x="3340100" y="67437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Data, fonte e versione</a:t>
            </a:r>
          </a:p>
        </p:txBody>
      </p:sp>
      <p:sp>
        <p:nvSpPr>
          <p:cNvPr id="21" name="Qualità">
            <a:extLst xmlns:a="http://schemas.openxmlformats.org/drawingml/2006/main">
              <a:ext uri="{FF2B5EF4-FFF2-40B4-BE49-F238E27FC236}">
                <a16:creationId xmlns:a16="http://schemas.microsoft.com/office/drawing/2014/main" id="{D52DE00A-64B5-4C83-BF6D-EEB093768429}"/>
              </a:ext>
            </a:extLst>
          </p:cNvPr>
          <p:cNvSpPr>
            <a:spLocks xmlns:a="http://schemas.openxmlformats.org/drawingml/2006/main" noGrp="1"/>
          </p:cNvSpPr>
          <p:nvPr/>
        </p:nvSpPr>
        <p:spPr>
          <a:xfrm xmlns:a="http://schemas.openxmlformats.org/drawingml/2006/main">
            <a:off x="1219200" y="72644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Qualità</a:t>
            </a:r>
          </a:p>
        </p:txBody>
      </p:sp>
      <p:sp>
        <p:nvSpPr>
          <p:cNvPr id="22" name="Controlli e anomalie">
            <a:extLst xmlns:a="http://schemas.openxmlformats.org/drawingml/2006/main">
              <a:ext uri="{FF2B5EF4-FFF2-40B4-BE49-F238E27FC236}">
                <a16:creationId xmlns:a16="http://schemas.microsoft.com/office/drawing/2014/main" id="{7D189886-962E-46E4-9C36-B7492E54B8E1}"/>
              </a:ext>
            </a:extLst>
          </p:cNvPr>
          <p:cNvSpPr>
            <a:spLocks xmlns:a="http://schemas.openxmlformats.org/drawingml/2006/main" noGrp="1"/>
          </p:cNvSpPr>
          <p:nvPr/>
        </p:nvSpPr>
        <p:spPr>
          <a:xfrm xmlns:a="http://schemas.openxmlformats.org/drawingml/2006/main">
            <a:off x="3340100" y="72644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Controlli e anomalie</a:t>
            </a:r>
          </a:p>
        </p:txBody>
      </p:sp>
      <p:sp>
        <p:nvSpPr>
          <p:cNvPr id="23" name="Supporto all’assistenza">
            <a:extLst xmlns:a="http://schemas.openxmlformats.org/drawingml/2006/main">
              <a:ext uri="{FF2B5EF4-FFF2-40B4-BE49-F238E27FC236}">
                <a16:creationId xmlns:a16="http://schemas.microsoft.com/office/drawing/2014/main" id="{3094A0FC-58E2-4D6B-8973-E5998B66CA04}"/>
              </a:ext>
            </a:extLst>
          </p:cNvPr>
          <p:cNvSpPr>
            <a:spLocks xmlns:a="http://schemas.openxmlformats.org/drawingml/2006/main" noGrp="1"/>
          </p:cNvSpPr>
          <p:nvPr/>
        </p:nvSpPr>
        <p:spPr>
          <a:xfrm xmlns:a="http://schemas.openxmlformats.org/drawingml/2006/main">
            <a:off x="7874000" y="4584700"/>
            <a:ext cx="7302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Supporto all’assistenza</a:t>
            </a:r>
          </a:p>
        </p:txBody>
      </p:sp>
      <p:sp>
        <p:nvSpPr>
          <p:cNvPr id="24" name="Collegare eventi e condizioni d’uso ai documenti&#10;di ">
            <a:extLst xmlns:a="http://schemas.openxmlformats.org/drawingml/2006/main">
              <a:ext uri="{FF2B5EF4-FFF2-40B4-BE49-F238E27FC236}">
                <a16:creationId xmlns:a16="http://schemas.microsoft.com/office/drawing/2014/main" id="{73D7349E-212B-4440-ADFA-A45E4EBB3F02}"/>
              </a:ext>
            </a:extLst>
          </p:cNvPr>
          <p:cNvSpPr>
            <a:spLocks xmlns:a="http://schemas.openxmlformats.org/drawingml/2006/main" noGrp="1"/>
          </p:cNvSpPr>
          <p:nvPr/>
        </p:nvSpPr>
        <p:spPr>
          <a:xfrm xmlns:a="http://schemas.openxmlformats.org/drawingml/2006/main">
            <a:off x="7874000" y="5219700"/>
            <a:ext cx="7429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Collegare eventi e condizioni d’uso ai documenti</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di manutenzione e alle valutazioni tecniche.</a:t>
            </a:r>
          </a:p>
        </p:txBody>
      </p:sp>
      <p:sp>
        <p:nvSpPr>
          <p:cNvPr id="25" name="Dati confrontabili nel tempo">
            <a:extLst xmlns:a="http://schemas.openxmlformats.org/drawingml/2006/main">
              <a:ext uri="{FF2B5EF4-FFF2-40B4-BE49-F238E27FC236}">
                <a16:creationId xmlns:a16="http://schemas.microsoft.com/office/drawing/2014/main" id="{21318C97-E0F1-4316-8714-2AFCDB394786}"/>
              </a:ext>
            </a:extLst>
          </p:cNvPr>
          <p:cNvSpPr>
            <a:spLocks xmlns:a="http://schemas.openxmlformats.org/drawingml/2006/main" noGrp="1"/>
          </p:cNvSpPr>
          <p:nvPr/>
        </p:nvSpPr>
        <p:spPr>
          <a:xfrm xmlns:a="http://schemas.openxmlformats.org/drawingml/2006/main">
            <a:off x="7874000" y="6451600"/>
            <a:ext cx="73025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Dati confrontabili nel tempo</a:t>
            </a:r>
          </a:p>
        </p:txBody>
      </p:sp>
      <p:sp>
        <p:nvSpPr>
          <p:cNvPr id="26" name="Conservare metodo, unità e versione delle stime&#10;di s">
            <a:extLst xmlns:a="http://schemas.openxmlformats.org/drawingml/2006/main">
              <a:ext uri="{FF2B5EF4-FFF2-40B4-BE49-F238E27FC236}">
                <a16:creationId xmlns:a16="http://schemas.microsoft.com/office/drawing/2014/main" id="{FE4DA795-E564-4D8A-9C2E-E714F9CC3EA6}"/>
              </a:ext>
            </a:extLst>
          </p:cNvPr>
          <p:cNvSpPr>
            <a:spLocks xmlns:a="http://schemas.openxmlformats.org/drawingml/2006/main" noGrp="1"/>
          </p:cNvSpPr>
          <p:nvPr/>
        </p:nvSpPr>
        <p:spPr>
          <a:xfrm xmlns:a="http://schemas.openxmlformats.org/drawingml/2006/main">
            <a:off x="7874000" y="7086600"/>
            <a:ext cx="7429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Conservare metodo, unità e versione delle stime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di stato di salute (SoH) e capacità residua.</a:t>
            </a:r>
          </a:p>
        </p:txBody>
      </p:sp>
    </p:spTree>
    <p:extLst>
      <p:ext uri="{BB962C8B-B14F-4D97-AF65-F5344CB8AC3E}">
        <p14:creationId xmlns:p14="http://schemas.microsoft.com/office/powerpoint/2010/main" val="1376327002"/>
      </p:ext>
    </p:extLst>
  </p:cSld>
</p:sld>
</file>

<file path=ppt/slides/slide7.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34FB1FD-012E-434D-9048-04492B499D4B}"/>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67523D01-1432-40D8-ADB3-AB3294CBF37A}"/>
              </a:ext>
            </a:extLst>
          </p:cNvPr>
          <p:cNvPicPr>
            <a:picLocks xmlns:a="http://schemas.openxmlformats.org/drawingml/2006/main" noChangeAspect="1"/>
          </p:cNvPicPr>
          <p:nvPr/>
        </p:nvPicPr>
        <p:blipFill>
          <a:blip xmlns:r="http://schemas.openxmlformats.org/officeDocument/2006/relationships" xmlns:a="http://schemas.openxmlformats.org/drawingml/2006/main" r:embed="R0ae3cc125ce64e65"/>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2E73976-ABE5-4AE2-9C01-2AFE01297998}"/>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46EE208A-DFFF-4DDA-B2FC-EF97AEA2F9F1}"/>
              </a:ext>
            </a:extLst>
          </p:cNvPr>
          <p:cNvPicPr>
            <a:picLocks xmlns:a="http://schemas.openxmlformats.org/drawingml/2006/main" noChangeAspect="1"/>
          </p:cNvPicPr>
          <p:nvPr/>
        </p:nvPicPr>
        <p:blipFill>
          <a:blip xmlns:r="http://schemas.openxmlformats.org/officeDocument/2006/relationships" xmlns:a="http://schemas.openxmlformats.org/drawingml/2006/main" r:embed="R3d496d102f22417b"/>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 ACCESSI">
            <a:extLst xmlns:a="http://schemas.openxmlformats.org/drawingml/2006/main">
              <a:ext uri="{FF2B5EF4-FFF2-40B4-BE49-F238E27FC236}">
                <a16:creationId xmlns:a16="http://schemas.microsoft.com/office/drawing/2014/main" id="{70EFE0BB-F8AD-4F3A-806E-EB1A17FD06F3}"/>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 ACCESSI</a:t>
            </a:r>
          </a:p>
        </p:txBody>
      </p:sp>
      <p:sp>
        <p:nvSpPr>
          <p:cNvPr id="6" name="Le informazioni pertinenti,&#10;ai soggetti autorizzati">
            <a:extLst xmlns:a="http://schemas.openxmlformats.org/drawingml/2006/main">
              <a:ext uri="{FF2B5EF4-FFF2-40B4-BE49-F238E27FC236}">
                <a16:creationId xmlns:a16="http://schemas.microsoft.com/office/drawing/2014/main" id="{999947EC-08B2-45B9-8523-3B8452C19510}"/>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Le informazioni pertinenti,</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ai soggetti autorizzati</a:t>
            </a:r>
          </a:p>
        </p:txBody>
      </p:sp>
      <p:sp>
        <p:nvSpPr>
          <p:cNvPr id="7" name="Il QR collega al passaporto. La visibilità dei conte">
            <a:extLst xmlns:a="http://schemas.openxmlformats.org/drawingml/2006/main">
              <a:ext uri="{FF2B5EF4-FFF2-40B4-BE49-F238E27FC236}">
                <a16:creationId xmlns:a16="http://schemas.microsoft.com/office/drawing/2014/main" id="{0C078F04-22A9-4B00-A782-0012D8E9771C}"/>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Il QR collega al passaporto. La visibilità dei contenuti dipende dai diritti previsti e dal ruolo.</a:t>
            </a:r>
          </a:p>
        </p:txBody>
      </p:sp>
      <p:sp>
        <p:nvSpPr>
          <p:cNvPr id="8" name="">
            <a:extLst xmlns:a="http://schemas.openxmlformats.org/drawingml/2006/main">
              <a:ext uri="{FF2B5EF4-FFF2-40B4-BE49-F238E27FC236}">
                <a16:creationId xmlns:a16="http://schemas.microsoft.com/office/drawing/2014/main" id="{1771FD6C-778F-4E87-851A-41D92DEE16B1}"/>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Reg. (UE) 2023/1542, allegato XIII · Dettagli di acc">
            <a:extLst xmlns:a="http://schemas.openxmlformats.org/drawingml/2006/main">
              <a:ext uri="{FF2B5EF4-FFF2-40B4-BE49-F238E27FC236}">
                <a16:creationId xmlns:a16="http://schemas.microsoft.com/office/drawing/2014/main" id="{834A9592-3C04-4618-8980-AF3E41318A99}"/>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Reg. (UE) 2023/1542, allegato XIII · Dettagli di accesso riservato secondo gli atti applicabili.</a:t>
            </a:r>
          </a:p>
        </p:txBody>
      </p:sp>
      <p:sp>
        <p:nvSpPr>
          <p:cNvPr id="10" name="07 / 11">
            <a:extLst xmlns:a="http://schemas.openxmlformats.org/drawingml/2006/main">
              <a:ext uri="{FF2B5EF4-FFF2-40B4-BE49-F238E27FC236}">
                <a16:creationId xmlns:a16="http://schemas.microsoft.com/office/drawing/2014/main" id="{8AF7E5CA-8AFB-4492-8685-28A4419F8930}"/>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07 / 11</a:t>
            </a:r>
          </a:p>
        </p:txBody>
      </p:sp>
      <p:sp>
        <p:nvSpPr>
          <p:cNvPr id="11" name="01">
            <a:extLst xmlns:a="http://schemas.openxmlformats.org/drawingml/2006/main">
              <a:ext uri="{FF2B5EF4-FFF2-40B4-BE49-F238E27FC236}">
                <a16:creationId xmlns:a16="http://schemas.microsoft.com/office/drawing/2014/main" id="{2F4652F8-F2B4-4FFA-B464-B195B76A8D60}"/>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Informazioni pubbliche">
            <a:extLst xmlns:a="http://schemas.openxmlformats.org/drawingml/2006/main">
              <a:ext uri="{FF2B5EF4-FFF2-40B4-BE49-F238E27FC236}">
                <a16:creationId xmlns:a16="http://schemas.microsoft.com/office/drawing/2014/main" id="{85FD1561-0396-486A-8293-0D9944E834D1}"/>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b="1">
                <a:solidFill>
                  <a:srgbClr val="102B28"/>
                </a:solidFill>
                <a:latin typeface="Liberation Sans"/>
                <a:ea typeface="Liberation Sans"/>
                <a:cs typeface="Liberation Sans"/>
              </a:defRPr>
            </a:defPPr>
          </a:lstStyle>
          <a:p xmlns:a="http://schemas.openxmlformats.org/drawingml/2006/main">
            <a:pPr>
              <a:lnSpc>
                <a:spcPct val="108000"/>
              </a:lnSpc>
              <a:buNone/>
              <a:defRPr sz="2800" b="1">
                <a:solidFill>
                  <a:srgbClr val="102B28"/>
                </a:solidFill>
                <a:latin typeface="Liberation Sans"/>
                <a:ea typeface="Liberation Sans"/>
                <a:cs typeface="Liberation Sans"/>
              </a:defRPr>
            </a:pPr>
            <a:r>
              <a:rPr sz="2800" b="1">
                <a:solidFill>
                  <a:srgbClr val="102B28"/>
                </a:solidFill>
                <a:latin typeface="Liberation Sans"/>
                <a:ea typeface="Liberation Sans"/>
                <a:cs typeface="Liberation Sans"/>
              </a:rPr>
              <a:t>Informazioni pubbliche</a:t>
            </a:r>
          </a:p>
        </p:txBody>
      </p:sp>
      <p:sp>
        <p:nvSpPr>
          <p:cNvPr id="13" name="Dati di prodotto e contenuti&#10;previsti per la consult">
            <a:extLst xmlns:a="http://schemas.openxmlformats.org/drawingml/2006/main">
              <a:ext uri="{FF2B5EF4-FFF2-40B4-BE49-F238E27FC236}">
                <a16:creationId xmlns:a16="http://schemas.microsoft.com/office/drawing/2014/main" id="{9C01BC6C-B6E5-4960-BE7E-EC3D06545413}"/>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Dati di prodotto e contenuti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previsti per la consultazione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pubblica del passaporto.</a:t>
            </a:r>
          </a:p>
        </p:txBody>
      </p:sp>
      <p:sp>
        <p:nvSpPr>
          <p:cNvPr id="14" name="02">
            <a:extLst xmlns:a="http://schemas.openxmlformats.org/drawingml/2006/main">
              <a:ext uri="{FF2B5EF4-FFF2-40B4-BE49-F238E27FC236}">
                <a16:creationId xmlns:a16="http://schemas.microsoft.com/office/drawing/2014/main" id="{159B75F0-D9E6-41B0-BEF6-06F313EE681E}"/>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Informazioni riservate">
            <a:extLst xmlns:a="http://schemas.openxmlformats.org/drawingml/2006/main">
              <a:ext uri="{FF2B5EF4-FFF2-40B4-BE49-F238E27FC236}">
                <a16:creationId xmlns:a16="http://schemas.microsoft.com/office/drawing/2014/main" id="{BE4F75BF-D329-4929-8443-98AB9A0483A1}"/>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b="1">
                <a:solidFill>
                  <a:srgbClr val="102B28"/>
                </a:solidFill>
                <a:latin typeface="Liberation Sans"/>
                <a:ea typeface="Liberation Sans"/>
                <a:cs typeface="Liberation Sans"/>
              </a:defRPr>
            </a:defPPr>
          </a:lstStyle>
          <a:p xmlns:a="http://schemas.openxmlformats.org/drawingml/2006/main">
            <a:pPr>
              <a:lnSpc>
                <a:spcPct val="108000"/>
              </a:lnSpc>
              <a:buNone/>
              <a:defRPr sz="2800" b="1">
                <a:solidFill>
                  <a:srgbClr val="102B28"/>
                </a:solidFill>
                <a:latin typeface="Liberation Sans"/>
                <a:ea typeface="Liberation Sans"/>
                <a:cs typeface="Liberation Sans"/>
              </a:defRPr>
            </a:pPr>
            <a:r>
              <a:rPr sz="2800" b="1">
                <a:solidFill>
                  <a:srgbClr val="102B28"/>
                </a:solidFill>
                <a:latin typeface="Liberation Sans"/>
                <a:ea typeface="Liberation Sans"/>
                <a:cs typeface="Liberation Sans"/>
              </a:rPr>
              <a:t>Informazioni riservate</a:t>
            </a:r>
          </a:p>
        </p:txBody>
      </p:sp>
      <p:sp>
        <p:nvSpPr>
          <p:cNvPr id="16" name="Dati tecnici e individuali&#10;accessibili a chi è autor">
            <a:extLst xmlns:a="http://schemas.openxmlformats.org/drawingml/2006/main">
              <a:ext uri="{FF2B5EF4-FFF2-40B4-BE49-F238E27FC236}">
                <a16:creationId xmlns:a16="http://schemas.microsoft.com/office/drawing/2014/main" id="{2F1C81AC-E544-4F13-89F6-A02510536FFD}"/>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Dati tecnici e individuali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accessibili a chi è autorizzato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secondo le regole applicabili.</a:t>
            </a:r>
          </a:p>
        </p:txBody>
      </p:sp>
      <p:sp>
        <p:nvSpPr>
          <p:cNvPr id="17" name="03">
            <a:extLst xmlns:a="http://schemas.openxmlformats.org/drawingml/2006/main">
              <a:ext uri="{FF2B5EF4-FFF2-40B4-BE49-F238E27FC236}">
                <a16:creationId xmlns:a16="http://schemas.microsoft.com/office/drawing/2014/main" id="{9488C900-6D7F-41F8-8A31-F1F68527B2AF}"/>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Azioni tracciate">
            <a:extLst xmlns:a="http://schemas.openxmlformats.org/drawingml/2006/main">
              <a:ext uri="{FF2B5EF4-FFF2-40B4-BE49-F238E27FC236}">
                <a16:creationId xmlns:a16="http://schemas.microsoft.com/office/drawing/2014/main" id="{C9D6FCEF-30D9-4C25-BD79-B4D48972C52A}"/>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b="1">
                <a:solidFill>
                  <a:srgbClr val="102B28"/>
                </a:solidFill>
                <a:latin typeface="Liberation Sans"/>
                <a:ea typeface="Liberation Sans"/>
                <a:cs typeface="Liberation Sans"/>
              </a:defRPr>
            </a:defPPr>
          </a:lstStyle>
          <a:p xmlns:a="http://schemas.openxmlformats.org/drawingml/2006/main">
            <a:pPr>
              <a:lnSpc>
                <a:spcPct val="108000"/>
              </a:lnSpc>
              <a:buNone/>
              <a:defRPr sz="2800" b="1">
                <a:solidFill>
                  <a:srgbClr val="102B28"/>
                </a:solidFill>
                <a:latin typeface="Liberation Sans"/>
                <a:ea typeface="Liberation Sans"/>
                <a:cs typeface="Liberation Sans"/>
              </a:defRPr>
            </a:pPr>
            <a:r>
              <a:rPr sz="2800" b="1">
                <a:solidFill>
                  <a:srgbClr val="102B28"/>
                </a:solidFill>
                <a:latin typeface="Liberation Sans"/>
                <a:ea typeface="Liberation Sans"/>
                <a:cs typeface="Liberation Sans"/>
              </a:rPr>
              <a:t>Azioni tracciate</a:t>
            </a:r>
          </a:p>
        </p:txBody>
      </p:sp>
      <p:sp>
        <p:nvSpPr>
          <p:cNvPr id="19" name="Aggiornamenti attribuiti&#10;ai soggetti incaricati, con">
            <a:extLst xmlns:a="http://schemas.openxmlformats.org/drawingml/2006/main">
              <a:ext uri="{FF2B5EF4-FFF2-40B4-BE49-F238E27FC236}">
                <a16:creationId xmlns:a16="http://schemas.microsoft.com/office/drawing/2014/main" id="{A74B8411-2BDC-4019-AC96-86FEE4A858AD}"/>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Aggiornamenti attribuiti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ai soggetti incaricati, con</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data e versione del dato.</a:t>
            </a:r>
          </a:p>
        </p:txBody>
      </p:sp>
      <p:sp>
        <p:nvSpPr>
          <p:cNvPr id="20" name="">
            <a:extLst xmlns:a="http://schemas.openxmlformats.org/drawingml/2006/main">
              <a:ext uri="{FF2B5EF4-FFF2-40B4-BE49-F238E27FC236}">
                <a16:creationId xmlns:a16="http://schemas.microsoft.com/office/drawing/2014/main" id="{C865D3E0-AFCF-46DF-823C-DF76D15A39BB}"/>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Accessi e aggiornamenti configurati per proteggere i">
            <a:extLst xmlns:a="http://schemas.openxmlformats.org/drawingml/2006/main">
              <a:ext uri="{FF2B5EF4-FFF2-40B4-BE49-F238E27FC236}">
                <a16:creationId xmlns:a16="http://schemas.microsoft.com/office/drawing/2014/main" id="{B3053D4E-A0F9-4E25-BEAC-5A3AA74D2919}"/>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Accessi e aggiornamenti configurati per proteggere i dati e consentire gli usi previsti.</a:t>
            </a:r>
          </a:p>
        </p:txBody>
      </p:sp>
    </p:spTree>
    <p:extLst>
      <p:ext uri="{BB962C8B-B14F-4D97-AF65-F5344CB8AC3E}">
        <p14:creationId xmlns:p14="http://schemas.microsoft.com/office/powerpoint/2010/main" val="813838677"/>
      </p:ext>
    </p:extLst>
  </p:cSld>
</p:sld>
</file>

<file path=ppt/slides/slide8.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C3C034FC-553E-41A0-BCE5-D576BCDDA5E2}"/>
              </a:ext>
            </a:extLst>
          </p:cNvPr>
          <p:cNvCxnSpPr>
            <a:stCxn xmlns:a="http://schemas.openxmlformats.org/drawingml/2006/main" id="20" idx="3"/>
            <a:endCxn xmlns:a="http://schemas.openxmlformats.org/drawingml/2006/main" id="23" idx="1"/>
          </p:cNvCxnSpPr>
          <p:nvPr/>
        </p:nvCxnSpPr>
        <p:spPr>
          <a:xfrm xmlns:a="http://schemas.openxmlformats.org/drawingml/2006/main">
            <a:off x="10845800" y="5854700"/>
            <a:ext cx="914400" cy="0"/>
          </a:xfrm>
          <a:prstGeom xmlns:a="http://schemas.openxmlformats.org/drawingml/2006/main" prst="straightConnector1">
            <a:avLst/>
          </a:prstGeom>
          <a:ln xmlns:a="http://schemas.openxmlformats.org/drawingml/2006/main" w="19050">
            <a:solidFill>
              <a:srgbClr val="C8F67C"/>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F089C25D-2F79-4E06-8B60-62A789FAD8E8}"/>
              </a:ext>
            </a:extLst>
          </p:cNvPr>
          <p:cNvCxnSpPr>
            <a:stCxn xmlns:a="http://schemas.openxmlformats.org/drawingml/2006/main" id="17" idx="3"/>
            <a:endCxn xmlns:a="http://schemas.openxmlformats.org/drawingml/2006/main" id="20" idx="1"/>
          </p:cNvCxnSpPr>
          <p:nvPr/>
        </p:nvCxnSpPr>
        <p:spPr>
          <a:xfrm xmlns:a="http://schemas.openxmlformats.org/drawingml/2006/main">
            <a:off x="6578600" y="5842000"/>
            <a:ext cx="558800" cy="12700"/>
          </a:xfrm>
          <a:prstGeom xmlns:a="http://schemas.openxmlformats.org/drawingml/2006/main" prst="bentConnector3">
            <a:avLst>
              <a:gd name="adj1" fmla="val 50000"/>
            </a:avLst>
          </a:prstGeom>
          <a:ln xmlns:a="http://schemas.openxmlformats.org/drawingml/2006/main" w="19050">
            <a:solidFill>
              <a:srgbClr val="C8F67C"/>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AD401169-5757-46EF-A374-1C7A91CB1E74}"/>
              </a:ext>
            </a:extLst>
          </p:cNvPr>
          <p:cNvCxnSpPr>
            <a:stCxn xmlns:a="http://schemas.openxmlformats.org/drawingml/2006/main" id="14" idx="3"/>
            <a:endCxn xmlns:a="http://schemas.openxmlformats.org/drawingml/2006/main" id="17" idx="1"/>
          </p:cNvCxnSpPr>
          <p:nvPr/>
        </p:nvCxnSpPr>
        <p:spPr>
          <a:xfrm xmlns:a="http://schemas.openxmlformats.org/drawingml/2006/main" flipV="1">
            <a:off x="4064000" y="5842000"/>
            <a:ext cx="711200" cy="660400"/>
          </a:xfrm>
          <a:prstGeom xmlns:a="http://schemas.openxmlformats.org/drawingml/2006/main" prst="bentConnector3">
            <a:avLst>
              <a:gd name="adj1" fmla="val 50000"/>
            </a:avLst>
          </a:prstGeom>
          <a:ln xmlns:a="http://schemas.openxmlformats.org/drawingml/2006/main" w="19050">
            <a:solidFill>
              <a:srgbClr val="C8F67C"/>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01183924-5CE9-41D4-A949-B79B691E99C3}"/>
              </a:ext>
            </a:extLst>
          </p:cNvPr>
          <p:cNvCxnSpPr>
            <a:stCxn xmlns:a="http://schemas.openxmlformats.org/drawingml/2006/main" id="11" idx="3"/>
            <a:endCxn xmlns:a="http://schemas.openxmlformats.org/drawingml/2006/main" id="17" idx="1"/>
          </p:cNvCxnSpPr>
          <p:nvPr/>
        </p:nvCxnSpPr>
        <p:spPr>
          <a:xfrm xmlns:a="http://schemas.openxmlformats.org/drawingml/2006/main">
            <a:off x="4064000" y="5207000"/>
            <a:ext cx="711200" cy="635000"/>
          </a:xfrm>
          <a:prstGeom xmlns:a="http://schemas.openxmlformats.org/drawingml/2006/main" prst="bentConnector3">
            <a:avLst>
              <a:gd name="adj1" fmla="val 50000"/>
            </a:avLst>
          </a:prstGeom>
          <a:ln xmlns:a="http://schemas.openxmlformats.org/drawingml/2006/main" w="19050">
            <a:solidFill>
              <a:srgbClr val="C8F67C"/>
            </a:solidFill>
            <a:prstDash val="solid"/>
            <a:tailEnd type="triangle" w="sm" len="sm"/>
          </a:ln>
        </p:spPr>
      </p:cxnSp>
      <p:sp>
        <p:nvSpPr>
          <p:cNvPr id="35" name="">
            <a:extLst xmlns:a="http://schemas.openxmlformats.org/drawingml/2006/main">
              <a:ext uri="{FF2B5EF4-FFF2-40B4-BE49-F238E27FC236}">
                <a16:creationId xmlns:a16="http://schemas.microsoft.com/office/drawing/2014/main" id="{40F41D48-BC8C-4823-AB78-8A5AE810C224}"/>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E0E04C51-6A2D-49AF-9191-153AD702D0E7}"/>
              </a:ext>
            </a:extLst>
          </p:cNvPr>
          <p:cNvPicPr>
            <a:picLocks xmlns:a="http://schemas.openxmlformats.org/drawingml/2006/main" noChangeAspect="1"/>
          </p:cNvPicPr>
          <p:nvPr/>
        </p:nvPicPr>
        <p:blipFill>
          <a:blip xmlns:r="http://schemas.openxmlformats.org/officeDocument/2006/relationships" xmlns:a="http://schemas.openxmlformats.org/drawingml/2006/main" r:embed="Rae747afc79064c96"/>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CE404D0-29A0-45C2-A053-42FBEA6ADB8A}"/>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E9E91144-F4FA-4818-A871-65996A2915E9}"/>
              </a:ext>
            </a:extLst>
          </p:cNvPr>
          <p:cNvPicPr>
            <a:picLocks xmlns:a="http://schemas.openxmlformats.org/drawingml/2006/main" noChangeAspect="1"/>
          </p:cNvPicPr>
          <p:nvPr/>
        </p:nvPicPr>
        <p:blipFill>
          <a:blip xmlns:r="http://schemas.openxmlformats.org/officeDocument/2006/relationships" xmlns:a="http://schemas.openxmlformats.org/drawingml/2006/main" r:embed="R4b80e10fda5e410e"/>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SEGMENTO · INTEGRITÀ DEL PASSAPORTO">
            <a:extLst xmlns:a="http://schemas.openxmlformats.org/drawingml/2006/main">
              <a:ext uri="{FF2B5EF4-FFF2-40B4-BE49-F238E27FC236}">
                <a16:creationId xmlns:a16="http://schemas.microsoft.com/office/drawing/2014/main" id="{D25523EA-141C-4C9B-9113-6AC5142A12A0}"/>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SEGMENTO · INTEGRITÀ DEL PASSAPORTO</a:t>
            </a:r>
          </a:p>
        </p:txBody>
      </p:sp>
      <p:sp>
        <p:nvSpPr>
          <p:cNvPr id="6" name="Dati del passaporto&#10;con integrità verificabile">
            <a:extLst xmlns:a="http://schemas.openxmlformats.org/drawingml/2006/main">
              <a:ext uri="{FF2B5EF4-FFF2-40B4-BE49-F238E27FC236}">
                <a16:creationId xmlns:a16="http://schemas.microsoft.com/office/drawing/2014/main" id="{09FC75C5-031F-4527-B007-91E357D1DFB6}"/>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Dati del passaporto</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con integrità verificabile</a:t>
            </a:r>
          </a:p>
        </p:txBody>
      </p:sp>
      <p:sp>
        <p:nvSpPr>
          <p:cNvPr id="7" name="Segmento collega documenti e registrazioni del passa">
            <a:extLst xmlns:a="http://schemas.openxmlformats.org/drawingml/2006/main">
              <a:ext uri="{FF2B5EF4-FFF2-40B4-BE49-F238E27FC236}">
                <a16:creationId xmlns:a16="http://schemas.microsoft.com/office/drawing/2014/main" id="{E56A912F-5BF5-44A3-90C3-16AEDC82B1BB}"/>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Segmento collega documenti e registrazioni del passaporto a prove di integrità.</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L’API REST integra i sistemi esistenti con l’architettura a doppia blockchain.</a:t>
            </a:r>
          </a:p>
        </p:txBody>
      </p:sp>
      <p:sp>
        <p:nvSpPr>
          <p:cNvPr id="8" name="">
            <a:extLst xmlns:a="http://schemas.openxmlformats.org/drawingml/2006/main">
              <a:ext uri="{FF2B5EF4-FFF2-40B4-BE49-F238E27FC236}">
                <a16:creationId xmlns:a16="http://schemas.microsoft.com/office/drawing/2014/main" id="{BEAB9899-BE06-4BF3-B8A8-92C95003F713}"/>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Architettura del servizio: presentazione Ailanto for">
            <a:extLst xmlns:a="http://schemas.openxmlformats.org/drawingml/2006/main">
              <a:ext uri="{FF2B5EF4-FFF2-40B4-BE49-F238E27FC236}">
                <a16:creationId xmlns:a16="http://schemas.microsoft.com/office/drawing/2014/main" id="{40656E78-53D0-4D80-A588-5E6B591A5F96}"/>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Architettura del servizio: presentazione Ailanto fornita, p. 3. Integrazione Alps proposta.</a:t>
            </a:r>
          </a:p>
        </p:txBody>
      </p:sp>
      <p:sp>
        <p:nvSpPr>
          <p:cNvPr id="10" name="08 / 11">
            <a:extLst xmlns:a="http://schemas.openxmlformats.org/drawingml/2006/main">
              <a:ext uri="{FF2B5EF4-FFF2-40B4-BE49-F238E27FC236}">
                <a16:creationId xmlns:a16="http://schemas.microsoft.com/office/drawing/2014/main" id="{7542A9BB-0151-465F-9773-90E8D7B5A98C}"/>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08 / 11</a:t>
            </a:r>
          </a:p>
        </p:txBody>
      </p:sp>
      <p:sp>
        <p:nvSpPr>
          <p:cNvPr id="11" name="">
            <a:extLst xmlns:a="http://schemas.openxmlformats.org/drawingml/2006/main">
              <a:ext uri="{FF2B5EF4-FFF2-40B4-BE49-F238E27FC236}">
                <a16:creationId xmlns:a16="http://schemas.microsoft.com/office/drawing/2014/main" id="{7135952C-3F4E-4BD9-B713-76D21B29189A}"/>
              </a:ext>
            </a:extLst>
          </p:cNvPr>
          <p:cNvSpPr>
            <a:spLocks xmlns:a="http://schemas.openxmlformats.org/drawingml/2006/main" noGrp="1"/>
          </p:cNvSpPr>
          <p:nvPr/>
        </p:nvSpPr>
        <p:spPr>
          <a:xfrm xmlns:a="http://schemas.openxmlformats.org/drawingml/2006/main">
            <a:off x="914400" y="4749800"/>
            <a:ext cx="3149600" cy="914400"/>
          </a:xfrm>
          <a:prstGeom xmlns:a="http://schemas.openxmlformats.org/drawingml/2006/main" prst="roundRect">
            <a:avLst>
              <a:gd name="adj" fmla="val 13889"/>
            </a:avLst>
          </a:prstGeom>
          <a:solidFill xmlns:a="http://schemas.openxmlformats.org/drawingml/2006/main">
            <a:srgbClr val="102B28"/>
          </a:solidFill>
          <a:ln xmlns:a="http://schemas.openxmlformats.org/drawingml/2006/main" w="12700">
            <a:solidFill>
              <a:srgbClr val="396A59"/>
            </a:solidFill>
            <a:prstDash val="solid"/>
          </a:ln>
        </p:spPr>
      </p:sp>
      <p:sp>
        <p:nvSpPr>
          <p:cNvPr id="12" name="Sistemi aziendali">
            <a:extLst xmlns:a="http://schemas.openxmlformats.org/drawingml/2006/main">
              <a:ext uri="{FF2B5EF4-FFF2-40B4-BE49-F238E27FC236}">
                <a16:creationId xmlns:a16="http://schemas.microsoft.com/office/drawing/2014/main" id="{EBBEF7E0-DFD3-428E-9763-923A3DDE7BBA}"/>
              </a:ext>
            </a:extLst>
          </p:cNvPr>
          <p:cNvSpPr>
            <a:spLocks xmlns:a="http://schemas.openxmlformats.org/drawingml/2006/main" noGrp="1"/>
          </p:cNvSpPr>
          <p:nvPr/>
        </p:nvSpPr>
        <p:spPr>
          <a:xfrm xmlns:a="http://schemas.openxmlformats.org/drawingml/2006/main">
            <a:off x="1155700" y="48641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F4F4E9"/>
                </a:solidFill>
                <a:latin typeface="Liberation Sans"/>
                <a:ea typeface="Liberation Sans"/>
                <a:cs typeface="Liberation Sans"/>
              </a:defRPr>
            </a:defPPr>
          </a:lstStyle>
          <a:p xmlns:a="http://schemas.openxmlformats.org/drawingml/2006/main">
            <a:pPr>
              <a:lnSpc>
                <a:spcPct val="108000"/>
              </a:lnSpc>
              <a:buNone/>
              <a:defRPr sz="2200" b="1">
                <a:solidFill>
                  <a:srgbClr val="F4F4E9"/>
                </a:solidFill>
                <a:latin typeface="Liberation Sans"/>
                <a:ea typeface="Liberation Sans"/>
                <a:cs typeface="Liberation Sans"/>
              </a:defRPr>
            </a:pPr>
            <a:r>
              <a:rPr sz="2200" b="1">
                <a:solidFill>
                  <a:srgbClr val="F4F4E9"/>
                </a:solidFill>
                <a:latin typeface="Liberation Sans"/>
                <a:ea typeface="Liberation Sans"/>
                <a:cs typeface="Liberation Sans"/>
              </a:rPr>
              <a:t>Sistemi aziendali</a:t>
            </a:r>
          </a:p>
        </p:txBody>
      </p:sp>
      <p:sp>
        <p:nvSpPr>
          <p:cNvPr id="13" name="Dati e documenti">
            <a:extLst xmlns:a="http://schemas.openxmlformats.org/drawingml/2006/main">
              <a:ext uri="{FF2B5EF4-FFF2-40B4-BE49-F238E27FC236}">
                <a16:creationId xmlns:a16="http://schemas.microsoft.com/office/drawing/2014/main" id="{A8AAFF32-B869-4BF2-8379-E74D6C152164}"/>
              </a:ext>
            </a:extLst>
          </p:cNvPr>
          <p:cNvSpPr>
            <a:spLocks xmlns:a="http://schemas.openxmlformats.org/drawingml/2006/main" noGrp="1"/>
          </p:cNvSpPr>
          <p:nvPr/>
        </p:nvSpPr>
        <p:spPr>
          <a:xfrm xmlns:a="http://schemas.openxmlformats.org/drawingml/2006/main">
            <a:off x="1155700" y="52832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0">
                <a:solidFill>
                  <a:srgbClr val="B0C4BC"/>
                </a:solidFill>
                <a:latin typeface="Liberation Sans"/>
                <a:ea typeface="Liberation Sans"/>
                <a:cs typeface="Liberation Sans"/>
              </a:defRPr>
            </a:defPPr>
          </a:lstStyle>
          <a:p xmlns:a="http://schemas.openxmlformats.org/drawingml/2006/main">
            <a:pPr>
              <a:lnSpc>
                <a:spcPct val="108000"/>
              </a:lnSpc>
              <a:buNone/>
              <a:defRPr sz="1900" b="0">
                <a:solidFill>
                  <a:srgbClr val="B0C4BC"/>
                </a:solidFill>
                <a:latin typeface="Liberation Sans"/>
                <a:ea typeface="Liberation Sans"/>
                <a:cs typeface="Liberation Sans"/>
              </a:defRPr>
            </a:pPr>
            <a:r>
              <a:rPr sz="1900" b="0">
                <a:solidFill>
                  <a:srgbClr val="B0C4BC"/>
                </a:solidFill>
                <a:latin typeface="Liberation Sans"/>
                <a:ea typeface="Liberation Sans"/>
                <a:cs typeface="Liberation Sans"/>
              </a:rPr>
              <a:t>Dati e documenti</a:t>
            </a:r>
          </a:p>
        </p:txBody>
      </p:sp>
      <p:sp>
        <p:nvSpPr>
          <p:cNvPr id="14" name="">
            <a:extLst xmlns:a="http://schemas.openxmlformats.org/drawingml/2006/main">
              <a:ext uri="{FF2B5EF4-FFF2-40B4-BE49-F238E27FC236}">
                <a16:creationId xmlns:a16="http://schemas.microsoft.com/office/drawing/2014/main" id="{AB562FDA-0B40-4DA5-9DF4-632978213165}"/>
              </a:ext>
            </a:extLst>
          </p:cNvPr>
          <p:cNvSpPr>
            <a:spLocks xmlns:a="http://schemas.openxmlformats.org/drawingml/2006/main" noGrp="1"/>
          </p:cNvSpPr>
          <p:nvPr/>
        </p:nvSpPr>
        <p:spPr>
          <a:xfrm xmlns:a="http://schemas.openxmlformats.org/drawingml/2006/main">
            <a:off x="914400" y="6045200"/>
            <a:ext cx="3149600" cy="914400"/>
          </a:xfrm>
          <a:prstGeom xmlns:a="http://schemas.openxmlformats.org/drawingml/2006/main" prst="roundRect">
            <a:avLst>
              <a:gd name="adj" fmla="val 13889"/>
            </a:avLst>
          </a:prstGeom>
          <a:solidFill xmlns:a="http://schemas.openxmlformats.org/drawingml/2006/main">
            <a:srgbClr val="102B28"/>
          </a:solidFill>
          <a:ln xmlns:a="http://schemas.openxmlformats.org/drawingml/2006/main" w="12700">
            <a:solidFill>
              <a:srgbClr val="396A59"/>
            </a:solidFill>
            <a:prstDash val="solid"/>
          </a:ln>
        </p:spPr>
      </p:sp>
      <p:sp>
        <p:nvSpPr>
          <p:cNvPr id="15" name="BMS e dispositivi">
            <a:extLst xmlns:a="http://schemas.openxmlformats.org/drawingml/2006/main">
              <a:ext uri="{FF2B5EF4-FFF2-40B4-BE49-F238E27FC236}">
                <a16:creationId xmlns:a16="http://schemas.microsoft.com/office/drawing/2014/main" id="{AA57AA18-BD1B-452B-9E1A-1E3A6EBA1872}"/>
              </a:ext>
            </a:extLst>
          </p:cNvPr>
          <p:cNvSpPr>
            <a:spLocks xmlns:a="http://schemas.openxmlformats.org/drawingml/2006/main" noGrp="1"/>
          </p:cNvSpPr>
          <p:nvPr/>
        </p:nvSpPr>
        <p:spPr>
          <a:xfrm xmlns:a="http://schemas.openxmlformats.org/drawingml/2006/main">
            <a:off x="1155700" y="6159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F4F4E9"/>
                </a:solidFill>
                <a:latin typeface="Liberation Sans"/>
                <a:ea typeface="Liberation Sans"/>
                <a:cs typeface="Liberation Sans"/>
              </a:defRPr>
            </a:defPPr>
          </a:lstStyle>
          <a:p xmlns:a="http://schemas.openxmlformats.org/drawingml/2006/main">
            <a:pPr>
              <a:lnSpc>
                <a:spcPct val="108000"/>
              </a:lnSpc>
              <a:buNone/>
              <a:defRPr sz="2200" b="1">
                <a:solidFill>
                  <a:srgbClr val="F4F4E9"/>
                </a:solidFill>
                <a:latin typeface="Liberation Sans"/>
                <a:ea typeface="Liberation Sans"/>
                <a:cs typeface="Liberation Sans"/>
              </a:defRPr>
            </a:pPr>
            <a:r>
              <a:rPr sz="2200" b="1">
                <a:solidFill>
                  <a:srgbClr val="F4F4E9"/>
                </a:solidFill>
                <a:latin typeface="Liberation Sans"/>
                <a:ea typeface="Liberation Sans"/>
                <a:cs typeface="Liberation Sans"/>
              </a:rPr>
              <a:t>BMS e dispositivi</a:t>
            </a:r>
          </a:p>
        </p:txBody>
      </p:sp>
      <p:sp>
        <p:nvSpPr>
          <p:cNvPr id="16" name="Misure disponibili">
            <a:extLst xmlns:a="http://schemas.openxmlformats.org/drawingml/2006/main">
              <a:ext uri="{FF2B5EF4-FFF2-40B4-BE49-F238E27FC236}">
                <a16:creationId xmlns:a16="http://schemas.microsoft.com/office/drawing/2014/main" id="{43769415-2DC9-4A98-801E-40CC80190870}"/>
              </a:ext>
            </a:extLst>
          </p:cNvPr>
          <p:cNvSpPr>
            <a:spLocks xmlns:a="http://schemas.openxmlformats.org/drawingml/2006/main" noGrp="1"/>
          </p:cNvSpPr>
          <p:nvPr/>
        </p:nvSpPr>
        <p:spPr>
          <a:xfrm xmlns:a="http://schemas.openxmlformats.org/drawingml/2006/main">
            <a:off x="1155700" y="65786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0">
                <a:solidFill>
                  <a:srgbClr val="B0C4BC"/>
                </a:solidFill>
                <a:latin typeface="Liberation Sans"/>
                <a:ea typeface="Liberation Sans"/>
                <a:cs typeface="Liberation Sans"/>
              </a:defRPr>
            </a:defPPr>
          </a:lstStyle>
          <a:p xmlns:a="http://schemas.openxmlformats.org/drawingml/2006/main">
            <a:pPr>
              <a:lnSpc>
                <a:spcPct val="108000"/>
              </a:lnSpc>
              <a:buNone/>
              <a:defRPr sz="1900" b="0">
                <a:solidFill>
                  <a:srgbClr val="B0C4BC"/>
                </a:solidFill>
                <a:latin typeface="Liberation Sans"/>
                <a:ea typeface="Liberation Sans"/>
                <a:cs typeface="Liberation Sans"/>
              </a:defRPr>
            </a:pPr>
            <a:r>
              <a:rPr sz="1900" b="0">
                <a:solidFill>
                  <a:srgbClr val="B0C4BC"/>
                </a:solidFill>
                <a:latin typeface="Liberation Sans"/>
                <a:ea typeface="Liberation Sans"/>
                <a:cs typeface="Liberation Sans"/>
              </a:rPr>
              <a:t>Misure disponibili</a:t>
            </a:r>
          </a:p>
        </p:txBody>
      </p:sp>
      <p:sp>
        <p:nvSpPr>
          <p:cNvPr id="17" name="">
            <a:extLst xmlns:a="http://schemas.openxmlformats.org/drawingml/2006/main">
              <a:ext uri="{FF2B5EF4-FFF2-40B4-BE49-F238E27FC236}">
                <a16:creationId xmlns:a16="http://schemas.microsoft.com/office/drawing/2014/main" id="{D326365B-D7FA-43C8-917B-A61252D1F597}"/>
              </a:ext>
            </a:extLst>
          </p:cNvPr>
          <p:cNvSpPr>
            <a:spLocks xmlns:a="http://schemas.openxmlformats.org/drawingml/2006/main" noGrp="1"/>
          </p:cNvSpPr>
          <p:nvPr/>
        </p:nvSpPr>
        <p:spPr>
          <a:xfrm xmlns:a="http://schemas.openxmlformats.org/drawingml/2006/main">
            <a:off x="4775200" y="5270500"/>
            <a:ext cx="1803400" cy="1143000"/>
          </a:xfrm>
          <a:prstGeom xmlns:a="http://schemas.openxmlformats.org/drawingml/2006/main" prst="roundRect">
            <a:avLst>
              <a:gd name="adj" fmla="val 11111"/>
            </a:avLst>
          </a:prstGeom>
          <a:solidFill xmlns:a="http://schemas.openxmlformats.org/drawingml/2006/main">
            <a:srgbClr val="102B28"/>
          </a:solidFill>
          <a:ln xmlns:a="http://schemas.openxmlformats.org/drawingml/2006/main" w="12700">
            <a:solidFill>
              <a:srgbClr val="396A59"/>
            </a:solidFill>
            <a:prstDash val="solid"/>
          </a:ln>
        </p:spPr>
      </p:sp>
      <p:sp>
        <p:nvSpPr>
          <p:cNvPr id="18" name="API REST">
            <a:extLst xmlns:a="http://schemas.openxmlformats.org/drawingml/2006/main">
              <a:ext uri="{FF2B5EF4-FFF2-40B4-BE49-F238E27FC236}">
                <a16:creationId xmlns:a16="http://schemas.microsoft.com/office/drawing/2014/main" id="{AC7319D8-6ABD-479E-97EC-DE0C69742D68}"/>
              </a:ext>
            </a:extLst>
          </p:cNvPr>
          <p:cNvSpPr>
            <a:spLocks xmlns:a="http://schemas.openxmlformats.org/drawingml/2006/main" noGrp="1"/>
          </p:cNvSpPr>
          <p:nvPr/>
        </p:nvSpPr>
        <p:spPr>
          <a:xfrm xmlns:a="http://schemas.openxmlformats.org/drawingml/2006/main">
            <a:off x="4953000" y="5486400"/>
            <a:ext cx="1498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1">
                <a:solidFill>
                  <a:srgbClr val="F4F4E9"/>
                </a:solidFill>
                <a:latin typeface="Liberation Sans"/>
                <a:ea typeface="Liberation Sans"/>
                <a:cs typeface="Liberation Sans"/>
              </a:defRPr>
            </a:defPPr>
          </a:lstStyle>
          <a:p xmlns:a="http://schemas.openxmlformats.org/drawingml/2006/main">
            <a:pPr>
              <a:lnSpc>
                <a:spcPct val="108000"/>
              </a:lnSpc>
              <a:buNone/>
              <a:defRPr sz="2300" b="1">
                <a:solidFill>
                  <a:srgbClr val="F4F4E9"/>
                </a:solidFill>
                <a:latin typeface="Liberation Sans"/>
                <a:ea typeface="Liberation Sans"/>
                <a:cs typeface="Liberation Sans"/>
              </a:defRPr>
            </a:pPr>
            <a:r>
              <a:rPr sz="2300" b="1">
                <a:solidFill>
                  <a:srgbClr val="F4F4E9"/>
                </a:solidFill>
                <a:latin typeface="Liberation Sans"/>
                <a:ea typeface="Liberation Sans"/>
                <a:cs typeface="Liberation Sans"/>
              </a:rPr>
              <a:t>API REST</a:t>
            </a:r>
          </a:p>
        </p:txBody>
      </p:sp>
      <p:sp>
        <p:nvSpPr>
          <p:cNvPr id="19" name="Integrazione">
            <a:extLst xmlns:a="http://schemas.openxmlformats.org/drawingml/2006/main">
              <a:ext uri="{FF2B5EF4-FFF2-40B4-BE49-F238E27FC236}">
                <a16:creationId xmlns:a16="http://schemas.microsoft.com/office/drawing/2014/main" id="{479FDB02-7975-4795-B5B8-D18C52847C89}"/>
              </a:ext>
            </a:extLst>
          </p:cNvPr>
          <p:cNvSpPr>
            <a:spLocks xmlns:a="http://schemas.openxmlformats.org/drawingml/2006/main" noGrp="1"/>
          </p:cNvSpPr>
          <p:nvPr/>
        </p:nvSpPr>
        <p:spPr>
          <a:xfrm xmlns:a="http://schemas.openxmlformats.org/drawingml/2006/main">
            <a:off x="4965700" y="5918200"/>
            <a:ext cx="1473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Integrazione</a:t>
            </a:r>
          </a:p>
        </p:txBody>
      </p:sp>
      <p:sp>
        <p:nvSpPr>
          <p:cNvPr id="20" name="">
            <a:extLst xmlns:a="http://schemas.openxmlformats.org/drawingml/2006/main">
              <a:ext uri="{FF2B5EF4-FFF2-40B4-BE49-F238E27FC236}">
                <a16:creationId xmlns:a16="http://schemas.microsoft.com/office/drawing/2014/main" id="{9E10E293-57B3-4F6B-AEC0-C47CC42188F2}"/>
              </a:ext>
            </a:extLst>
          </p:cNvPr>
          <p:cNvSpPr>
            <a:spLocks xmlns:a="http://schemas.openxmlformats.org/drawingml/2006/main" noGrp="1"/>
          </p:cNvSpPr>
          <p:nvPr/>
        </p:nvSpPr>
        <p:spPr>
          <a:xfrm xmlns:a="http://schemas.openxmlformats.org/drawingml/2006/main">
            <a:off x="7137400" y="5003800"/>
            <a:ext cx="3708400" cy="1701800"/>
          </a:xfrm>
          <a:prstGeom xmlns:a="http://schemas.openxmlformats.org/drawingml/2006/main" prst="roundRect">
            <a:avLst>
              <a:gd name="adj" fmla="val 7463"/>
            </a:avLst>
          </a:prstGeom>
          <a:solidFill xmlns:a="http://schemas.openxmlformats.org/drawingml/2006/main">
            <a:srgbClr val="183F37"/>
          </a:solidFill>
          <a:ln xmlns:a="http://schemas.openxmlformats.org/drawingml/2006/main" w="12700">
            <a:solidFill>
              <a:srgbClr val="396A59"/>
            </a:solidFill>
            <a:prstDash val="solid"/>
          </a:ln>
        </p:spPr>
      </p:sp>
      <p:sp>
        <p:nvSpPr>
          <p:cNvPr id="21" name="Blockchain privata">
            <a:extLst xmlns:a="http://schemas.openxmlformats.org/drawingml/2006/main">
              <a:ext uri="{FF2B5EF4-FFF2-40B4-BE49-F238E27FC236}">
                <a16:creationId xmlns:a16="http://schemas.microsoft.com/office/drawing/2014/main" id="{1A5DDD09-3A7B-4EA9-9ED5-EF9D9A782AC1}"/>
              </a:ext>
            </a:extLst>
          </p:cNvPr>
          <p:cNvSpPr>
            <a:spLocks xmlns:a="http://schemas.openxmlformats.org/drawingml/2006/main" noGrp="1"/>
          </p:cNvSpPr>
          <p:nvPr/>
        </p:nvSpPr>
        <p:spPr>
          <a:xfrm xmlns:a="http://schemas.openxmlformats.org/drawingml/2006/main">
            <a:off x="7391400" y="5156200"/>
            <a:ext cx="332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F4F4E9"/>
                </a:solidFill>
                <a:latin typeface="Liberation Sans"/>
                <a:ea typeface="Liberation Sans"/>
                <a:cs typeface="Liberation Sans"/>
              </a:defRPr>
            </a:defPPr>
          </a:lstStyle>
          <a:p xmlns:a="http://schemas.openxmlformats.org/drawingml/2006/main">
            <a:pPr>
              <a:lnSpc>
                <a:spcPct val="108000"/>
              </a:lnSpc>
              <a:buNone/>
              <a:defRPr sz="2600" b="1">
                <a:solidFill>
                  <a:srgbClr val="F4F4E9"/>
                </a:solidFill>
                <a:latin typeface="Liberation Sans"/>
                <a:ea typeface="Liberation Sans"/>
                <a:cs typeface="Liberation Sans"/>
              </a:defRPr>
            </a:pPr>
            <a:r>
              <a:rPr sz="2600" b="1">
                <a:solidFill>
                  <a:srgbClr val="F4F4E9"/>
                </a:solidFill>
                <a:latin typeface="Liberation Sans"/>
                <a:ea typeface="Liberation Sans"/>
                <a:cs typeface="Liberation Sans"/>
              </a:rPr>
              <a:t>Blockchain privata</a:t>
            </a:r>
          </a:p>
        </p:txBody>
      </p:sp>
      <p:sp>
        <p:nvSpPr>
          <p:cNvPr id="22" name="Registrazione dei dati&#10;Staging e scalabilità">
            <a:extLst xmlns:a="http://schemas.openxmlformats.org/drawingml/2006/main">
              <a:ext uri="{FF2B5EF4-FFF2-40B4-BE49-F238E27FC236}">
                <a16:creationId xmlns:a16="http://schemas.microsoft.com/office/drawing/2014/main" id="{A3DE8E86-5853-4379-92F6-0ABAB5A9DDEE}"/>
              </a:ext>
            </a:extLst>
          </p:cNvPr>
          <p:cNvSpPr>
            <a:spLocks xmlns:a="http://schemas.openxmlformats.org/drawingml/2006/main" noGrp="1"/>
          </p:cNvSpPr>
          <p:nvPr/>
        </p:nvSpPr>
        <p:spPr>
          <a:xfrm xmlns:a="http://schemas.openxmlformats.org/drawingml/2006/main">
            <a:off x="7391400" y="5727700"/>
            <a:ext cx="3175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0C4BC"/>
                </a:solidFill>
                <a:latin typeface="Liberation Sans"/>
                <a:ea typeface="Liberation Sans"/>
                <a:cs typeface="Liberation Sans"/>
              </a:defRPr>
            </a:defPPr>
          </a:lstStyle>
          <a:p xmlns:a="http://schemas.openxmlformats.org/drawingml/2006/main">
            <a:pPr>
              <a:lnSpc>
                <a:spcPct val="108000"/>
              </a:lnSpc>
              <a:buNone/>
              <a:defRPr sz="2100" b="0">
                <a:solidFill>
                  <a:srgbClr val="B0C4BC"/>
                </a:solidFill>
                <a:latin typeface="Liberation Sans"/>
                <a:ea typeface="Liberation Sans"/>
                <a:cs typeface="Liberation Sans"/>
              </a:defRPr>
            </a:pPr>
            <a:r>
              <a:rPr sz="2100" b="0">
                <a:solidFill>
                  <a:srgbClr val="B0C4BC"/>
                </a:solidFill>
                <a:latin typeface="Liberation Sans"/>
                <a:ea typeface="Liberation Sans"/>
                <a:cs typeface="Liberation Sans"/>
              </a:rPr>
              <a:t>Registrazione dei dati</a:t>
            </a:r>
          </a:p>
          <a:p xmlns:a="http://schemas.openxmlformats.org/drawingml/2006/main">
            <a:pPr>
              <a:lnSpc>
                <a:spcPct val="108000"/>
              </a:lnSpc>
              <a:buNone/>
              <a:defRPr sz="2100" b="0">
                <a:solidFill>
                  <a:srgbClr val="B0C4BC"/>
                </a:solidFill>
                <a:latin typeface="Liberation Sans"/>
                <a:ea typeface="Liberation Sans"/>
                <a:cs typeface="Liberation Sans"/>
              </a:defRPr>
            </a:pPr>
            <a:r>
              <a:rPr sz="2100" b="0">
                <a:solidFill>
                  <a:srgbClr val="B0C4BC"/>
                </a:solidFill>
                <a:latin typeface="Liberation Sans"/>
                <a:ea typeface="Liberation Sans"/>
                <a:cs typeface="Liberation Sans"/>
              </a:rPr>
              <a:t>Staging e scalabilità</a:t>
            </a:r>
          </a:p>
        </p:txBody>
      </p:sp>
      <p:sp>
        <p:nvSpPr>
          <p:cNvPr id="23" name="">
            <a:extLst xmlns:a="http://schemas.openxmlformats.org/drawingml/2006/main">
              <a:ext uri="{FF2B5EF4-FFF2-40B4-BE49-F238E27FC236}">
                <a16:creationId xmlns:a16="http://schemas.microsoft.com/office/drawing/2014/main" id="{56D6657B-79FE-4292-9871-6F6A1A1DF763}"/>
              </a:ext>
            </a:extLst>
          </p:cNvPr>
          <p:cNvSpPr>
            <a:spLocks xmlns:a="http://schemas.openxmlformats.org/drawingml/2006/main" noGrp="1"/>
          </p:cNvSpPr>
          <p:nvPr/>
        </p:nvSpPr>
        <p:spPr>
          <a:xfrm xmlns:a="http://schemas.openxmlformats.org/drawingml/2006/main">
            <a:off x="11760200" y="5003800"/>
            <a:ext cx="3581400" cy="1701800"/>
          </a:xfrm>
          <a:prstGeom xmlns:a="http://schemas.openxmlformats.org/drawingml/2006/main" prst="roundRect">
            <a:avLst>
              <a:gd name="adj" fmla="val 7463"/>
            </a:avLst>
          </a:prstGeom>
          <a:solidFill xmlns:a="http://schemas.openxmlformats.org/drawingml/2006/main">
            <a:srgbClr val="102B28"/>
          </a:solidFill>
          <a:ln xmlns:a="http://schemas.openxmlformats.org/drawingml/2006/main" w="12700">
            <a:solidFill>
              <a:srgbClr val="396A59"/>
            </a:solidFill>
            <a:prstDash val="solid"/>
          </a:ln>
        </p:spPr>
      </p:sp>
      <p:sp>
        <p:nvSpPr>
          <p:cNvPr id="24" name="Blockchain pubblica">
            <a:extLst xmlns:a="http://schemas.openxmlformats.org/drawingml/2006/main">
              <a:ext uri="{FF2B5EF4-FFF2-40B4-BE49-F238E27FC236}">
                <a16:creationId xmlns:a16="http://schemas.microsoft.com/office/drawing/2014/main" id="{636102AA-5D0B-4ABB-993A-B83D21A03E56}"/>
              </a:ext>
            </a:extLst>
          </p:cNvPr>
          <p:cNvSpPr>
            <a:spLocks xmlns:a="http://schemas.openxmlformats.org/drawingml/2006/main" noGrp="1"/>
          </p:cNvSpPr>
          <p:nvPr/>
        </p:nvSpPr>
        <p:spPr>
          <a:xfrm xmlns:a="http://schemas.openxmlformats.org/drawingml/2006/main">
            <a:off x="12014200" y="5156200"/>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F4F4E9"/>
                </a:solidFill>
                <a:latin typeface="Liberation Sans"/>
                <a:ea typeface="Liberation Sans"/>
                <a:cs typeface="Liberation Sans"/>
              </a:defRPr>
            </a:defPPr>
          </a:lstStyle>
          <a:p xmlns:a="http://schemas.openxmlformats.org/drawingml/2006/main">
            <a:pPr>
              <a:lnSpc>
                <a:spcPct val="108000"/>
              </a:lnSpc>
              <a:buNone/>
              <a:defRPr sz="2500" b="1">
                <a:solidFill>
                  <a:srgbClr val="F4F4E9"/>
                </a:solidFill>
                <a:latin typeface="Liberation Sans"/>
                <a:ea typeface="Liberation Sans"/>
                <a:cs typeface="Liberation Sans"/>
              </a:defRPr>
            </a:pPr>
            <a:r>
              <a:rPr sz="2500" b="1">
                <a:solidFill>
                  <a:srgbClr val="F4F4E9"/>
                </a:solidFill>
                <a:latin typeface="Liberation Sans"/>
                <a:ea typeface="Liberation Sans"/>
                <a:cs typeface="Liberation Sans"/>
              </a:rPr>
              <a:t>Blockchain pubblica</a:t>
            </a:r>
          </a:p>
        </p:txBody>
      </p:sp>
      <p:sp>
        <p:nvSpPr>
          <p:cNvPr id="25" name="Ancoraggio delle impronte&#10;Verifica dell’integrità">
            <a:extLst xmlns:a="http://schemas.openxmlformats.org/drawingml/2006/main">
              <a:ext uri="{FF2B5EF4-FFF2-40B4-BE49-F238E27FC236}">
                <a16:creationId xmlns:a16="http://schemas.microsoft.com/office/drawing/2014/main" id="{A26C4100-2979-4C83-A3E5-237EC693762A}"/>
              </a:ext>
            </a:extLst>
          </p:cNvPr>
          <p:cNvSpPr>
            <a:spLocks xmlns:a="http://schemas.openxmlformats.org/drawingml/2006/main" noGrp="1"/>
          </p:cNvSpPr>
          <p:nvPr/>
        </p:nvSpPr>
        <p:spPr>
          <a:xfrm xmlns:a="http://schemas.openxmlformats.org/drawingml/2006/main">
            <a:off x="12014200" y="5727700"/>
            <a:ext cx="30988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B0C4BC"/>
                </a:solidFill>
                <a:latin typeface="Liberation Sans"/>
                <a:ea typeface="Liberation Sans"/>
                <a:cs typeface="Liberation Sans"/>
              </a:defRPr>
            </a:defPPr>
          </a:lstStyle>
          <a:p xmlns:a="http://schemas.openxmlformats.org/drawingml/2006/main">
            <a:pPr>
              <a:lnSpc>
                <a:spcPct val="108000"/>
              </a:lnSpc>
              <a:buNone/>
              <a:defRPr sz="2000" b="0">
                <a:solidFill>
                  <a:srgbClr val="B0C4BC"/>
                </a:solidFill>
                <a:latin typeface="Liberation Sans"/>
                <a:ea typeface="Liberation Sans"/>
                <a:cs typeface="Liberation Sans"/>
              </a:defRPr>
            </a:pPr>
            <a:r>
              <a:rPr sz="2000" b="0">
                <a:solidFill>
                  <a:srgbClr val="B0C4BC"/>
                </a:solidFill>
                <a:latin typeface="Liberation Sans"/>
                <a:ea typeface="Liberation Sans"/>
                <a:cs typeface="Liberation Sans"/>
              </a:rPr>
              <a:t>Ancoraggio delle impronte</a:t>
            </a:r>
          </a:p>
          <a:p xmlns:a="http://schemas.openxmlformats.org/drawingml/2006/main">
            <a:pPr>
              <a:lnSpc>
                <a:spcPct val="108000"/>
              </a:lnSpc>
              <a:buNone/>
              <a:defRPr sz="2000" b="0">
                <a:solidFill>
                  <a:srgbClr val="B0C4BC"/>
                </a:solidFill>
                <a:latin typeface="Liberation Sans"/>
                <a:ea typeface="Liberation Sans"/>
                <a:cs typeface="Liberation Sans"/>
              </a:defRPr>
            </a:pPr>
            <a:r>
              <a:rPr sz="2000" b="0">
                <a:solidFill>
                  <a:srgbClr val="B0C4BC"/>
                </a:solidFill>
                <a:latin typeface="Liberation Sans"/>
                <a:ea typeface="Liberation Sans"/>
                <a:cs typeface="Liberation Sans"/>
              </a:rPr>
              <a:t>Verifica dell’integrità</a:t>
            </a:r>
          </a:p>
        </p:txBody>
      </p:sp>
      <p:sp>
        <p:nvSpPr>
          <p:cNvPr id="26" name="SEGMENTO">
            <a:extLst xmlns:a="http://schemas.openxmlformats.org/drawingml/2006/main">
              <a:ext uri="{FF2B5EF4-FFF2-40B4-BE49-F238E27FC236}">
                <a16:creationId xmlns:a16="http://schemas.microsoft.com/office/drawing/2014/main" id="{66838CAA-4EE7-4B6B-BD68-E8B4B379AE9B}"/>
              </a:ext>
            </a:extLst>
          </p:cNvPr>
          <p:cNvSpPr>
            <a:spLocks xmlns:a="http://schemas.openxmlformats.org/drawingml/2006/main" noGrp="1"/>
          </p:cNvSpPr>
          <p:nvPr/>
        </p:nvSpPr>
        <p:spPr>
          <a:xfrm xmlns:a="http://schemas.openxmlformats.org/drawingml/2006/main">
            <a:off x="7137400" y="4419600"/>
            <a:ext cx="254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SEGMENTO</a:t>
            </a:r>
          </a:p>
        </p:txBody>
      </p:sp>
      <p:sp>
        <p:nvSpPr>
          <p:cNvPr id="27" name="">
            <a:extLst xmlns:a="http://schemas.openxmlformats.org/drawingml/2006/main">
              <a:ext uri="{FF2B5EF4-FFF2-40B4-BE49-F238E27FC236}">
                <a16:creationId xmlns:a16="http://schemas.microsoft.com/office/drawing/2014/main" id="{76829B3D-8312-4FAF-9E65-B9C1F735A717}"/>
              </a:ext>
            </a:extLst>
          </p:cNvPr>
          <p:cNvSpPr>
            <a:spLocks xmlns:a="http://schemas.openxmlformats.org/drawingml/2006/main" noGrp="1"/>
          </p:cNvSpPr>
          <p:nvPr/>
        </p:nvSpPr>
        <p:spPr>
          <a:xfrm xmlns:a="http://schemas.openxmlformats.org/drawingml/2006/main">
            <a:off x="7137400" y="4724400"/>
            <a:ext cx="8204200" cy="0"/>
          </a:xfrm>
          <a:prstGeom xmlns:a="http://schemas.openxmlformats.org/drawingml/2006/main" prst="line">
            <a:avLst/>
          </a:prstGeom>
          <a:noFill xmlns:a="http://schemas.openxmlformats.org/drawingml/2006/main"/>
          <a:ln xmlns:a="http://schemas.openxmlformats.org/drawingml/2006/main" w="12700">
            <a:solidFill>
              <a:srgbClr val="396A59"/>
            </a:solidFill>
            <a:prstDash val="solid"/>
          </a:ln>
        </p:spPr>
      </p:sp>
      <p:sp>
        <p:nvSpPr>
          <p:cNvPr id="32" name="Impronte">
            <a:extLst xmlns:a="http://schemas.openxmlformats.org/drawingml/2006/main">
              <a:ext uri="{FF2B5EF4-FFF2-40B4-BE49-F238E27FC236}">
                <a16:creationId xmlns:a16="http://schemas.microsoft.com/office/drawing/2014/main" id="{744A4197-888D-4864-8E15-9228F643204B}"/>
              </a:ext>
            </a:extLst>
          </p:cNvPr>
          <p:cNvSpPr>
            <a:spLocks xmlns:a="http://schemas.openxmlformats.org/drawingml/2006/main" noGrp="1"/>
          </p:cNvSpPr>
          <p:nvPr/>
        </p:nvSpPr>
        <p:spPr>
          <a:xfrm xmlns:a="http://schemas.openxmlformats.org/drawingml/2006/main">
            <a:off x="10922000" y="5499100"/>
            <a:ext cx="838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C8F67C"/>
                </a:solidFill>
                <a:latin typeface="Liberation Sans"/>
                <a:ea typeface="Liberation Sans"/>
                <a:cs typeface="Liberation Sans"/>
              </a:defRPr>
            </a:defPPr>
          </a:lstStyle>
          <a:p xmlns:a="http://schemas.openxmlformats.org/drawingml/2006/main">
            <a:pPr>
              <a:lnSpc>
                <a:spcPct val="108000"/>
              </a:lnSpc>
              <a:buNone/>
              <a:defRPr sz="1400" b="0">
                <a:solidFill>
                  <a:srgbClr val="C8F67C"/>
                </a:solidFill>
                <a:latin typeface="Liberation Sans"/>
                <a:ea typeface="Liberation Sans"/>
                <a:cs typeface="Liberation Sans"/>
              </a:defRPr>
            </a:pPr>
            <a:r>
              <a:rPr sz="1400" b="0">
                <a:solidFill>
                  <a:srgbClr val="C8F67C"/>
                </a:solidFill>
                <a:latin typeface="Liberation Sans"/>
                <a:ea typeface="Liberation Sans"/>
                <a:cs typeface="Liberation Sans"/>
              </a:rPr>
              <a:t>Impronte</a:t>
            </a:r>
          </a:p>
        </p:txBody>
      </p:sp>
      <p:sp>
        <p:nvSpPr>
          <p:cNvPr id="33" name="">
            <a:extLst xmlns:a="http://schemas.openxmlformats.org/drawingml/2006/main">
              <a:ext uri="{FF2B5EF4-FFF2-40B4-BE49-F238E27FC236}">
                <a16:creationId xmlns:a16="http://schemas.microsoft.com/office/drawing/2014/main" id="{AA2B9F8D-4850-4A20-A1FA-6BDF86DE9C89}"/>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34" name="La notarizzazione verifica l’integrità; accuratezza ">
            <a:extLst xmlns:a="http://schemas.openxmlformats.org/drawingml/2006/main">
              <a:ext uri="{FF2B5EF4-FFF2-40B4-BE49-F238E27FC236}">
                <a16:creationId xmlns:a16="http://schemas.microsoft.com/office/drawing/2014/main" id="{B72AF106-0F5A-4AF9-BF28-2C483B742F7F}"/>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La notarizzazione verifica l’integrità; accuratezza e completezza richiedono controlli alla fonte.</a:t>
            </a:r>
          </a:p>
        </p:txBody>
      </p:sp>
    </p:spTree>
    <p:extLst>
      <p:ext uri="{BB962C8B-B14F-4D97-AF65-F5344CB8AC3E}">
        <p14:creationId xmlns:p14="http://schemas.microsoft.com/office/powerpoint/2010/main" val="306843105"/>
      </p:ext>
    </p:extLst>
  </p:cSld>
</p:sld>
</file>

<file path=ppt/slides/slide9.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7CB5287-111D-4129-BF99-CB04168C612B}"/>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5E4B6A48-6A21-40D6-9811-6DFF586C906F}"/>
              </a:ext>
            </a:extLst>
          </p:cNvPr>
          <p:cNvPicPr>
            <a:picLocks xmlns:a="http://schemas.openxmlformats.org/drawingml/2006/main" noChangeAspect="1"/>
          </p:cNvPicPr>
          <p:nvPr/>
        </p:nvPicPr>
        <p:blipFill>
          <a:blip xmlns:r="http://schemas.openxmlformats.org/officeDocument/2006/relationships" xmlns:a="http://schemas.openxmlformats.org/drawingml/2006/main" r:embed="Rdcf6f819b2a148be"/>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26D71C-D4E7-4FEF-BF03-EE729BC181C0}"/>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16BB2974-8721-482D-AF5F-D9CB220BF576}"/>
              </a:ext>
            </a:extLst>
          </p:cNvPr>
          <p:cNvPicPr>
            <a:picLocks xmlns:a="http://schemas.openxmlformats.org/drawingml/2006/main" noChangeAspect="1"/>
          </p:cNvPicPr>
          <p:nvPr/>
        </p:nvPicPr>
        <p:blipFill>
          <a:blip xmlns:r="http://schemas.openxmlformats.org/officeDocument/2006/relationships" xmlns:a="http://schemas.openxmlformats.org/drawingml/2006/main" r:embed="R283f95ec834d45ce"/>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 INTEGRAZIONE">
            <a:extLst xmlns:a="http://schemas.openxmlformats.org/drawingml/2006/main">
              <a:ext uri="{FF2B5EF4-FFF2-40B4-BE49-F238E27FC236}">
                <a16:creationId xmlns:a16="http://schemas.microsoft.com/office/drawing/2014/main" id="{B319EA00-01A2-4C24-B25E-648132EA0D93}"/>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 INTEGRAZIONE</a:t>
            </a:r>
          </a:p>
        </p:txBody>
      </p:sp>
      <p:sp>
        <p:nvSpPr>
          <p:cNvPr id="6" name="Collegare i sistemi Alps&#10;al passaporto digitale">
            <a:extLst xmlns:a="http://schemas.openxmlformats.org/drawingml/2006/main">
              <a:ext uri="{FF2B5EF4-FFF2-40B4-BE49-F238E27FC236}">
                <a16:creationId xmlns:a16="http://schemas.microsoft.com/office/drawing/2014/main" id="{65689F58-B1EF-450C-B4E4-FC92D487BEB7}"/>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Collegare i sistemi Alps</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al passaporto digitale</a:t>
            </a:r>
          </a:p>
        </p:txBody>
      </p:sp>
      <p:sp>
        <p:nvSpPr>
          <p:cNvPr id="7" name="L’identificativo della batteria associa dati, docume">
            <a:extLst xmlns:a="http://schemas.openxmlformats.org/drawingml/2006/main">
              <a:ext uri="{FF2B5EF4-FFF2-40B4-BE49-F238E27FC236}">
                <a16:creationId xmlns:a16="http://schemas.microsoft.com/office/drawing/2014/main" id="{EC92757A-F568-4779-B7D7-E6BCF448A4CE}"/>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L’identificativo della batteria associa dati, documenti ed eventi alla stessa storia di prodotto.</a:t>
            </a:r>
          </a:p>
        </p:txBody>
      </p:sp>
      <p:sp>
        <p:nvSpPr>
          <p:cNvPr id="8" name="">
            <a:extLst xmlns:a="http://schemas.openxmlformats.org/drawingml/2006/main">
              <a:ext uri="{FF2B5EF4-FFF2-40B4-BE49-F238E27FC236}">
                <a16:creationId xmlns:a16="http://schemas.microsoft.com/office/drawing/2014/main" id="{2C0434E7-13F3-4B93-BEF6-4839C5AF0EED}"/>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Schema proposto · Interfacce, dati disponibili e fre">
            <a:extLst xmlns:a="http://schemas.openxmlformats.org/drawingml/2006/main">
              <a:ext uri="{FF2B5EF4-FFF2-40B4-BE49-F238E27FC236}">
                <a16:creationId xmlns:a16="http://schemas.microsoft.com/office/drawing/2014/main" id="{2F8D475B-3183-4386-9530-54CD215BB95E}"/>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Schema proposto · Interfacce, dati disponibili e frequenze di aggiornamento da concordare.</a:t>
            </a:r>
          </a:p>
        </p:txBody>
      </p:sp>
      <p:sp>
        <p:nvSpPr>
          <p:cNvPr id="10" name="09 / 11">
            <a:extLst xmlns:a="http://schemas.openxmlformats.org/drawingml/2006/main">
              <a:ext uri="{FF2B5EF4-FFF2-40B4-BE49-F238E27FC236}">
                <a16:creationId xmlns:a16="http://schemas.microsoft.com/office/drawing/2014/main" id="{0631D070-358C-4D4A-9685-ED54AA86F57F}"/>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09 / 11</a:t>
            </a:r>
          </a:p>
        </p:txBody>
      </p:sp>
      <p:sp>
        <p:nvSpPr>
          <p:cNvPr id="11" name="01">
            <a:extLst xmlns:a="http://schemas.openxmlformats.org/drawingml/2006/main">
              <a:ext uri="{FF2B5EF4-FFF2-40B4-BE49-F238E27FC236}">
                <a16:creationId xmlns:a16="http://schemas.microsoft.com/office/drawing/2014/main" id="{DAED64C0-1E51-4085-900E-AF5D3E439BD4}"/>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Fonti aziendali">
            <a:extLst xmlns:a="http://schemas.openxmlformats.org/drawingml/2006/main">
              <a:ext uri="{FF2B5EF4-FFF2-40B4-BE49-F238E27FC236}">
                <a16:creationId xmlns:a16="http://schemas.microsoft.com/office/drawing/2014/main" id="{28D343F0-32B3-4502-B4E5-E145859BD99A}"/>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Fonti aziendali</a:t>
            </a:r>
          </a:p>
        </p:txBody>
      </p:sp>
      <p:sp>
        <p:nvSpPr>
          <p:cNvPr id="13" name="Anagrafiche, configurazioni,&#10;collaudi e documenti; d">
            <a:extLst xmlns:a="http://schemas.openxmlformats.org/drawingml/2006/main">
              <a:ext uri="{FF2B5EF4-FFF2-40B4-BE49-F238E27FC236}">
                <a16:creationId xmlns:a16="http://schemas.microsoft.com/office/drawing/2014/main" id="{4EBFC89A-7295-493F-90B8-0A7223EA0931}"/>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Anagrafiche, configurazioni,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collaudi e documenti; dati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del BMS dove disponibili.</a:t>
            </a:r>
          </a:p>
        </p:txBody>
      </p:sp>
      <p:sp>
        <p:nvSpPr>
          <p:cNvPr id="14" name="02">
            <a:extLst xmlns:a="http://schemas.openxmlformats.org/drawingml/2006/main">
              <a:ext uri="{FF2B5EF4-FFF2-40B4-BE49-F238E27FC236}">
                <a16:creationId xmlns:a16="http://schemas.microsoft.com/office/drawing/2014/main" id="{A62BA7B5-57FF-468B-9F6E-7D23F77156B0}"/>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Servizio Segmento">
            <a:extLst xmlns:a="http://schemas.openxmlformats.org/drawingml/2006/main">
              <a:ext uri="{FF2B5EF4-FFF2-40B4-BE49-F238E27FC236}">
                <a16:creationId xmlns:a16="http://schemas.microsoft.com/office/drawing/2014/main" id="{373A0051-C8C7-463B-9201-E63A5F98B237}"/>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Servizio Segmento</a:t>
            </a:r>
          </a:p>
        </p:txBody>
      </p:sp>
      <p:sp>
        <p:nvSpPr>
          <p:cNvPr id="16" name="Associazione alla matricola,&#10;versioni dei dati, perm">
            <a:extLst xmlns:a="http://schemas.openxmlformats.org/drawingml/2006/main">
              <a:ext uri="{FF2B5EF4-FFF2-40B4-BE49-F238E27FC236}">
                <a16:creationId xmlns:a16="http://schemas.microsoft.com/office/drawing/2014/main" id="{74894F0F-DC09-468F-9522-E9F547401ACB}"/>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Associazione alla matricola,</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versioni dei dati, permessi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 prove di integrità.</a:t>
            </a:r>
          </a:p>
        </p:txBody>
      </p:sp>
      <p:sp>
        <p:nvSpPr>
          <p:cNvPr id="17" name="03">
            <a:extLst xmlns:a="http://schemas.openxmlformats.org/drawingml/2006/main">
              <a:ext uri="{FF2B5EF4-FFF2-40B4-BE49-F238E27FC236}">
                <a16:creationId xmlns:a16="http://schemas.microsoft.com/office/drawing/2014/main" id="{60D9C0E3-A6D2-4767-8EAE-0B21CA67AA76}"/>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Consultazione">
            <a:extLst xmlns:a="http://schemas.openxmlformats.org/drawingml/2006/main">
              <a:ext uri="{FF2B5EF4-FFF2-40B4-BE49-F238E27FC236}">
                <a16:creationId xmlns:a16="http://schemas.microsoft.com/office/drawing/2014/main" id="{51561BA1-8300-436C-9910-FB7B62A7219D}"/>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Consultazione</a:t>
            </a:r>
          </a:p>
        </p:txBody>
      </p:sp>
      <p:sp>
        <p:nvSpPr>
          <p:cNvPr id="19" name="QR del prodotto, accessi&#10;autorizzati e condivisione&#10;">
            <a:extLst xmlns:a="http://schemas.openxmlformats.org/drawingml/2006/main">
              <a:ext uri="{FF2B5EF4-FFF2-40B4-BE49-F238E27FC236}">
                <a16:creationId xmlns:a16="http://schemas.microsoft.com/office/drawing/2014/main" id="{15DB366F-E388-444F-BFFB-35F87D3871AD}"/>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QR del prodotto, accessi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autorizzati e condivisione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delle informazioni pertinenti.</a:t>
            </a:r>
          </a:p>
        </p:txBody>
      </p:sp>
      <p:sp>
        <p:nvSpPr>
          <p:cNvPr id="20" name="">
            <a:extLst xmlns:a="http://schemas.openxmlformats.org/drawingml/2006/main">
              <a:ext uri="{FF2B5EF4-FFF2-40B4-BE49-F238E27FC236}">
                <a16:creationId xmlns:a16="http://schemas.microsoft.com/office/drawing/2014/main" id="{B6CC04D8-65A2-4347-A4AC-2C7CEEA2DC89}"/>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La registrazione nel Registro DPP è un processo dist">
            <a:extLst xmlns:a="http://schemas.openxmlformats.org/drawingml/2006/main">
              <a:ext uri="{FF2B5EF4-FFF2-40B4-BE49-F238E27FC236}">
                <a16:creationId xmlns:a16="http://schemas.microsoft.com/office/drawing/2014/main" id="{7D1B66C6-AFD9-4758-B30E-C30EB13A4864}"/>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La registrazione nel Registro DPP è un processo distinto dalla gestione dei contenuti del passaporto.</a:t>
            </a:r>
          </a:p>
        </p:txBody>
      </p:sp>
    </p:spTree>
    <p:extLst>
      <p:ext uri="{BB962C8B-B14F-4D97-AF65-F5344CB8AC3E}">
        <p14:creationId xmlns:p14="http://schemas.microsoft.com/office/powerpoint/2010/main" val="1434417134"/>
      </p:ext>
    </p:extLst>
  </p:cSld>
</p:sld>
</file>

<file path=ppt/slides/slide10.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56D4FDE-1409-4F09-8B92-2CAFE51CCCFE}"/>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BBBBC68C-9C81-4504-B54F-78C9C57376D2}"/>
              </a:ext>
            </a:extLst>
          </p:cNvPr>
          <p:cNvPicPr>
            <a:picLocks xmlns:a="http://schemas.openxmlformats.org/drawingml/2006/main" noChangeAspect="1"/>
          </p:cNvPicPr>
          <p:nvPr/>
        </p:nvPicPr>
        <p:blipFill>
          <a:blip xmlns:r="http://schemas.openxmlformats.org/officeDocument/2006/relationships" xmlns:a="http://schemas.openxmlformats.org/drawingml/2006/main" r:embed="Rf404017523c14a19"/>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B047438-DEC9-4D27-BEAA-9C17498BAF04}"/>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2B8DC3D4-2565-4690-A619-5157C4ACC311}"/>
              </a:ext>
            </a:extLst>
          </p:cNvPr>
          <p:cNvPicPr>
            <a:picLocks xmlns:a="http://schemas.openxmlformats.org/drawingml/2006/main" noChangeAspect="1"/>
          </p:cNvPicPr>
          <p:nvPr/>
        </p:nvPicPr>
        <p:blipFill>
          <a:blip xmlns:r="http://schemas.openxmlformats.org/officeDocument/2006/relationships" xmlns:a="http://schemas.openxmlformats.org/drawingml/2006/main" r:embed="R5c84487eec2542a8"/>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 RUOLI E VALORE">
            <a:extLst xmlns:a="http://schemas.openxmlformats.org/drawingml/2006/main">
              <a:ext uri="{FF2B5EF4-FFF2-40B4-BE49-F238E27FC236}">
                <a16:creationId xmlns:a16="http://schemas.microsoft.com/office/drawing/2014/main" id="{4532E428-679C-4FAB-AB71-97C304F39325}"/>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 RUOLI E VALORE</a:t>
            </a:r>
          </a:p>
        </p:txBody>
      </p:sp>
      <p:sp>
        <p:nvSpPr>
          <p:cNvPr id="6" name="Un servizio condiviso,&#10;con responsabilità definite">
            <a:extLst xmlns:a="http://schemas.openxmlformats.org/drawingml/2006/main">
              <a:ext uri="{FF2B5EF4-FFF2-40B4-BE49-F238E27FC236}">
                <a16:creationId xmlns:a16="http://schemas.microsoft.com/office/drawing/2014/main" id="{83C14AD2-2537-492A-BD79-FDCE644A96ED}"/>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Un servizio condiviso,</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con responsabilità definite</a:t>
            </a:r>
          </a:p>
        </p:txBody>
      </p:sp>
      <p:sp>
        <p:nvSpPr>
          <p:cNvPr id="7" name="La proposta collega Alps Battery, costruttori di mac">
            <a:extLst xmlns:a="http://schemas.openxmlformats.org/drawingml/2006/main">
              <a:ext uri="{FF2B5EF4-FFF2-40B4-BE49-F238E27FC236}">
                <a16:creationId xmlns:a16="http://schemas.microsoft.com/office/drawing/2014/main" id="{947A9E15-EA1E-452E-8427-D97A32726BA8}"/>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La proposta collega Alps Battery, costruttori di macchine e partner intorno alla storia del prodotto.</a:t>
            </a:r>
          </a:p>
        </p:txBody>
      </p:sp>
      <p:sp>
        <p:nvSpPr>
          <p:cNvPr id="8" name="">
            <a:extLst xmlns:a="http://schemas.openxmlformats.org/drawingml/2006/main">
              <a:ext uri="{FF2B5EF4-FFF2-40B4-BE49-F238E27FC236}">
                <a16:creationId xmlns:a16="http://schemas.microsoft.com/office/drawing/2014/main" id="{27F3E393-335C-419A-A098-124768B6CEDD}"/>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L’operatore economico competente mantiene la respons">
            <a:extLst xmlns:a="http://schemas.openxmlformats.org/drawingml/2006/main">
              <a:ext uri="{FF2B5EF4-FFF2-40B4-BE49-F238E27FC236}">
                <a16:creationId xmlns:a16="http://schemas.microsoft.com/office/drawing/2014/main" id="{879DA315-464C-4F79-91FA-94D1E1F50089}"/>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L’operatore economico competente mantiene la responsabilità normativa, anche in presenza di una delega.</a:t>
            </a:r>
          </a:p>
        </p:txBody>
      </p:sp>
      <p:sp>
        <p:nvSpPr>
          <p:cNvPr id="10" name="10 / 11">
            <a:extLst xmlns:a="http://schemas.openxmlformats.org/drawingml/2006/main">
              <a:ext uri="{FF2B5EF4-FFF2-40B4-BE49-F238E27FC236}">
                <a16:creationId xmlns:a16="http://schemas.microsoft.com/office/drawing/2014/main" id="{F7465110-5954-49E8-82A3-E945C6EC2FC2}"/>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10 / 11</a:t>
            </a:r>
          </a:p>
        </p:txBody>
      </p:sp>
      <p:sp>
        <p:nvSpPr>
          <p:cNvPr id="11" name="Alps Battery">
            <a:extLst xmlns:a="http://schemas.openxmlformats.org/drawingml/2006/main">
              <a:ext uri="{FF2B5EF4-FFF2-40B4-BE49-F238E27FC236}">
                <a16:creationId xmlns:a16="http://schemas.microsoft.com/office/drawing/2014/main" id="{D9BD020F-FA11-4195-8BFE-857041A8898D}"/>
              </a:ext>
            </a:extLst>
          </p:cNvPr>
          <p:cNvSpPr>
            <a:spLocks xmlns:a="http://schemas.openxmlformats.org/drawingml/2006/main" noGrp="1"/>
          </p:cNvSpPr>
          <p:nvPr/>
        </p:nvSpPr>
        <p:spPr>
          <a:xfrm xmlns:a="http://schemas.openxmlformats.org/drawingml/2006/main">
            <a:off x="914400" y="43434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Alps Battery</a:t>
            </a:r>
          </a:p>
        </p:txBody>
      </p:sp>
      <p:sp>
        <p:nvSpPr>
          <p:cNvPr id="12" name="Dati di prodotto, collaudi e documenti; validazione ">
            <a:extLst xmlns:a="http://schemas.openxmlformats.org/drawingml/2006/main">
              <a:ext uri="{FF2B5EF4-FFF2-40B4-BE49-F238E27FC236}">
                <a16:creationId xmlns:a16="http://schemas.microsoft.com/office/drawing/2014/main" id="{8042CB1B-AA5C-4799-A247-E97371994B71}"/>
              </a:ext>
            </a:extLst>
          </p:cNvPr>
          <p:cNvSpPr>
            <a:spLocks xmlns:a="http://schemas.openxmlformats.org/drawingml/2006/main" noGrp="1"/>
          </p:cNvSpPr>
          <p:nvPr/>
        </p:nvSpPr>
        <p:spPr>
          <a:xfrm xmlns:a="http://schemas.openxmlformats.org/drawingml/2006/main">
            <a:off x="5232400" y="43688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Dati di prodotto, collaudi e documenti; validazione delle informazioni fornite.</a:t>
            </a:r>
          </a:p>
        </p:txBody>
      </p:sp>
      <p:sp>
        <p:nvSpPr>
          <p:cNvPr id="13" name="">
            <a:extLst xmlns:a="http://schemas.openxmlformats.org/drawingml/2006/main">
              <a:ext uri="{FF2B5EF4-FFF2-40B4-BE49-F238E27FC236}">
                <a16:creationId xmlns:a16="http://schemas.microsoft.com/office/drawing/2014/main" id="{C2B52E8C-67BB-419A-BE26-38A524D518BA}"/>
              </a:ext>
            </a:extLst>
          </p:cNvPr>
          <p:cNvSpPr>
            <a:spLocks xmlns:a="http://schemas.openxmlformats.org/drawingml/2006/main" noGrp="1"/>
          </p:cNvSpPr>
          <p:nvPr/>
        </p:nvSpPr>
        <p:spPr>
          <a:xfrm xmlns:a="http://schemas.openxmlformats.org/drawingml/2006/main">
            <a:off x="914400" y="49276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14" name="Costruttori e utilizzatori">
            <a:extLst xmlns:a="http://schemas.openxmlformats.org/drawingml/2006/main">
              <a:ext uri="{FF2B5EF4-FFF2-40B4-BE49-F238E27FC236}">
                <a16:creationId xmlns:a16="http://schemas.microsoft.com/office/drawing/2014/main" id="{854E0348-F6B1-48A8-90A2-270E7159637C}"/>
              </a:ext>
            </a:extLst>
          </p:cNvPr>
          <p:cNvSpPr>
            <a:spLocks xmlns:a="http://schemas.openxmlformats.org/drawingml/2006/main" noGrp="1"/>
          </p:cNvSpPr>
          <p:nvPr/>
        </p:nvSpPr>
        <p:spPr>
          <a:xfrm xmlns:a="http://schemas.openxmlformats.org/drawingml/2006/main">
            <a:off x="914400" y="50800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Costruttori e utilizzatori</a:t>
            </a:r>
          </a:p>
        </p:txBody>
      </p:sp>
      <p:sp>
        <p:nvSpPr>
          <p:cNvPr id="15" name="Eventi d’impiego e aggiornamenti disponibili, second">
            <a:extLst xmlns:a="http://schemas.openxmlformats.org/drawingml/2006/main">
              <a:ext uri="{FF2B5EF4-FFF2-40B4-BE49-F238E27FC236}">
                <a16:creationId xmlns:a16="http://schemas.microsoft.com/office/drawing/2014/main" id="{6CB44639-2C63-41A4-88FD-F1AD17443EDE}"/>
              </a:ext>
            </a:extLst>
          </p:cNvPr>
          <p:cNvSpPr>
            <a:spLocks xmlns:a="http://schemas.openxmlformats.org/drawingml/2006/main" noGrp="1"/>
          </p:cNvSpPr>
          <p:nvPr/>
        </p:nvSpPr>
        <p:spPr>
          <a:xfrm xmlns:a="http://schemas.openxmlformats.org/drawingml/2006/main">
            <a:off x="5232400" y="51054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Eventi d’impiego e aggiornamenti disponibili, secondo gli accordi.</a:t>
            </a:r>
          </a:p>
        </p:txBody>
      </p:sp>
      <p:sp>
        <p:nvSpPr>
          <p:cNvPr id="16" name="">
            <a:extLst xmlns:a="http://schemas.openxmlformats.org/drawingml/2006/main">
              <a:ext uri="{FF2B5EF4-FFF2-40B4-BE49-F238E27FC236}">
                <a16:creationId xmlns:a16="http://schemas.microsoft.com/office/drawing/2014/main" id="{EB99D52A-849D-47DA-AEC0-C18D5A1BBF86}"/>
              </a:ext>
            </a:extLst>
          </p:cNvPr>
          <p:cNvSpPr>
            <a:spLocks xmlns:a="http://schemas.openxmlformats.org/drawingml/2006/main" noGrp="1"/>
          </p:cNvSpPr>
          <p:nvPr/>
        </p:nvSpPr>
        <p:spPr>
          <a:xfrm xmlns:a="http://schemas.openxmlformats.org/drawingml/2006/main">
            <a:off x="914400" y="56642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17" name="Assistenza e partner">
            <a:extLst xmlns:a="http://schemas.openxmlformats.org/drawingml/2006/main">
              <a:ext uri="{FF2B5EF4-FFF2-40B4-BE49-F238E27FC236}">
                <a16:creationId xmlns:a16="http://schemas.microsoft.com/office/drawing/2014/main" id="{29B8317A-1FCB-49BE-8895-C58CBFA5EB07}"/>
              </a:ext>
            </a:extLst>
          </p:cNvPr>
          <p:cNvSpPr>
            <a:spLocks xmlns:a="http://schemas.openxmlformats.org/drawingml/2006/main" noGrp="1"/>
          </p:cNvSpPr>
          <p:nvPr/>
        </p:nvSpPr>
        <p:spPr>
          <a:xfrm xmlns:a="http://schemas.openxmlformats.org/drawingml/2006/main">
            <a:off x="914400" y="58166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Assistenza e partner</a:t>
            </a:r>
          </a:p>
        </p:txBody>
      </p:sp>
      <p:sp>
        <p:nvSpPr>
          <p:cNvPr id="18" name="Interventi, sostituzioni e valutazioni tecniche nei ">
            <a:extLst xmlns:a="http://schemas.openxmlformats.org/drawingml/2006/main">
              <a:ext uri="{FF2B5EF4-FFF2-40B4-BE49-F238E27FC236}">
                <a16:creationId xmlns:a16="http://schemas.microsoft.com/office/drawing/2014/main" id="{321B413B-5F5F-48DB-84D4-6C2322B6EA25}"/>
              </a:ext>
            </a:extLst>
          </p:cNvPr>
          <p:cNvSpPr>
            <a:spLocks xmlns:a="http://schemas.openxmlformats.org/drawingml/2006/main" noGrp="1"/>
          </p:cNvSpPr>
          <p:nvPr/>
        </p:nvSpPr>
        <p:spPr>
          <a:xfrm xmlns:a="http://schemas.openxmlformats.org/drawingml/2006/main">
            <a:off x="5232400" y="58420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Interventi, sostituzioni e valutazioni tecniche nei limiti dei diritti di accesso.</a:t>
            </a:r>
          </a:p>
        </p:txBody>
      </p:sp>
      <p:sp>
        <p:nvSpPr>
          <p:cNvPr id="19" name="">
            <a:extLst xmlns:a="http://schemas.openxmlformats.org/drawingml/2006/main">
              <a:ext uri="{FF2B5EF4-FFF2-40B4-BE49-F238E27FC236}">
                <a16:creationId xmlns:a16="http://schemas.microsoft.com/office/drawing/2014/main" id="{0430399C-1F0C-4AA1-94C1-5A5957CC13C6}"/>
              </a:ext>
            </a:extLst>
          </p:cNvPr>
          <p:cNvSpPr>
            <a:spLocks xmlns:a="http://schemas.openxmlformats.org/drawingml/2006/main" noGrp="1"/>
          </p:cNvSpPr>
          <p:nvPr/>
        </p:nvSpPr>
        <p:spPr>
          <a:xfrm xmlns:a="http://schemas.openxmlformats.org/drawingml/2006/main">
            <a:off x="914400" y="64008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20" name="Ailanto">
            <a:extLst xmlns:a="http://schemas.openxmlformats.org/drawingml/2006/main">
              <a:ext uri="{FF2B5EF4-FFF2-40B4-BE49-F238E27FC236}">
                <a16:creationId xmlns:a16="http://schemas.microsoft.com/office/drawing/2014/main" id="{2C6C7BCA-76E0-4CB9-8989-907E7A5E67B0}"/>
              </a:ext>
            </a:extLst>
          </p:cNvPr>
          <p:cNvSpPr>
            <a:spLocks xmlns:a="http://schemas.openxmlformats.org/drawingml/2006/main" noGrp="1"/>
          </p:cNvSpPr>
          <p:nvPr/>
        </p:nvSpPr>
        <p:spPr>
          <a:xfrm xmlns:a="http://schemas.openxmlformats.org/drawingml/2006/main">
            <a:off x="914400" y="65532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Ailanto</a:t>
            </a:r>
          </a:p>
        </p:txBody>
      </p:sp>
      <p:sp>
        <p:nvSpPr>
          <p:cNvPr id="21" name="Integrazioni, gestione digitale del passaporto e not">
            <a:extLst xmlns:a="http://schemas.openxmlformats.org/drawingml/2006/main">
              <a:ext uri="{FF2B5EF4-FFF2-40B4-BE49-F238E27FC236}">
                <a16:creationId xmlns:a16="http://schemas.microsoft.com/office/drawing/2014/main" id="{5A521808-2BD0-4C19-8BDB-1AC9E1287143}"/>
              </a:ext>
            </a:extLst>
          </p:cNvPr>
          <p:cNvSpPr>
            <a:spLocks xmlns:a="http://schemas.openxmlformats.org/drawingml/2006/main" noGrp="1"/>
          </p:cNvSpPr>
          <p:nvPr/>
        </p:nvSpPr>
        <p:spPr>
          <a:xfrm xmlns:a="http://schemas.openxmlformats.org/drawingml/2006/main">
            <a:off x="5232400" y="65786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Integrazioni, gestione digitale del passaporto e notarizzazione delle evidenze.</a:t>
            </a:r>
          </a:p>
        </p:txBody>
      </p:sp>
      <p:sp>
        <p:nvSpPr>
          <p:cNvPr id="22" name="">
            <a:extLst xmlns:a="http://schemas.openxmlformats.org/drawingml/2006/main">
              <a:ext uri="{FF2B5EF4-FFF2-40B4-BE49-F238E27FC236}">
                <a16:creationId xmlns:a16="http://schemas.microsoft.com/office/drawing/2014/main" id="{BBE92FBF-E7AD-4B72-B66A-A5F3B49F704D}"/>
              </a:ext>
            </a:extLst>
          </p:cNvPr>
          <p:cNvSpPr>
            <a:spLocks xmlns:a="http://schemas.openxmlformats.org/drawingml/2006/main" noGrp="1"/>
          </p:cNvSpPr>
          <p:nvPr/>
        </p:nvSpPr>
        <p:spPr>
          <a:xfrm xmlns:a="http://schemas.openxmlformats.org/drawingml/2006/main">
            <a:off x="914400" y="76581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3" name="Valore proposto: documenti reperibili, storia ricost">
            <a:extLst xmlns:a="http://schemas.openxmlformats.org/drawingml/2006/main">
              <a:ext uri="{FF2B5EF4-FFF2-40B4-BE49-F238E27FC236}">
                <a16:creationId xmlns:a16="http://schemas.microsoft.com/office/drawing/2014/main" id="{E12291CA-2090-4CDF-AA6A-BB41B6746CA7}"/>
              </a:ext>
            </a:extLst>
          </p:cNvPr>
          <p:cNvSpPr>
            <a:spLocks xmlns:a="http://schemas.openxmlformats.org/drawingml/2006/main" noGrp="1"/>
          </p:cNvSpPr>
          <p:nvPr/>
        </p:nvSpPr>
        <p:spPr>
          <a:xfrm xmlns:a="http://schemas.openxmlformats.org/drawingml/2006/main">
            <a:off x="1168400" y="78232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Valore proposto: documenti reperibili, storia ricostruibile e scambio strutturato con clienti e partner.</a:t>
            </a:r>
          </a:p>
        </p:txBody>
      </p:sp>
    </p:spTree>
    <p:extLst>
      <p:ext uri="{BB962C8B-B14F-4D97-AF65-F5344CB8AC3E}">
        <p14:creationId xmlns:p14="http://schemas.microsoft.com/office/powerpoint/2010/main" val="337253798"/>
      </p:ext>
    </p:extLst>
  </p:cSld>
</p:sld>
</file>

<file path=ppt/slides/slide11.xml><?xml version="1.0" encoding="utf-8"?>
<p:sld xmlns:p="http://schemas.openxmlformats.org/presentationml/2006/main">
  <p:cSld>
    <p:bg>
      <p:bgPr>
        <a:solidFill xmlns:a="http://schemas.openxmlformats.org/drawingml/2006/main">
          <a:srgbClr val="183F3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9C60CBF-8A7C-4CFD-ABEE-1BD1536F5777}"/>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E4C81318-B966-4E88-8D09-95A1E51A4C43}"/>
              </a:ext>
            </a:extLst>
          </p:cNvPr>
          <p:cNvPicPr>
            <a:picLocks xmlns:a="http://schemas.openxmlformats.org/drawingml/2006/main" noChangeAspect="1"/>
          </p:cNvPicPr>
          <p:nvPr/>
        </p:nvPicPr>
        <p:blipFill>
          <a:blip xmlns:r="http://schemas.openxmlformats.org/officeDocument/2006/relationships" xmlns:a="http://schemas.openxmlformats.org/drawingml/2006/main" r:embed="Re3774d3402bc442c"/>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297C7D-D6ED-48A5-AC40-57A6BF086FAD}"/>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B04BAC1F-5C4F-4EF3-A40B-85D49769EDCD}"/>
              </a:ext>
            </a:extLst>
          </p:cNvPr>
          <p:cNvPicPr>
            <a:picLocks xmlns:a="http://schemas.openxmlformats.org/drawingml/2006/main" noChangeAspect="1"/>
          </p:cNvPicPr>
          <p:nvPr/>
        </p:nvPicPr>
        <p:blipFill>
          <a:blip xmlns:r="http://schemas.openxmlformats.org/officeDocument/2006/relationships" xmlns:a="http://schemas.openxmlformats.org/drawingml/2006/main" r:embed="R475ba3ab57974810"/>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AILANTO PER ALPS BATTERY · PROGETTO PILOTA">
            <a:extLst xmlns:a="http://schemas.openxmlformats.org/drawingml/2006/main">
              <a:ext uri="{FF2B5EF4-FFF2-40B4-BE49-F238E27FC236}">
                <a16:creationId xmlns:a16="http://schemas.microsoft.com/office/drawing/2014/main" id="{84CC4E1D-210E-4842-AC80-50A6A99361C9}"/>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AILANTO PER ALPS BATTERY · PROGETTO PILOTA</a:t>
            </a:r>
          </a:p>
        </p:txBody>
      </p:sp>
      <p:sp>
        <p:nvSpPr>
          <p:cNvPr id="6" name="Il primo passaporto&#10;su una famiglia di batterie">
            <a:extLst xmlns:a="http://schemas.openxmlformats.org/drawingml/2006/main">
              <a:ext uri="{FF2B5EF4-FFF2-40B4-BE49-F238E27FC236}">
                <a16:creationId xmlns:a16="http://schemas.microsoft.com/office/drawing/2014/main" id="{3AFB88BF-74DD-4162-B05D-D70C34FF9D1F}"/>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Il primo passaporto</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su una famiglia di batterie</a:t>
            </a:r>
          </a:p>
        </p:txBody>
      </p:sp>
      <p:sp>
        <p:nvSpPr>
          <p:cNvPr id="7" name="Definire insieme un perimetro concreto per collegare">
            <a:extLst xmlns:a="http://schemas.openxmlformats.org/drawingml/2006/main">
              <a:ext uri="{FF2B5EF4-FFF2-40B4-BE49-F238E27FC236}">
                <a16:creationId xmlns:a16="http://schemas.microsoft.com/office/drawing/2014/main" id="{92DF804E-D0D0-4D89-84F6-8B34463618E3}"/>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Definire insieme un perimetro concreto per collegare prodotto, dati e documenti.</a:t>
            </a:r>
          </a:p>
        </p:txBody>
      </p:sp>
      <p:sp>
        <p:nvSpPr>
          <p:cNvPr id="8" name="">
            <a:extLst xmlns:a="http://schemas.openxmlformats.org/drawingml/2006/main">
              <a:ext uri="{FF2B5EF4-FFF2-40B4-BE49-F238E27FC236}">
                <a16:creationId xmlns:a16="http://schemas.microsoft.com/office/drawing/2014/main" id="{28A5F932-5D66-4CD9-B365-2AD628FBBE9E}"/>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Soluzione proposta · Perimetro, tempi e condizioni d">
            <a:extLst xmlns:a="http://schemas.openxmlformats.org/drawingml/2006/main">
              <a:ext uri="{FF2B5EF4-FFF2-40B4-BE49-F238E27FC236}">
                <a16:creationId xmlns:a16="http://schemas.microsoft.com/office/drawing/2014/main" id="{A4C17AC3-F44B-4132-92BE-2CF08F40AD92}"/>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Soluzione proposta · Perimetro, tempi e condizioni da concordare · ailanto.io · info@ailanto.io</a:t>
            </a:r>
          </a:p>
        </p:txBody>
      </p:sp>
      <p:sp>
        <p:nvSpPr>
          <p:cNvPr id="10" name="11 / 11">
            <a:extLst xmlns:a="http://schemas.openxmlformats.org/drawingml/2006/main">
              <a:ext uri="{FF2B5EF4-FFF2-40B4-BE49-F238E27FC236}">
                <a16:creationId xmlns:a16="http://schemas.microsoft.com/office/drawing/2014/main" id="{9ADBBFE0-A741-49BB-9FB6-C9B48B576DC9}"/>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11 / 11</a:t>
            </a:r>
          </a:p>
        </p:txBody>
      </p:sp>
      <p:sp>
        <p:nvSpPr>
          <p:cNvPr id="11" name="">
            <a:extLst xmlns:a="http://schemas.openxmlformats.org/drawingml/2006/main">
              <a:ext uri="{FF2B5EF4-FFF2-40B4-BE49-F238E27FC236}">
                <a16:creationId xmlns:a16="http://schemas.microsoft.com/office/drawing/2014/main" id="{58055E91-BE99-4415-8B8E-C652DD63E175}"/>
              </a:ext>
            </a:extLst>
          </p:cNvPr>
          <p:cNvSpPr>
            <a:spLocks xmlns:a="http://schemas.openxmlformats.org/drawingml/2006/main" noGrp="1"/>
          </p:cNvSpPr>
          <p:nvPr/>
        </p:nvSpPr>
        <p:spPr>
          <a:xfrm xmlns:a="http://schemas.openxmlformats.org/drawingml/2006/main">
            <a:off x="914400" y="4406900"/>
            <a:ext cx="609600" cy="0"/>
          </a:xfrm>
          <a:prstGeom xmlns:a="http://schemas.openxmlformats.org/drawingml/2006/main" prst="line">
            <a:avLst/>
          </a:prstGeom>
          <a:noFill xmlns:a="http://schemas.openxmlformats.org/drawingml/2006/main"/>
          <a:ln xmlns:a="http://schemas.openxmlformats.org/drawingml/2006/main" w="50800">
            <a:solidFill>
              <a:srgbClr val="C8F67C"/>
            </a:solidFill>
            <a:prstDash val="solid"/>
          </a:ln>
        </p:spPr>
      </p:sp>
      <p:sp>
        <p:nvSpPr>
          <p:cNvPr id="12" name="Scegliere il prodotto">
            <a:extLst xmlns:a="http://schemas.openxmlformats.org/drawingml/2006/main">
              <a:ext uri="{FF2B5EF4-FFF2-40B4-BE49-F238E27FC236}">
                <a16:creationId xmlns:a16="http://schemas.microsoft.com/office/drawing/2014/main" id="{38A7864C-A547-4F15-B685-83769E6B64F4}"/>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Scegliere il prodotto</a:t>
            </a:r>
          </a:p>
        </p:txBody>
      </p:sp>
      <p:sp>
        <p:nvSpPr>
          <p:cNvPr id="13" name="Una famiglia di batterie,&#10;un caso d’uso e i soggetti">
            <a:extLst xmlns:a="http://schemas.openxmlformats.org/drawingml/2006/main">
              <a:ext uri="{FF2B5EF4-FFF2-40B4-BE49-F238E27FC236}">
                <a16:creationId xmlns:a16="http://schemas.microsoft.com/office/drawing/2014/main" id="{696CF23D-0697-4390-938C-3A2047F887A6}"/>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B0C4BC"/>
                </a:solidFill>
                <a:latin typeface="Liberation Sans"/>
                <a:ea typeface="Liberation Sans"/>
                <a:cs typeface="Liberation Sans"/>
              </a:defRPr>
            </a:defPPr>
          </a:lstStyle>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Una famiglia di batterie,</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un caso d’uso e i soggetti</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che alimentano i dati.</a:t>
            </a:r>
          </a:p>
        </p:txBody>
      </p:sp>
      <p:sp>
        <p:nvSpPr>
          <p:cNvPr id="14" name="">
            <a:extLst xmlns:a="http://schemas.openxmlformats.org/drawingml/2006/main">
              <a:ext uri="{FF2B5EF4-FFF2-40B4-BE49-F238E27FC236}">
                <a16:creationId xmlns:a16="http://schemas.microsoft.com/office/drawing/2014/main" id="{437085B7-41D9-41D0-B88F-73B84E249D44}"/>
              </a:ext>
            </a:extLst>
          </p:cNvPr>
          <p:cNvSpPr>
            <a:spLocks xmlns:a="http://schemas.openxmlformats.org/drawingml/2006/main" noGrp="1"/>
          </p:cNvSpPr>
          <p:nvPr/>
        </p:nvSpPr>
        <p:spPr>
          <a:xfrm xmlns:a="http://schemas.openxmlformats.org/drawingml/2006/main">
            <a:off x="5867400" y="4406900"/>
            <a:ext cx="609600" cy="0"/>
          </a:xfrm>
          <a:prstGeom xmlns:a="http://schemas.openxmlformats.org/drawingml/2006/main" prst="line">
            <a:avLst/>
          </a:prstGeom>
          <a:noFill xmlns:a="http://schemas.openxmlformats.org/drawingml/2006/main"/>
          <a:ln xmlns:a="http://schemas.openxmlformats.org/drawingml/2006/main" w="50800">
            <a:solidFill>
              <a:srgbClr val="C8F67C"/>
            </a:solidFill>
            <a:prstDash val="solid"/>
          </a:ln>
        </p:spPr>
      </p:sp>
      <p:sp>
        <p:nvSpPr>
          <p:cNvPr id="15" name="Collegare le evidenze">
            <a:extLst xmlns:a="http://schemas.openxmlformats.org/drawingml/2006/main">
              <a:ext uri="{FF2B5EF4-FFF2-40B4-BE49-F238E27FC236}">
                <a16:creationId xmlns:a16="http://schemas.microsoft.com/office/drawing/2014/main" id="{04D98343-34F6-4956-8866-380BF42439D4}"/>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Collegare le evidenze</a:t>
            </a:r>
          </a:p>
        </p:txBody>
      </p:sp>
      <p:sp>
        <p:nvSpPr>
          <p:cNvPr id="16" name="Matricole, configurazioni,&#10;collaudi e un insieme&#10;con">
            <a:extLst xmlns:a="http://schemas.openxmlformats.org/drawingml/2006/main">
              <a:ext uri="{FF2B5EF4-FFF2-40B4-BE49-F238E27FC236}">
                <a16:creationId xmlns:a16="http://schemas.microsoft.com/office/drawing/2014/main" id="{618572BC-E86C-4F73-8575-6B81D54483FF}"/>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B0C4BC"/>
                </a:solidFill>
                <a:latin typeface="Liberation Sans"/>
                <a:ea typeface="Liberation Sans"/>
                <a:cs typeface="Liberation Sans"/>
              </a:defRPr>
            </a:defPPr>
          </a:lstStyle>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Matricole, configurazioni,</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collaudi e un insieme</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concordato di eventi.</a:t>
            </a:r>
          </a:p>
        </p:txBody>
      </p:sp>
      <p:sp>
        <p:nvSpPr>
          <p:cNvPr id="17" name="">
            <a:extLst xmlns:a="http://schemas.openxmlformats.org/drawingml/2006/main">
              <a:ext uri="{FF2B5EF4-FFF2-40B4-BE49-F238E27FC236}">
                <a16:creationId xmlns:a16="http://schemas.microsoft.com/office/drawing/2014/main" id="{E3CAFD29-91C4-4856-AB64-D2FFAACABC8D}"/>
              </a:ext>
            </a:extLst>
          </p:cNvPr>
          <p:cNvSpPr>
            <a:spLocks xmlns:a="http://schemas.openxmlformats.org/drawingml/2006/main" noGrp="1"/>
          </p:cNvSpPr>
          <p:nvPr/>
        </p:nvSpPr>
        <p:spPr>
          <a:xfrm xmlns:a="http://schemas.openxmlformats.org/drawingml/2006/main">
            <a:off x="10820400" y="4406900"/>
            <a:ext cx="609600" cy="0"/>
          </a:xfrm>
          <a:prstGeom xmlns:a="http://schemas.openxmlformats.org/drawingml/2006/main" prst="line">
            <a:avLst/>
          </a:prstGeom>
          <a:noFill xmlns:a="http://schemas.openxmlformats.org/drawingml/2006/main"/>
          <a:ln xmlns:a="http://schemas.openxmlformats.org/drawingml/2006/main" w="50800">
            <a:solidFill>
              <a:srgbClr val="C8F67C"/>
            </a:solidFill>
            <a:prstDash val="solid"/>
          </a:ln>
        </p:spPr>
      </p:sp>
      <p:sp>
        <p:nvSpPr>
          <p:cNvPr id="18" name="Verificare il servizio">
            <a:extLst xmlns:a="http://schemas.openxmlformats.org/drawingml/2006/main">
              <a:ext uri="{FF2B5EF4-FFF2-40B4-BE49-F238E27FC236}">
                <a16:creationId xmlns:a16="http://schemas.microsoft.com/office/drawing/2014/main" id="{C68937B3-DF58-4623-B034-F8CD8151481E}"/>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Verificare il servizio</a:t>
            </a:r>
          </a:p>
        </p:txBody>
      </p:sp>
      <p:sp>
        <p:nvSpPr>
          <p:cNvPr id="19" name="Passaporto consultabile,&#10;prova d’integrità e verific">
            <a:extLst xmlns:a="http://schemas.openxmlformats.org/drawingml/2006/main">
              <a:ext uri="{FF2B5EF4-FFF2-40B4-BE49-F238E27FC236}">
                <a16:creationId xmlns:a16="http://schemas.microsoft.com/office/drawing/2014/main" id="{54947094-EBFB-4025-B2A8-CDB10B478E8D}"/>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B0C4BC"/>
                </a:solidFill>
                <a:latin typeface="Liberation Sans"/>
                <a:ea typeface="Liberation Sans"/>
                <a:cs typeface="Liberation Sans"/>
              </a:defRPr>
            </a:defPPr>
          </a:lstStyle>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Passaporto consultabile,</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prova d’integrità e verifica</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degli accessi previsti.</a:t>
            </a:r>
          </a:p>
        </p:txBody>
      </p:sp>
      <p:sp>
        <p:nvSpPr>
          <p:cNvPr id="20" name="">
            <a:extLst xmlns:a="http://schemas.openxmlformats.org/drawingml/2006/main">
              <a:ext uri="{FF2B5EF4-FFF2-40B4-BE49-F238E27FC236}">
                <a16:creationId xmlns:a16="http://schemas.microsoft.com/office/drawing/2014/main" id="{33929205-1919-42E8-9EE9-403FEB292071}"/>
              </a:ext>
            </a:extLst>
          </p:cNvPr>
          <p:cNvSpPr>
            <a:spLocks xmlns:a="http://schemas.openxmlformats.org/drawingml/2006/main" noGrp="1"/>
          </p:cNvSpPr>
          <p:nvPr/>
        </p:nvSpPr>
        <p:spPr>
          <a:xfrm xmlns:a="http://schemas.openxmlformats.org/drawingml/2006/main">
            <a:off x="914400" y="74930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21" name="Esito del pilota: un passaporto dimostrativo e un pi">
            <a:extLst xmlns:a="http://schemas.openxmlformats.org/drawingml/2006/main">
              <a:ext uri="{FF2B5EF4-FFF2-40B4-BE49-F238E27FC236}">
                <a16:creationId xmlns:a16="http://schemas.microsoft.com/office/drawing/2014/main" id="{15FDB6F3-D7A5-460B-847A-3FE0F7AAA35E}"/>
              </a:ext>
            </a:extLst>
          </p:cNvPr>
          <p:cNvSpPr>
            <a:spLocks xmlns:a="http://schemas.openxmlformats.org/drawingml/2006/main" noGrp="1"/>
          </p:cNvSpPr>
          <p:nvPr/>
        </p:nvSpPr>
        <p:spPr>
          <a:xfrm xmlns:a="http://schemas.openxmlformats.org/drawingml/2006/main">
            <a:off x="1168400" y="76581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Esito del pilota: un passaporto dimostrativo e un piano condiviso per estendere il servizio.</a:t>
            </a:r>
          </a:p>
        </p:txBody>
      </p:sp>
    </p:spTree>
    <p:extLst>
      <p:ext uri="{BB962C8B-B14F-4D97-AF65-F5344CB8AC3E}">
        <p14:creationId xmlns:p14="http://schemas.microsoft.com/office/powerpoint/2010/main" val="949946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2026-10-12T08:29:59.8300000Z</dcterms:created>
  <dcterms:modified xsi:type="dcterms:W3CDTF">2026-10-12T08:29:59.8300000Z</dcterms:modified>
</coreProperties>
</file>