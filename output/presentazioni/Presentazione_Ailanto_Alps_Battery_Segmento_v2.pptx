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8ac2b5b58d444c" /><Relationship Type="http://schemas.openxmlformats.org/officeDocument/2006/relationships/extended-properties" Target="/docProps/app.xml" Id="Rc7ada37d20704f2e" /><Relationship Type="http://schemas.openxmlformats.org/officeDocument/2006/relationships/officeDocument" Target="/ppt/presentation.xml" Id="R69e4f29773c54948" /></Relationships>
</file>

<file path=ppt/presentation.xml><?xml version="1.0" encoding="utf-8"?>
<p:presentation xmlns:p="http://schemas.openxmlformats.org/presentationml/2006/main">
  <p:sldMasterIdLst>
    <p:sldMasterId xmlns:r="http://schemas.openxmlformats.org/officeDocument/2006/relationships" id="2147483648" r:id="R71ffae384e1644bc"/>
  </p:sldMasterIdLst>
  <p:notesMasterIdLst>
    <p:notesMasterId xmlns:r="http://schemas.openxmlformats.org/officeDocument/2006/relationships" r:id="Re43dadb30b884e2a"/>
  </p:notesMasterIdLst>
  <p:sldIdLst>
    <p:sldId xmlns:r="http://schemas.openxmlformats.org/officeDocument/2006/relationships" id="256" r:id="Rcf3f7aec599c400e"/>
    <p:sldId xmlns:r="http://schemas.openxmlformats.org/officeDocument/2006/relationships" id="257" r:id="R9610a5e2837a423a"/>
    <p:sldId xmlns:r="http://schemas.openxmlformats.org/officeDocument/2006/relationships" id="258" r:id="R9b78c4555d5049f9"/>
    <p:sldId xmlns:r="http://schemas.openxmlformats.org/officeDocument/2006/relationships" id="259" r:id="R3cace9f35ab44bda"/>
    <p:sldId xmlns:r="http://schemas.openxmlformats.org/officeDocument/2006/relationships" id="260" r:id="Refd0b30981d74718"/>
    <p:sldId xmlns:r="http://schemas.openxmlformats.org/officeDocument/2006/relationships" id="261" r:id="Re154244fe83d4d47"/>
    <p:sldId xmlns:r="http://schemas.openxmlformats.org/officeDocument/2006/relationships" id="262" r:id="Rf76adb3f9982441e"/>
    <p:sldId xmlns:r="http://schemas.openxmlformats.org/officeDocument/2006/relationships" id="263" r:id="R00c39b17bf604ac0"/>
    <p:sldId xmlns:r="http://schemas.openxmlformats.org/officeDocument/2006/relationships" id="264" r:id="Ra06635e5b9f94061"/>
    <p:sldId xmlns:r="http://schemas.openxmlformats.org/officeDocument/2006/relationships" id="265" r:id="R488ee8b54b6d4fea"/>
    <p:sldId xmlns:r="http://schemas.openxmlformats.org/officeDocument/2006/relationships" id="266" r:id="R0707488eebca4c34"/>
    <p:sldId xmlns:r="http://schemas.openxmlformats.org/officeDocument/2006/relationships" id="267" r:id="Rc3a4466f64ab4487"/>
    <p:sldId xmlns:r="http://schemas.openxmlformats.org/officeDocument/2006/relationships" id="268" r:id="R0cd4959629ba4130"/>
  </p:sldIdLst>
  <p:sldSz cx="16256000" cy="9144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b31d531f774dd8" /><Relationship Type="http://schemas.openxmlformats.org/officeDocument/2006/relationships/slideMaster" Target="/ppt/slideMasters/slideMaster1.xml" Id="R71ffae384e1644bc" /><Relationship Type="http://schemas.openxmlformats.org/officeDocument/2006/relationships/notesMaster" Target="/ppt/notesMasters/notesMaster1.xml" Id="Re43dadb30b884e2a" /><Relationship Type="http://schemas.openxmlformats.org/officeDocument/2006/relationships/presProps" Target="/ppt/presProps.xml" Id="R628c9db11aac4db2" /><Relationship Type="http://schemas.openxmlformats.org/officeDocument/2006/relationships/tableStyles" Target="/ppt/tableStyles.xml" Id="R47fbcc88d6724ed4" /><Relationship Type="http://schemas.openxmlformats.org/officeDocument/2006/relationships/slide" Target="/ppt/slides/slide1.xml" Id="Rcf3f7aec599c400e" /><Relationship Type="http://schemas.openxmlformats.org/officeDocument/2006/relationships/slide" Target="/ppt/slides/slide2.xml" Id="R9610a5e2837a423a" /><Relationship Type="http://schemas.openxmlformats.org/officeDocument/2006/relationships/slide" Target="/ppt/slides/slide3.xml" Id="R9b78c4555d5049f9" /><Relationship Type="http://schemas.openxmlformats.org/officeDocument/2006/relationships/slide" Target="/ppt/slides/slide4.xml" Id="R3cace9f35ab44bda" /><Relationship Type="http://schemas.openxmlformats.org/officeDocument/2006/relationships/slide" Target="/ppt/slides/slide5.xml" Id="Refd0b30981d74718" /><Relationship Type="http://schemas.openxmlformats.org/officeDocument/2006/relationships/slide" Target="/ppt/slides/slide6.xml" Id="Re154244fe83d4d47" /><Relationship Type="http://schemas.openxmlformats.org/officeDocument/2006/relationships/slide" Target="/ppt/slides/slide7.xml" Id="Rf76adb3f9982441e" /><Relationship Type="http://schemas.openxmlformats.org/officeDocument/2006/relationships/slide" Target="/ppt/slides/slide8.xml" Id="R00c39b17bf604ac0" /><Relationship Type="http://schemas.openxmlformats.org/officeDocument/2006/relationships/slide" Target="/ppt/slides/slide9.xml" Id="Ra06635e5b9f94061" /><Relationship Type="http://schemas.openxmlformats.org/officeDocument/2006/relationships/slide" Target="/ppt/slides/slide10.xml" Id="R488ee8b54b6d4fea" /><Relationship Type="http://schemas.openxmlformats.org/officeDocument/2006/relationships/slide" Target="/ppt/slides/slide11.xml" Id="R0707488eebca4c34" /><Relationship Type="http://schemas.openxmlformats.org/officeDocument/2006/relationships/slide" Target="/ppt/slides/slide12.xml" Id="Rc3a4466f64ab4487" /><Relationship Type="http://schemas.openxmlformats.org/officeDocument/2006/relationships/slide" Target="/ppt/slides/slide13.xml" Id="R0cd4959629ba41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ca5927d37a43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072cc60ef94272" /><Relationship Type="http://schemas.openxmlformats.org/officeDocument/2006/relationships/notesMaster" Target="/ppt/notesMasters/notesMaster1.xml" Id="R67a44fa3af084d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3750be25f14fef" /><Relationship Type="http://schemas.openxmlformats.org/officeDocument/2006/relationships/notesMaster" Target="/ppt/notesMasters/notesMaster1.xml" Id="Rc6acf4a125634f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85853b606645f4" /><Relationship Type="http://schemas.openxmlformats.org/officeDocument/2006/relationships/notesMaster" Target="/ppt/notesMasters/notesMaster1.xml" Id="R6ceda5a6609f43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b4ae160b5d4204" /><Relationship Type="http://schemas.openxmlformats.org/officeDocument/2006/relationships/notesMaster" Target="/ppt/notesMasters/notesMaster1.xml" Id="Re2eece71f8334a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be0c9aff924311" /><Relationship Type="http://schemas.openxmlformats.org/officeDocument/2006/relationships/notesMaster" Target="/ppt/notesMasters/notesMaster1.xml" Id="R987a5a01ab3344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4e407601d64c8a" /><Relationship Type="http://schemas.openxmlformats.org/officeDocument/2006/relationships/notesMaster" Target="/ppt/notesMasters/notesMaster1.xml" Id="R3c547df833c047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3cd81443514884" /><Relationship Type="http://schemas.openxmlformats.org/officeDocument/2006/relationships/notesMaster" Target="/ppt/notesMasters/notesMaster1.xml" Id="R8b4ac75df2f141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a7c9e1d7bc24605" /><Relationship Type="http://schemas.openxmlformats.org/officeDocument/2006/relationships/notesMaster" Target="/ppt/notesMasters/notesMaster1.xml" Id="R907d52ea5f2841c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c8765fdf7c45b8" /><Relationship Type="http://schemas.openxmlformats.org/officeDocument/2006/relationships/notesMaster" Target="/ppt/notesMasters/notesMaster1.xml" Id="R3035fe7d97224f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47bb89d63946cc" /><Relationship Type="http://schemas.openxmlformats.org/officeDocument/2006/relationships/notesMaster" Target="/ppt/notesMasters/notesMaster1.xml" Id="R30b5f1b94bcc4d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907fee5cfb34e4a" /><Relationship Type="http://schemas.openxmlformats.org/officeDocument/2006/relationships/notesMaster" Target="/ppt/notesMasters/notesMaster1.xml" Id="R08f7177f10a04c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fb2914c7272417f" /><Relationship Type="http://schemas.openxmlformats.org/officeDocument/2006/relationships/notesMaster" Target="/ppt/notesMasters/notesMaster1.xml" Id="R82fde8fb6587478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869698eedc491d" /><Relationship Type="http://schemas.openxmlformats.org/officeDocument/2006/relationships/notesMaster" Target="/ppt/notesMasters/notesMaster1.xml" Id="R74c2980770554e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Segmento è il servizio Ailanto di notarizzazione dei dati industriali. La proposta è dedicata alle batterie custom per macchine elettriche e ibride di Alps Battery. Moduli e integrazioni saranno definiti con il cliente.</a:t>
            </a:r>
          </a:p>
          <a:p xmlns:a="http://schemas.openxmlformats.org/drawingml/2006/main">
            <a:r>
              <a:t/>
            </a:r>
          </a:p>
          <a:p xmlns:a="http://schemas.openxmlformats.org/drawingml/2006/main">
            <a:r>
              <a:t>FONTI</a:t>
            </a:r>
          </a:p>
          <a:p xmlns:a="http://schemas.openxmlformats.org/drawingml/2006/main">
            <a:r>
              <a:t>https://alpsbattery.com/</a:t>
            </a:r>
          </a:p>
          <a:p xmlns:a="http://schemas.openxmlformats.org/drawingml/2006/main">
            <a:r>
              <a:t>https://alpsbattery.com/about-us.jpg</a:t>
            </a:r>
          </a:p>
          <a:p xmlns:a="http://schemas.openxmlformats.org/drawingml/2006/main">
            <a:r>
              <a:t>https://alpsbattery.com/alps-battery-logo.png</a:t>
            </a:r>
          </a:p>
          <a:p xmlns:a="http://schemas.openxmlformats.org/drawingml/2006/main">
            <a:r>
              <a:t>https://www.ailanto.io/</a:t>
            </a:r>
          </a:p>
          <a:p xmlns:a="http://schemas.openxmlformats.org/drawingml/2006/main">
            <a:r>
              <a:t>Modello e descrizione Segmento: presentazione Ailanto fornita, pp. 1-3.</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linee pubblicate da Alps sono NCM Multimaster 48V, NCM Premium 48V-750V e LFP Custom 48V-750V. Non sono documentati pubblicamente API, protocolli o sistemi di telemetria. Il collegamento a BMS, sistemi aziendali e costruttori è una proposta da verificare, non un’integrazione già realizzata.</a:t>
            </a:r>
          </a:p>
          <a:p xmlns:a="http://schemas.openxmlformats.org/drawingml/2006/main">
            <a:r>
              <a:t/>
            </a:r>
          </a:p>
          <a:p xmlns:a="http://schemas.openxmlformats.org/drawingml/2006/main">
            <a:r>
              <a:t>FONTI</a:t>
            </a:r>
          </a:p>
          <a:p xmlns:a="http://schemas.openxmlformats.org/drawingml/2006/main">
            <a:r>
              <a:t>https://alpsbattery.com/</a:t>
            </a:r>
          </a:p>
          <a:p xmlns:a="http://schemas.openxmlformats.org/drawingml/2006/main">
            <a:r>
              <a:t>/Users/danielepregnolato/Desktop/Presentazione_Ailanto_Plus_EV_Charge_Segmento v2.pdf</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descrizione di Segmento e dell’architettura a doppia blockchain proviene dal materiale Ailanto fornito. L’ancoraggio rende verificabile l’integrità delle evidenze; non attesta da solo la correttezza del dato o la conformità della batteria.</a:t>
            </a:r>
          </a:p>
          <a:p xmlns:a="http://schemas.openxmlformats.org/drawingml/2006/main">
            <a:r>
              <a:t/>
            </a:r>
          </a:p>
          <a:p xmlns:a="http://schemas.openxmlformats.org/drawingml/2006/main">
            <a:r>
              <a:t>FONTI</a:t>
            </a:r>
          </a:p>
          <a:p xmlns:a="http://schemas.openxmlformats.org/drawingml/2006/main">
            <a:r>
              <a:t>/Users/danielepregnolato/Desktop/Presentazione_Ailanto_Plus_EV_Charge_Segmento v2.pdf</a:t>
            </a:r>
          </a:p>
          <a:p xmlns:a="http://schemas.openxmlformats.org/drawingml/2006/main">
            <a:r>
              <a:t>https://www.ailanto.io/</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fascicolo proposto parte dai dati di prodotto e si estende agli eventi del ciclo di vita. L’obbligo regolamentare va riferito alla batteria finita e alla categoria pertinente. I contenuti di questa slide sono esemplificativi, non la lista completa dei dati obbligatori. Fonte immagine: sito ufficiale Alps Battery.</a:t>
            </a:r>
          </a:p>
          <a:p xmlns:a="http://schemas.openxmlformats.org/drawingml/2006/main">
            <a:r>
              <a:t/>
            </a:r>
          </a:p>
          <a:p xmlns:a="http://schemas.openxmlformats.org/drawingml/2006/main">
            <a:r>
              <a:t>FONTI</a:t>
            </a:r>
          </a:p>
          <a:p xmlns:a="http://schemas.openxmlformats.org/drawingml/2006/main">
            <a:r>
              <a:t>https://alpsbattery.com/</a:t>
            </a:r>
          </a:p>
          <a:p xmlns:a="http://schemas.openxmlformats.org/drawingml/2006/main">
            <a:r>
              <a:t>https://alpsbattery.com/NCM%20Multimaster.jpg</a:t>
            </a:r>
          </a:p>
          <a:p xmlns:a="http://schemas.openxmlformats.org/drawingml/2006/main">
            <a:r>
              <a:t>https://eur-lex.europa.eu/eli/reg/2023/1542/2026-08-13/eng/</a:t>
            </a:r>
          </a:p>
          <a:p xmlns:a="http://schemas.openxmlformats.org/drawingml/2006/main">
            <a:r>
              <a:t>https://single-market-economy.ec.europa.eu/single-market/digital-product-passport/eu-digital-product-passport-faq-batteries_en</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Riproposizione e rifabbricazione richiedono, nei casi previsti, un nuovo passaporto collegato al precedente. Una semplice riparazione non equivale automaticamente a rifabbricazione. Dopo il riciclo il passaporto cessa di esistere secondo l’articolo 77: la gestione dei dati e delle prove deve rispettare questo ciclo. La seconda vita è un caso d’uso proposto, non un’attività dichiarata di Alps.</a:t>
            </a:r>
          </a:p>
          <a:p xmlns:a="http://schemas.openxmlformats.org/drawingml/2006/main">
            <a:r>
              <a:t/>
            </a:r>
          </a:p>
          <a:p xmlns:a="http://schemas.openxmlformats.org/drawingml/2006/main">
            <a:r>
              <a:t>FONTI</a:t>
            </a:r>
          </a:p>
          <a:p xmlns:a="http://schemas.openxmlformats.org/drawingml/2006/main">
            <a:r>
              <a:t>https://eur-lex.europa.eu/eli/reg/2023/1542/2026-08-13/eng/</a:t>
            </a:r>
          </a:p>
          <a:p xmlns:a="http://schemas.openxmlformats.org/drawingml/2006/main">
            <a:r>
              <a:t>https://single-market-economy.ec.europa.eu/single-market/digital-product-passport/eu-digital-product-passport-faq-batteries_en</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SoH è lo stato di salute della batteria e dipende da modello, algoritmo e condizioni di misura. Non viene promesso un nuovo algoritmo di diagnosi: Segmento registra i dati resi disponibili e le relative evidenze. I dati non sono necessariamente continui o in tempo reale. Per le energie in ingresso/uscita occorre specificare il confine di misura e distinguere perdite, carica e scarica.</a:t>
            </a:r>
          </a:p>
          <a:p xmlns:a="http://schemas.openxmlformats.org/drawingml/2006/main">
            <a:r>
              <a:t/>
            </a:r>
          </a:p>
          <a:p xmlns:a="http://schemas.openxmlformats.org/drawingml/2006/main">
            <a:r>
              <a:t>FONTI</a:t>
            </a:r>
          </a:p>
          <a:p xmlns:a="http://schemas.openxmlformats.org/drawingml/2006/main">
            <a:r>
              <a:t>/Users/danielepregnolato/Desktop/Presentazione_Ailanto_Plus_EV_Charge_Segmento v2.pdf</a:t>
            </a:r>
          </a:p>
          <a:p xmlns:a="http://schemas.openxmlformats.org/drawingml/2006/main">
            <a:r>
              <a:t>https://single-market-economy.ec.europa.eu/single-market/digital-product-passport/eu-digital-product-passport-faq-batteries_en</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L’art. 77 comprende anche batterie per mezzi di trasporto leggeri e veicoli elettrici; la slide focalizza la categoria industriale, da verificare per Alps. Il passaporto riguarda la batteria finita, anche se incorporata in una macchina. La responsabilità resta all’operatore economico competente, anche con delega scritta. Secondo le FAQ pubblicate a settembre 2026 non tutti i campi, inclusi impronta carbonio e contenuto riciclato, sono dovuti a febbraio 2027; le regole di accesso riservato sono ancora in sviluppo. Blockchain non è obbligatoria. Registrazione DPP e ancoraggio su blockchain sono funzioni distinte.</a:t>
            </a:r>
          </a:p>
          <a:p xmlns:a="http://schemas.openxmlformats.org/drawingml/2006/main">
            <a:r>
              <a:t/>
            </a:r>
          </a:p>
          <a:p xmlns:a="http://schemas.openxmlformats.org/drawingml/2006/main">
            <a:r>
              <a:t>FONTI</a:t>
            </a:r>
          </a:p>
          <a:p xmlns:a="http://schemas.openxmlformats.org/drawingml/2006/main">
            <a:r>
              <a:t>https://eur-lex.europa.eu/eli/reg/2023/1542/2026-08-13/eng/</a:t>
            </a:r>
          </a:p>
          <a:p xmlns:a="http://schemas.openxmlformats.org/drawingml/2006/main">
            <a:r>
              <a:t>https://single-market-economy.ec.europa.eu/single-market/digital-product-passport/eu-digital-product-passport-faq-batteries_en</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carbon footprint di prodotto e le emissioni evitate rispondono a domande differenti. Per confronti ambientali robusti servono servizio equivalente, confini coerenti e considerazione del ciclo di vita. I dati di energia vanno collegati a periodo, punto di misura e fattori pertinenti. L’impronta regolamentare della batteria segue le disposizioni e le metodologie applicabili del Regolamento batterie; questa proposta non ne attesta già la conformità.</a:t>
            </a:r>
          </a:p>
          <a:p xmlns:a="http://schemas.openxmlformats.org/drawingml/2006/main">
            <a:r>
              <a:t/>
            </a:r>
          </a:p>
          <a:p xmlns:a="http://schemas.openxmlformats.org/drawingml/2006/main">
            <a:r>
              <a:t>FONTI</a:t>
            </a:r>
          </a:p>
          <a:p xmlns:a="http://schemas.openxmlformats.org/drawingml/2006/main">
            <a:r>
              <a:t>https://ghgprotocol.org/product-standard</a:t>
            </a:r>
          </a:p>
          <a:p xmlns:a="http://schemas.openxmlformats.org/drawingml/2006/main">
            <a:r>
              <a:t>https://ghgprotocol.org/estimating-and-reporting-avoided-emissions</a:t>
            </a:r>
          </a:p>
          <a:p xmlns:a="http://schemas.openxmlformats.org/drawingml/2006/main">
            <a:r>
              <a:t>https://ghgprotocol.org/scope-2-guidance</a:t>
            </a:r>
          </a:p>
          <a:p xmlns:a="http://schemas.openxmlformats.org/drawingml/2006/main">
            <a:r>
              <a:t>https://eur-lex.europa.eu/eli/reg/2023/1542/2026-08-13/eng/</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Esempio didattico costruito per illustrare la tracciabilità del calcolo. Tutti i valori, compreso lo scenario di riferimento di 20 t CO2e e il fattore di 0,30 kg CO2e/kWh, sono ipotetici. Il consumo è misurato idealmente al punto di alimentazione della ricarica e include le perdite entro tale confine. Il riferimento deve fornire lo stesso lavoro nello stesso periodo. Il confronto riguarda solo la fase operativa e non dimostra un vantaggio climatico complessivo della batteria, della macchina o di Alps. Non costituisce credito carbonio né promessa di risparmio.</a:t>
            </a:r>
          </a:p>
          <a:p xmlns:a="http://schemas.openxmlformats.org/drawingml/2006/main">
            <a:r>
              <a:t/>
            </a:r>
          </a:p>
          <a:p xmlns:a="http://schemas.openxmlformats.org/drawingml/2006/main">
            <a:r>
              <a:t>FONTI</a:t>
            </a:r>
          </a:p>
          <a:p xmlns:a="http://schemas.openxmlformats.org/drawingml/2006/main">
            <a:r>
              <a:t>https://ghgprotocol.org/estimating-and-reporting-avoided-emissions</a:t>
            </a:r>
          </a:p>
          <a:p xmlns:a="http://schemas.openxmlformats.org/drawingml/2006/main">
            <a:r>
              <a:t>https://ghgprotocol.org/scope-2-guidance</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crediti carbonio sono un’eventuale estensione del progetto, non il valore garantito del passaporto. Una metodologia per ricarica EV non può essere trasferita automaticamente a un produttore di batterie industriali. Il programma scelto deve confermare applicabilità, addizionalità, monitoraggio, verifica, titolarità e prevenzione del doppio conteggio. Prima di investire nella certificazione occorre valutarne costi e potenziali benefici.</a:t>
            </a:r>
          </a:p>
          <a:p xmlns:a="http://schemas.openxmlformats.org/drawingml/2006/main">
            <a:r>
              <a:t/>
            </a:r>
          </a:p>
          <a:p xmlns:a="http://schemas.openxmlformats.org/drawingml/2006/main">
            <a:r>
              <a:t>FONTI</a:t>
            </a:r>
          </a:p>
          <a:p xmlns:a="http://schemas.openxmlformats.org/drawingml/2006/main">
            <a:r>
              <a:t>https://verra.org/programs/verified-carbon-standard/develop-a-vcs-project/</a:t>
            </a:r>
          </a:p>
          <a:p xmlns:a="http://schemas.openxmlformats.org/drawingml/2006/main">
            <a:r>
              <a:t>/Users/danielepregnolato/Desktop/Presentazione_Ailanto_Plus_EV_Charge_Segmento v2.pdf</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Schema funzionale proposto per un eventuale modulo di gestione digitale dei diritti. Non viene attestata la possibilità di tokenizzare crediti di uno specifico registro, né proposta un’emissione finanziaria. Identità digitale della batteria, notarizzazione delle evidenze e rappresentazione di crediti sono oggetti distinti.</a:t>
            </a:r>
          </a:p>
          <a:p xmlns:a="http://schemas.openxmlformats.org/drawingml/2006/main">
            <a:r>
              <a:t/>
            </a:r>
          </a:p>
          <a:p xmlns:a="http://schemas.openxmlformats.org/drawingml/2006/main">
            <a:r>
              <a:t>FONTI</a:t>
            </a:r>
          </a:p>
          <a:p xmlns:a="http://schemas.openxmlformats.org/drawingml/2006/main">
            <a:r>
              <a:t>/Users/danielepregnolato/Desktop/Presentazione_Ailanto_Plus_EV_Charge_Segmento v2.pdf</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valore commerciale di base è il servizio digitale che accompagna la batteria. La proposta economica può distinguere avvio e integrazioni, gestione dei passaporti e servizi di utilizzo, da definire dopo la verifica del perimetro. Nessun prezzo, volume, ROI o ricavo è presunto. L’eventuale titolare di crediti e la distribuzione dei diritti devono essere definiti contrattualmente. La gestione tecnica non trasferisce le responsabilità normative del soggetto competente.</a:t>
            </a:r>
          </a:p>
          <a:p xmlns:a="http://schemas.openxmlformats.org/drawingml/2006/main">
            <a:r>
              <a:t/>
            </a:r>
          </a:p>
          <a:p xmlns:a="http://schemas.openxmlformats.org/drawingml/2006/main">
            <a:r>
              <a:t>FONTI</a:t>
            </a:r>
          </a:p>
          <a:p xmlns:a="http://schemas.openxmlformats.org/drawingml/2006/main">
            <a:r>
              <a:t>/Users/danielepregnolato/Desktop/Presentazione_Ailanto_Plus_EV_Charge_Segmento v2.pdf</a:t>
            </a:r>
          </a:p>
          <a:p xmlns:a="http://schemas.openxmlformats.org/drawingml/2006/main">
            <a:r>
              <a:t>https://alpsbattery.com/</a:t>
            </a:r>
          </a:p>
          <a:p xmlns:a="http://schemas.openxmlformats.org/drawingml/2006/main">
            <a:r>
              <a:t>https://eur-lex.europa.eu/eli/reg/2023/1542/2026-08-13/eng/</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Prossimo passo proposto: un incontro tecnico per scegliere la famiglia di batterie e mappare sistemi, dati, ruoli e responsabilità. Il pilota può partire da documenti ed eventi già disponibili e aggiungere dati BMS se accessibili. Criteri di valutazione: completezza dei campi concordati, ricostruibilità di un evento, verifica di integrità e correttezza degli accessi. Il piano successivo distingue requisiti passaporto, gestione operativa e eventuali moduli ambientali.</a:t>
            </a:r>
          </a:p>
          <a:p xmlns:a="http://schemas.openxmlformats.org/drawingml/2006/main">
            <a:r>
              <a:t/>
            </a:r>
          </a:p>
          <a:p xmlns:a="http://schemas.openxmlformats.org/drawingml/2006/main">
            <a:r>
              <a:t>FONTI</a:t>
            </a:r>
          </a:p>
          <a:p xmlns:a="http://schemas.openxmlformats.org/drawingml/2006/main">
            <a:r>
              <a:t>https://www.ailanto.io/</a:t>
            </a:r>
          </a:p>
          <a:p xmlns:a="http://schemas.openxmlformats.org/drawingml/2006/main">
            <a:r>
              <a:t>https://alpsbattery.com/</a:t>
            </a:r>
          </a:p>
          <a:p xmlns:a="http://schemas.openxmlformats.org/drawingml/2006/main">
            <a:r>
              <a:t>/Users/danielepregnolato/Desktop/Presentazione_Ailanto_Plus_EV_Charge_Segmento v2.pdf</a:t>
            </a:r>
          </a:p>
          <a:p xmlns:a="http://schemas.openxmlformats.org/drawingml/2006/main">
            <a:r>
              <a:t>Consultazione: 12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7f7daf3ed64ed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9b767ffe0044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6dd3a4d3ec84c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43c56ce7a3e482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7df75cd9be7479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0cdb3415aad4b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EF08BC-8AB8-4AD5-A0FB-0C226C533D24}"/>
              </a:ext>
            </a:extLst>
          </p:cNvPr>
          <p:cNvSpPr>
            <a:spLocks xmlns:a="http://schemas.openxmlformats.org/drawingml/2006/main" noGrp="1"/>
          </p:cNvSpPr>
          <p:nvPr>
            <p:ph type="title" idx="0"/>
          </p:nvPr>
        </p:nvSpPr>
        <p:spPr>
          <a:xfrm xmlns:a="http://schemas.openxmlformats.org/drawingml/2006/main">
            <a:off x="1625600" y="3454400"/>
            <a:ext cx="13004800" cy="132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4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32776C5-5371-44D9-A3D0-3EF5CCF90346}"/>
              </a:ext>
            </a:extLst>
          </p:cNvPr>
          <p:cNvSpPr>
            <a:spLocks xmlns:a="http://schemas.openxmlformats.org/drawingml/2006/main" noGrp="1"/>
          </p:cNvSpPr>
          <p:nvPr>
            <p:ph type="subTitle" idx="1"/>
          </p:nvPr>
        </p:nvSpPr>
        <p:spPr>
          <a:xfrm xmlns:a="http://schemas.openxmlformats.org/drawingml/2006/main">
            <a:off x="2438400" y="5029200"/>
            <a:ext cx="11379200" cy="1016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8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2954A8-CF0B-42C0-8314-8301CC9FB859}"/>
              </a:ext>
            </a:extLst>
          </p:cNvPr>
          <p:cNvSpPr>
            <a:spLocks xmlns:a="http://schemas.openxmlformats.org/drawingml/2006/main" noGrp="1"/>
          </p:cNvSpPr>
          <p:nvPr>
            <p:ph type="title" idx="0"/>
          </p:nvPr>
        </p:nvSpPr>
        <p:spPr>
          <a:xfrm xmlns:a="http://schemas.openxmlformats.org/drawingml/2006/main">
            <a:off x="1625600" y="3810000"/>
            <a:ext cx="13004800" cy="152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234DEA-BC3A-4ACA-8714-F3C5B1D84FB5}"/>
              </a:ext>
            </a:extLst>
          </p:cNvPr>
          <p:cNvSpPr>
            <a:spLocks xmlns:a="http://schemas.openxmlformats.org/drawingml/2006/main" noGrp="1"/>
          </p:cNvSpPr>
          <p:nvPr>
            <p:ph type="title" idx="0"/>
          </p:nvPr>
        </p:nvSpPr>
        <p:spPr>
          <a:xfrm xmlns:a="http://schemas.openxmlformats.org/drawingml/2006/main">
            <a:off x="914400" y="711200"/>
            <a:ext cx="1442720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4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57EFD61-5AD5-4475-832C-CD5A8F1F7632}"/>
              </a:ext>
            </a:extLst>
          </p:cNvPr>
          <p:cNvSpPr>
            <a:spLocks xmlns:a="http://schemas.openxmlformats.org/drawingml/2006/main" noGrp="1"/>
          </p:cNvSpPr>
          <p:nvPr>
            <p:ph type="body" idx="1"/>
          </p:nvPr>
        </p:nvSpPr>
        <p:spPr>
          <a:xfrm xmlns:a="http://schemas.openxmlformats.org/drawingml/2006/main">
            <a:off x="914400" y="2540000"/>
            <a:ext cx="14427200" cy="568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000" b="0">
                <a:solidFill>
                  <a:schemeClr val="tx1"/>
                </a:solidFill>
                <a:latin typeface="+mn-lt"/>
                <a:ea typeface="+mn-lt"/>
                <a:cs typeface="+mn-lt"/>
              </a:defRPr>
            </a:defPPr>
            <a:lvl1pPr marL="304800" indent="-304800">
              <a:lnSpc>
                <a:spcPct val="110000"/>
              </a:lnSpc>
              <a:spcBef>
                <a:spcPts val="0"/>
              </a:spcBef>
              <a:spcAft>
                <a:spcPts val="1600"/>
              </a:spcAft>
              <a:buChar char="•"/>
            </a:lvl1pPr>
            <a:lvl2pPr marL="711200" indent="-304800">
              <a:lnSpc>
                <a:spcPct val="110000"/>
              </a:lnSpc>
              <a:spcBef>
                <a:spcPts val="0"/>
              </a:spcBef>
              <a:spcAft>
                <a:spcPts val="1600"/>
              </a:spcAft>
              <a:buChar char="•"/>
            </a:lvl2pPr>
            <a:lvl3pPr marL="1117600" indent="-304800">
              <a:lnSpc>
                <a:spcPct val="110000"/>
              </a:lnSpc>
              <a:spcBef>
                <a:spcPts val="0"/>
              </a:spcBef>
              <a:spcAft>
                <a:spcPts val="1600"/>
              </a:spcAft>
              <a:buChar char="•"/>
            </a:lvl3pPr>
            <a:lvl4pPr marL="1524000" indent="-304800">
              <a:lnSpc>
                <a:spcPct val="110000"/>
              </a:lnSpc>
              <a:spcBef>
                <a:spcPts val="0"/>
              </a:spcBef>
              <a:spcAft>
                <a:spcPts val="1600"/>
              </a:spcAft>
              <a:buChar char="•"/>
            </a:lvl4pPr>
            <a:lvl5pPr marL="1930400" indent="-304800">
              <a:lnSpc>
                <a:spcPct val="110000"/>
              </a:lnSpc>
              <a:spcBef>
                <a:spcPts val="0"/>
              </a:spcBef>
              <a:spcAft>
                <a:spcPts val="1600"/>
              </a:spcAft>
              <a:buChar char="•"/>
            </a:lvl5pPr>
            <a:lvl6pPr marL="2336800" indent="-304800">
              <a:lnSpc>
                <a:spcPct val="110000"/>
              </a:lnSpc>
              <a:spcBef>
                <a:spcPts val="0"/>
              </a:spcBef>
              <a:spcAft>
                <a:spcPts val="1600"/>
              </a:spcAft>
              <a:buChar char="•"/>
            </a:lvl6pPr>
            <a:lvl7pPr marL="2743200" indent="-304800">
              <a:lnSpc>
                <a:spcPct val="110000"/>
              </a:lnSpc>
              <a:spcBef>
                <a:spcPts val="0"/>
              </a:spcBef>
              <a:spcAft>
                <a:spcPts val="1600"/>
              </a:spcAft>
              <a:buChar char="•"/>
            </a:lvl7pPr>
            <a:lvl8pPr marL="3149600" indent="-304800">
              <a:lnSpc>
                <a:spcPct val="110000"/>
              </a:lnSpc>
              <a:spcBef>
                <a:spcPts val="0"/>
              </a:spcBef>
              <a:spcAft>
                <a:spcPts val="1600"/>
              </a:spcAft>
              <a:buChar char="•"/>
            </a:lvl8pPr>
            <a:lvl9pPr marL="3556000" indent="-304800">
              <a:lnSpc>
                <a:spcPct val="110000"/>
              </a:lnSpc>
              <a:spcBef>
                <a:spcPts val="0"/>
              </a:spcBef>
              <a:spcAft>
                <a:spcPts val="16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97DE288-68FA-41EA-8E15-2C0B763011B5}"/>
              </a:ext>
            </a:extLst>
          </p:cNvPr>
          <p:cNvSpPr>
            <a:spLocks xmlns:a="http://schemas.openxmlformats.org/drawingml/2006/main" noGrp="1"/>
          </p:cNvSpPr>
          <p:nvPr>
            <p:ph type="title" idx="0"/>
          </p:nvPr>
        </p:nvSpPr>
        <p:spPr>
          <a:xfrm xmlns:a="http://schemas.openxmlformats.org/drawingml/2006/main">
            <a:off x="914400" y="711200"/>
            <a:ext cx="1442720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4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5F1C31B-6DF0-4095-8E0D-1E319B965073}"/>
              </a:ext>
            </a:extLst>
          </p:cNvPr>
          <p:cNvSpPr>
            <a:spLocks xmlns:a="http://schemas.openxmlformats.org/drawingml/2006/main" noGrp="1"/>
          </p:cNvSpPr>
          <p:nvPr>
            <p:ph type="body" idx="1"/>
          </p:nvPr>
        </p:nvSpPr>
        <p:spPr>
          <a:xfrm xmlns:a="http://schemas.openxmlformats.org/drawingml/2006/main">
            <a:off x="914400" y="2540000"/>
            <a:ext cx="6705600" cy="568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00" b="0">
                <a:solidFill>
                  <a:schemeClr val="tx1"/>
                </a:solidFill>
                <a:latin typeface="+mn-lt"/>
                <a:ea typeface="+mn-lt"/>
                <a:cs typeface="+mn-lt"/>
              </a:defRPr>
            </a:defPPr>
            <a:lvl1pPr marL="304800" indent="-304800">
              <a:lnSpc>
                <a:spcPct val="110000"/>
              </a:lnSpc>
              <a:spcBef>
                <a:spcPts val="0"/>
              </a:spcBef>
              <a:spcAft>
                <a:spcPts val="1600"/>
              </a:spcAft>
              <a:buChar char="•"/>
            </a:lvl1pPr>
            <a:lvl2pPr marL="711200" indent="-304800">
              <a:lnSpc>
                <a:spcPct val="110000"/>
              </a:lnSpc>
              <a:spcBef>
                <a:spcPts val="0"/>
              </a:spcBef>
              <a:spcAft>
                <a:spcPts val="1600"/>
              </a:spcAft>
              <a:buChar char="•"/>
            </a:lvl2pPr>
            <a:lvl3pPr marL="1117600" indent="-304800">
              <a:lnSpc>
                <a:spcPct val="110000"/>
              </a:lnSpc>
              <a:spcBef>
                <a:spcPts val="0"/>
              </a:spcBef>
              <a:spcAft>
                <a:spcPts val="1600"/>
              </a:spcAft>
              <a:buChar char="•"/>
            </a:lvl3pPr>
            <a:lvl4pPr marL="1524000" indent="-304800">
              <a:lnSpc>
                <a:spcPct val="110000"/>
              </a:lnSpc>
              <a:spcBef>
                <a:spcPts val="0"/>
              </a:spcBef>
              <a:spcAft>
                <a:spcPts val="1600"/>
              </a:spcAft>
              <a:buChar char="•"/>
            </a:lvl4pPr>
            <a:lvl5pPr marL="1930400" indent="-304800">
              <a:lnSpc>
                <a:spcPct val="110000"/>
              </a:lnSpc>
              <a:spcBef>
                <a:spcPts val="0"/>
              </a:spcBef>
              <a:spcAft>
                <a:spcPts val="1600"/>
              </a:spcAft>
              <a:buChar char="•"/>
            </a:lvl5pPr>
            <a:lvl6pPr marL="2336800" indent="-304800">
              <a:lnSpc>
                <a:spcPct val="110000"/>
              </a:lnSpc>
              <a:spcBef>
                <a:spcPts val="0"/>
              </a:spcBef>
              <a:spcAft>
                <a:spcPts val="1600"/>
              </a:spcAft>
              <a:buChar char="•"/>
            </a:lvl6pPr>
            <a:lvl7pPr marL="2743200" indent="-304800">
              <a:lnSpc>
                <a:spcPct val="110000"/>
              </a:lnSpc>
              <a:spcBef>
                <a:spcPts val="0"/>
              </a:spcBef>
              <a:spcAft>
                <a:spcPts val="1600"/>
              </a:spcAft>
              <a:buChar char="•"/>
            </a:lvl7pPr>
            <a:lvl8pPr marL="3149600" indent="-304800">
              <a:lnSpc>
                <a:spcPct val="110000"/>
              </a:lnSpc>
              <a:spcBef>
                <a:spcPts val="0"/>
              </a:spcBef>
              <a:spcAft>
                <a:spcPts val="1600"/>
              </a:spcAft>
              <a:buChar char="•"/>
            </a:lvl8pPr>
            <a:lvl9pPr marL="3556000" indent="-304800">
              <a:lnSpc>
                <a:spcPct val="110000"/>
              </a:lnSpc>
              <a:spcBef>
                <a:spcPts val="0"/>
              </a:spcBef>
              <a:spcAft>
                <a:spcPts val="16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C4F1E63-E99F-4220-A0B0-E99DF0164610}"/>
              </a:ext>
            </a:extLst>
          </p:cNvPr>
          <p:cNvSpPr>
            <a:spLocks xmlns:a="http://schemas.openxmlformats.org/drawingml/2006/main" noGrp="1"/>
          </p:cNvSpPr>
          <p:nvPr>
            <p:ph type="body" idx="2"/>
          </p:nvPr>
        </p:nvSpPr>
        <p:spPr>
          <a:xfrm xmlns:a="http://schemas.openxmlformats.org/drawingml/2006/main">
            <a:off x="8636000" y="2540000"/>
            <a:ext cx="6705600" cy="568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00" b="0">
                <a:solidFill>
                  <a:schemeClr val="tx1"/>
                </a:solidFill>
                <a:latin typeface="+mn-lt"/>
                <a:ea typeface="+mn-lt"/>
                <a:cs typeface="+mn-lt"/>
              </a:defRPr>
            </a:defPPr>
            <a:lvl1pPr marL="304800" indent="-304800">
              <a:lnSpc>
                <a:spcPct val="110000"/>
              </a:lnSpc>
              <a:spcBef>
                <a:spcPts val="0"/>
              </a:spcBef>
              <a:spcAft>
                <a:spcPts val="1600"/>
              </a:spcAft>
              <a:buChar char="•"/>
            </a:lvl1pPr>
            <a:lvl2pPr marL="711200" indent="-304800">
              <a:lnSpc>
                <a:spcPct val="110000"/>
              </a:lnSpc>
              <a:spcBef>
                <a:spcPts val="0"/>
              </a:spcBef>
              <a:spcAft>
                <a:spcPts val="1600"/>
              </a:spcAft>
              <a:buChar char="•"/>
            </a:lvl2pPr>
            <a:lvl3pPr marL="1117600" indent="-304800">
              <a:lnSpc>
                <a:spcPct val="110000"/>
              </a:lnSpc>
              <a:spcBef>
                <a:spcPts val="0"/>
              </a:spcBef>
              <a:spcAft>
                <a:spcPts val="1600"/>
              </a:spcAft>
              <a:buChar char="•"/>
            </a:lvl3pPr>
            <a:lvl4pPr marL="1524000" indent="-304800">
              <a:lnSpc>
                <a:spcPct val="110000"/>
              </a:lnSpc>
              <a:spcBef>
                <a:spcPts val="0"/>
              </a:spcBef>
              <a:spcAft>
                <a:spcPts val="1600"/>
              </a:spcAft>
              <a:buChar char="•"/>
            </a:lvl4pPr>
            <a:lvl5pPr marL="1930400" indent="-304800">
              <a:lnSpc>
                <a:spcPct val="110000"/>
              </a:lnSpc>
              <a:spcBef>
                <a:spcPts val="0"/>
              </a:spcBef>
              <a:spcAft>
                <a:spcPts val="1600"/>
              </a:spcAft>
              <a:buChar char="•"/>
            </a:lvl5pPr>
            <a:lvl6pPr marL="2336800" indent="-304800">
              <a:lnSpc>
                <a:spcPct val="110000"/>
              </a:lnSpc>
              <a:spcBef>
                <a:spcPts val="0"/>
              </a:spcBef>
              <a:spcAft>
                <a:spcPts val="1600"/>
              </a:spcAft>
              <a:buChar char="•"/>
            </a:lvl6pPr>
            <a:lvl7pPr marL="2743200" indent="-304800">
              <a:lnSpc>
                <a:spcPct val="110000"/>
              </a:lnSpc>
              <a:spcBef>
                <a:spcPts val="0"/>
              </a:spcBef>
              <a:spcAft>
                <a:spcPts val="1600"/>
              </a:spcAft>
              <a:buChar char="•"/>
            </a:lvl7pPr>
            <a:lvl8pPr marL="3149600" indent="-304800">
              <a:lnSpc>
                <a:spcPct val="110000"/>
              </a:lnSpc>
              <a:spcBef>
                <a:spcPts val="0"/>
              </a:spcBef>
              <a:spcAft>
                <a:spcPts val="1600"/>
              </a:spcAft>
              <a:buChar char="•"/>
            </a:lvl8pPr>
            <a:lvl9pPr marL="3556000" indent="-304800">
              <a:lnSpc>
                <a:spcPct val="110000"/>
              </a:lnSpc>
              <a:spcBef>
                <a:spcPts val="0"/>
              </a:spcBef>
              <a:spcAft>
                <a:spcPts val="16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A44312-6095-4CEE-80C2-B5A8A6013CBD}"/>
              </a:ext>
            </a:extLst>
          </p:cNvPr>
          <p:cNvSpPr>
            <a:spLocks xmlns:a="http://schemas.openxmlformats.org/drawingml/2006/main" noGrp="1"/>
          </p:cNvSpPr>
          <p:nvPr>
            <p:ph type="title" idx="0"/>
          </p:nvPr>
        </p:nvSpPr>
        <p:spPr>
          <a:xfrm xmlns:a="http://schemas.openxmlformats.org/drawingml/2006/main">
            <a:off x="914400" y="711200"/>
            <a:ext cx="1442720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4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B21C2B-A53B-47C7-9083-89A2C89F5A97}"/>
              </a:ext>
            </a:extLst>
          </p:cNvPr>
          <p:cNvSpPr>
            <a:spLocks xmlns:a="http://schemas.openxmlformats.org/drawingml/2006/main" noGrp="1"/>
          </p:cNvSpPr>
          <p:nvPr>
            <p:ph type="body" idx="1"/>
          </p:nvPr>
        </p:nvSpPr>
        <p:spPr>
          <a:xfrm xmlns:a="http://schemas.openxmlformats.org/drawingml/2006/main">
            <a:off x="914400" y="2540000"/>
            <a:ext cx="6705600" cy="568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000" b="0">
                <a:solidFill>
                  <a:schemeClr val="tx1"/>
                </a:solidFill>
                <a:latin typeface="+mn-lt"/>
                <a:ea typeface="+mn-lt"/>
                <a:cs typeface="+mn-lt"/>
              </a:defRPr>
            </a:defPPr>
            <a:lvl1pPr marL="304800" indent="-304800">
              <a:lnSpc>
                <a:spcPct val="110000"/>
              </a:lnSpc>
              <a:spcBef>
                <a:spcPts val="0"/>
              </a:spcBef>
              <a:spcAft>
                <a:spcPts val="1600"/>
              </a:spcAft>
              <a:buChar char="•"/>
            </a:lvl1pPr>
            <a:lvl2pPr marL="711200" indent="-304800">
              <a:lnSpc>
                <a:spcPct val="110000"/>
              </a:lnSpc>
              <a:spcBef>
                <a:spcPts val="0"/>
              </a:spcBef>
              <a:spcAft>
                <a:spcPts val="1600"/>
              </a:spcAft>
              <a:buChar char="•"/>
            </a:lvl2pPr>
            <a:lvl3pPr marL="1117600" indent="-304800">
              <a:lnSpc>
                <a:spcPct val="110000"/>
              </a:lnSpc>
              <a:spcBef>
                <a:spcPts val="0"/>
              </a:spcBef>
              <a:spcAft>
                <a:spcPts val="1600"/>
              </a:spcAft>
              <a:buChar char="•"/>
            </a:lvl3pPr>
            <a:lvl4pPr marL="1524000" indent="-304800">
              <a:lnSpc>
                <a:spcPct val="110000"/>
              </a:lnSpc>
              <a:spcBef>
                <a:spcPts val="0"/>
              </a:spcBef>
              <a:spcAft>
                <a:spcPts val="1600"/>
              </a:spcAft>
              <a:buChar char="•"/>
            </a:lvl4pPr>
            <a:lvl5pPr marL="1930400" indent="-304800">
              <a:lnSpc>
                <a:spcPct val="110000"/>
              </a:lnSpc>
              <a:spcBef>
                <a:spcPts val="0"/>
              </a:spcBef>
              <a:spcAft>
                <a:spcPts val="1600"/>
              </a:spcAft>
              <a:buChar char="•"/>
            </a:lvl5pPr>
            <a:lvl6pPr marL="2336800" indent="-304800">
              <a:lnSpc>
                <a:spcPct val="110000"/>
              </a:lnSpc>
              <a:spcBef>
                <a:spcPts val="0"/>
              </a:spcBef>
              <a:spcAft>
                <a:spcPts val="1600"/>
              </a:spcAft>
              <a:buChar char="•"/>
            </a:lvl6pPr>
            <a:lvl7pPr marL="2743200" indent="-304800">
              <a:lnSpc>
                <a:spcPct val="110000"/>
              </a:lnSpc>
              <a:spcBef>
                <a:spcPts val="0"/>
              </a:spcBef>
              <a:spcAft>
                <a:spcPts val="1600"/>
              </a:spcAft>
              <a:buChar char="•"/>
            </a:lvl7pPr>
            <a:lvl8pPr marL="3149600" indent="-304800">
              <a:lnSpc>
                <a:spcPct val="110000"/>
              </a:lnSpc>
              <a:spcBef>
                <a:spcPts val="0"/>
              </a:spcBef>
              <a:spcAft>
                <a:spcPts val="1600"/>
              </a:spcAft>
              <a:buChar char="•"/>
            </a:lvl8pPr>
            <a:lvl9pPr marL="3556000" indent="-304800">
              <a:lnSpc>
                <a:spcPct val="110000"/>
              </a:lnSpc>
              <a:spcBef>
                <a:spcPts val="0"/>
              </a:spcBef>
              <a:spcAft>
                <a:spcPts val="16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84116f94cb429f" /><Relationship Type="http://schemas.openxmlformats.org/officeDocument/2006/relationships/slideLayout" Target="/ppt/slideLayouts/slideLayout1.xml" Id="R6cbccfeb330e49fa" /><Relationship Type="http://schemas.openxmlformats.org/officeDocument/2006/relationships/slideLayout" Target="/ppt/slideLayouts/slideLayout2.xml" Id="R20ba338057b44652" /><Relationship Type="http://schemas.openxmlformats.org/officeDocument/2006/relationships/slideLayout" Target="/ppt/slideLayouts/slideLayout3.xml" Id="Rf19cb2eb03244e7f" /><Relationship Type="http://schemas.openxmlformats.org/officeDocument/2006/relationships/slideLayout" Target="/ppt/slideLayouts/slideLayout4.xml" Id="R77205c9e69c54382" /><Relationship Type="http://schemas.openxmlformats.org/officeDocument/2006/relationships/slideLayout" Target="/ppt/slideLayouts/slideLayout5.xml" Id="Racb33aa0ba5e41c7" /><Relationship Type="http://schemas.openxmlformats.org/officeDocument/2006/relationships/slideLayout" Target="/ppt/slideLayouts/slideLayout6.xml" Id="Re9ec4e76b5df4ad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bccfeb330e49fa"/>
    <p:sldLayoutId xmlns:r="http://schemas.openxmlformats.org/officeDocument/2006/relationships" id="2147483650" r:id="R20ba338057b44652"/>
    <p:sldLayoutId xmlns:r="http://schemas.openxmlformats.org/officeDocument/2006/relationships" id="2147483651" r:id="Rf19cb2eb03244e7f"/>
    <p:sldLayoutId xmlns:r="http://schemas.openxmlformats.org/officeDocument/2006/relationships" id="2147483652" r:id="R77205c9e69c54382"/>
    <p:sldLayoutId xmlns:r="http://schemas.openxmlformats.org/officeDocument/2006/relationships" id="2147483653" r:id="Racb33aa0ba5e41c7"/>
    <p:sldLayoutId xmlns:r="http://schemas.openxmlformats.org/officeDocument/2006/relationships" id="2147483654" r:id="Re9ec4e76b5df4a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aa7b9e85e314c9a" /><Relationship Type="http://schemas.openxmlformats.org/officeDocument/2006/relationships/image" Target="/ppt/media/image.jpeg" Id="Re2e5f83be0234b64" /><Relationship Type="http://schemas.openxmlformats.org/officeDocument/2006/relationships/image" Target="/ppt/media/image.png" Id="R1fe42660691444ad" /><Relationship Type="http://schemas.openxmlformats.org/officeDocument/2006/relationships/image" Target="/ppt/media/image2.png" Id="R625eff1cc65f4250" /><Relationship Type="http://schemas.openxmlformats.org/officeDocument/2006/relationships/notesSlide" Target="/ppt/notesSlides/notesSlide1.xml" Id="R5989207f3d6841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34e3a6e78974091" /><Relationship Type="http://schemas.openxmlformats.org/officeDocument/2006/relationships/image" Target="/ppt/media/image3.png" Id="Re8c29d01f83e450c" /><Relationship Type="http://schemas.openxmlformats.org/officeDocument/2006/relationships/image" Target="/ppt/media/image4.png" Id="Ra2ed75ecb433417e" /><Relationship Type="http://schemas.openxmlformats.org/officeDocument/2006/relationships/notesSlide" Target="/ppt/notesSlides/notesSlide2.xml" Id="R16f9a58fd8ea41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7462c30dd244e19" /><Relationship Type="http://schemas.openxmlformats.org/officeDocument/2006/relationships/image" Target="/ppt/media/image5.png" Id="Rcad1231943df4b20" /><Relationship Type="http://schemas.openxmlformats.org/officeDocument/2006/relationships/image" Target="/ppt/media/image6.png" Id="Rfc21eb145b6c43f9" /><Relationship Type="http://schemas.openxmlformats.org/officeDocument/2006/relationships/notesSlide" Target="/ppt/notesSlides/notesSlide3.xml" Id="Rb2eb57e3db5b4b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fc999d6dbf5472c" /><Relationship Type="http://schemas.openxmlformats.org/officeDocument/2006/relationships/image" Target="/ppt/media/image7.png" Id="R1e55500d666249c6" /><Relationship Type="http://schemas.openxmlformats.org/officeDocument/2006/relationships/image" Target="/ppt/media/image8.png" Id="R93189cd1b8524352" /><Relationship Type="http://schemas.openxmlformats.org/officeDocument/2006/relationships/image" Target="/ppt/media/image2.jpeg" Id="R0035019f1ee0432a" /><Relationship Type="http://schemas.openxmlformats.org/officeDocument/2006/relationships/notesSlide" Target="/ppt/notesSlides/notesSlide4.xml" Id="R4c014576382e4e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bac2545ea764024" /><Relationship Type="http://schemas.openxmlformats.org/officeDocument/2006/relationships/image" Target="/ppt/media/image9.png" Id="Rc23b518cd31144bc" /><Relationship Type="http://schemas.openxmlformats.org/officeDocument/2006/relationships/image" Target="/ppt/media/image10.png" Id="Rebb36fddf11b43f7" /><Relationship Type="http://schemas.openxmlformats.org/officeDocument/2006/relationships/notesSlide" Target="/ppt/notesSlides/notesSlide5.xml" Id="R2c6496191b7144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cd18fe9aa9740d2" /><Relationship Type="http://schemas.openxmlformats.org/officeDocument/2006/relationships/image" Target="/ppt/media/image11.png" Id="R001b39ab955b469b" /><Relationship Type="http://schemas.openxmlformats.org/officeDocument/2006/relationships/image" Target="/ppt/media/image12.png" Id="Raf492ed45f594fe0" /><Relationship Type="http://schemas.openxmlformats.org/officeDocument/2006/relationships/notesSlide" Target="/ppt/notesSlides/notesSlide6.xml" Id="Rc792db17f34743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72d1fd6209f4717" /><Relationship Type="http://schemas.openxmlformats.org/officeDocument/2006/relationships/image" Target="/ppt/media/image13.png" Id="R844cc0eaedb84fef" /><Relationship Type="http://schemas.openxmlformats.org/officeDocument/2006/relationships/image" Target="/ppt/media/image14.png" Id="R1c228ae5b6254aa5" /><Relationship Type="http://schemas.openxmlformats.org/officeDocument/2006/relationships/notesSlide" Target="/ppt/notesSlides/notesSlide7.xml" Id="R05c85406525245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c402e08d454464a" /><Relationship Type="http://schemas.openxmlformats.org/officeDocument/2006/relationships/image" Target="/ppt/media/image15.png" Id="R2276c851727f4899" /><Relationship Type="http://schemas.openxmlformats.org/officeDocument/2006/relationships/image" Target="/ppt/media/image16.png" Id="Rebcbb38eb54e41e2" /><Relationship Type="http://schemas.openxmlformats.org/officeDocument/2006/relationships/notesSlide" Target="/ppt/notesSlides/notesSlide8.xml" Id="Rf372fb80d11543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ea665bfb2794cac" /><Relationship Type="http://schemas.openxmlformats.org/officeDocument/2006/relationships/image" Target="/ppt/media/image17.png" Id="R5f64c27c0f754eb5" /><Relationship Type="http://schemas.openxmlformats.org/officeDocument/2006/relationships/image" Target="/ppt/media/image18.png" Id="R746c625a1fcb4487" /><Relationship Type="http://schemas.openxmlformats.org/officeDocument/2006/relationships/notesSlide" Target="/ppt/notesSlides/notesSlide9.xml" Id="R16e7fdb9fc434d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e25127e440642a2" /><Relationship Type="http://schemas.openxmlformats.org/officeDocument/2006/relationships/image" Target="/ppt/media/image19.png" Id="Rf60d89eece6e4ec2" /><Relationship Type="http://schemas.openxmlformats.org/officeDocument/2006/relationships/image" Target="/ppt/media/image20.png" Id="R69ab6a68036e4317" /><Relationship Type="http://schemas.openxmlformats.org/officeDocument/2006/relationships/notesSlide" Target="/ppt/notesSlides/notesSlide10.xml" Id="R90d1c642de4142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8a1e8170e074360" /><Relationship Type="http://schemas.openxmlformats.org/officeDocument/2006/relationships/image" Target="/ppt/media/image21.png" Id="R50debc5a65e74933" /><Relationship Type="http://schemas.openxmlformats.org/officeDocument/2006/relationships/image" Target="/ppt/media/image22.png" Id="R75bb90baec4f45d1" /><Relationship Type="http://schemas.openxmlformats.org/officeDocument/2006/relationships/notesSlide" Target="/ppt/notesSlides/notesSlide11.xml" Id="R18568588a81245b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d62586269ce425f" /><Relationship Type="http://schemas.openxmlformats.org/officeDocument/2006/relationships/image" Target="/ppt/media/image23.png" Id="R5a27f0512d0e4368" /><Relationship Type="http://schemas.openxmlformats.org/officeDocument/2006/relationships/image" Target="/ppt/media/image24.png" Id="Rfa8dfe6a8db84b18" /><Relationship Type="http://schemas.openxmlformats.org/officeDocument/2006/relationships/notesSlide" Target="/ppt/notesSlides/notesSlide12.xml" Id="R57add76cee1f464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a50cbb19fd54e13" /><Relationship Type="http://schemas.openxmlformats.org/officeDocument/2006/relationships/image" Target="/ppt/media/image25.png" Id="Rb340718e93584881" /><Relationship Type="http://schemas.openxmlformats.org/officeDocument/2006/relationships/image" Target="/ppt/media/image26.png" Id="R991d2c460aca4223" /><Relationship Type="http://schemas.openxmlformats.org/officeDocument/2006/relationships/notesSlide" Target="/ppt/notesSlides/notesSlide13.xml" Id="Rdf7945484a41458f" /></Relationships>
</file>

<file path=ppt/slides/slide1.xml><?xml version="1.0" encoding="utf-8"?>
<p:sld xmlns:p="http://schemas.openxmlformats.org/presentationml/2006/main">
  <p:cSld>
    <p:bg>
      <p:bgPr>
        <a:solidFill xmlns:a="http://schemas.openxmlformats.org/drawingml/2006/main">
          <a:srgbClr val="09191B"/>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07BC4A4B-69AC-455D-B492-3EA475393E45}"/>
              </a:ext>
            </a:extLst>
          </p:cNvPr>
          <p:cNvPicPr>
            <a:picLocks xmlns:a="http://schemas.openxmlformats.org/drawingml/2006/main" noChangeAspect="1"/>
          </p:cNvPicPr>
          <p:nvPr/>
        </p:nvPicPr>
        <p:blipFill>
          <a:blip xmlns:r="http://schemas.openxmlformats.org/officeDocument/2006/relationships" xmlns:a="http://schemas.openxmlformats.org/drawingml/2006/main" r:embed="Re2e5f83be0234b64"/>
          <a:srcRect xmlns:a="http://schemas.openxmlformats.org/drawingml/2006/main" l="17188" t="0" r="17188" b="0"/>
          <a:stretch xmlns:a="http://schemas.openxmlformats.org/drawingml/2006/main">
            <a:fillRect l="0" t="0" r="0" b="0"/>
          </a:stretch>
        </p:blipFill>
        <p:spPr>
          <a:xfrm xmlns:a="http://schemas.openxmlformats.org/drawingml/2006/main">
            <a:off x="8255000" y="0"/>
            <a:ext cx="8001000" cy="914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BE6628F-F067-41A2-B92C-5D91B0B4ABFD}"/>
              </a:ext>
            </a:extLst>
          </p:cNvPr>
          <p:cNvSpPr>
            <a:spLocks xmlns:a="http://schemas.openxmlformats.org/drawingml/2006/main" noGrp="1"/>
          </p:cNvSpPr>
          <p:nvPr/>
        </p:nvSpPr>
        <p:spPr>
          <a:xfrm xmlns:a="http://schemas.openxmlformats.org/drawingml/2006/main">
            <a:off x="0" y="0"/>
            <a:ext cx="10350500" cy="9144000"/>
          </a:xfrm>
          <a:prstGeom xmlns:a="http://schemas.openxmlformats.org/drawingml/2006/main" prst="rect">
            <a:avLst/>
          </a:prstGeom>
          <a:solidFill xmlns:a="http://schemas.openxmlformats.org/drawingml/2006/main">
            <a:srgbClr val="09191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AC814AE-C5B4-4A0C-AFFC-8AE7A85BFA9E}"/>
              </a:ext>
            </a:extLst>
          </p:cNvPr>
          <p:cNvSpPr>
            <a:spLocks xmlns:a="http://schemas.openxmlformats.org/drawingml/2006/main" noGrp="1"/>
          </p:cNvSpPr>
          <p:nvPr/>
        </p:nvSpPr>
        <p:spPr>
          <a:xfrm xmlns:a="http://schemas.openxmlformats.org/drawingml/2006/main">
            <a:off x="10350500" y="0"/>
            <a:ext cx="5905500" cy="9144000"/>
          </a:xfrm>
          <a:prstGeom xmlns:a="http://schemas.openxmlformats.org/drawingml/2006/main" prst="rect">
            <a:avLst/>
          </a:prstGeom>
          <a:solidFill xmlns:a="http://schemas.openxmlformats.org/drawingml/2006/main">
            <a:srgbClr val="09191B">
              <a:alpha val="18000"/>
            </a:srgbClr>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84A136B-4F63-4A7D-A7FB-08999CCE02BE}"/>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5" name="">
            <a:extLst xmlns:a="http://schemas.openxmlformats.org/drawingml/2006/main">
              <a:ext uri="{FF2B5EF4-FFF2-40B4-BE49-F238E27FC236}">
                <a16:creationId xmlns:a16="http://schemas.microsoft.com/office/drawing/2014/main" id="{2669F150-8855-4972-B8AE-4DF62A2D877E}"/>
              </a:ext>
            </a:extLst>
          </p:cNvPr>
          <p:cNvPicPr>
            <a:picLocks xmlns:a="http://schemas.openxmlformats.org/drawingml/2006/main" noChangeAspect="1"/>
          </p:cNvPicPr>
          <p:nvPr/>
        </p:nvPicPr>
        <p:blipFill>
          <a:blip xmlns:r="http://schemas.openxmlformats.org/officeDocument/2006/relationships" xmlns:a="http://schemas.openxmlformats.org/drawingml/2006/main" r:embed="R1fe42660691444ad"/>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BECF656-027E-417F-8416-90BFFA05AF5C}"/>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7" name="">
            <a:extLst xmlns:a="http://schemas.openxmlformats.org/drawingml/2006/main">
              <a:ext uri="{FF2B5EF4-FFF2-40B4-BE49-F238E27FC236}">
                <a16:creationId xmlns:a16="http://schemas.microsoft.com/office/drawing/2014/main" id="{1EE2029F-4F1E-48B3-9056-CF9DF055086E}"/>
              </a:ext>
            </a:extLst>
          </p:cNvPr>
          <p:cNvPicPr>
            <a:picLocks xmlns:a="http://schemas.openxmlformats.org/drawingml/2006/main" noChangeAspect="1"/>
          </p:cNvPicPr>
          <p:nvPr/>
        </p:nvPicPr>
        <p:blipFill>
          <a:blip xmlns:r="http://schemas.openxmlformats.org/officeDocument/2006/relationships" xmlns:a="http://schemas.openxmlformats.org/drawingml/2006/main" r:embed="R625eff1cc65f4250"/>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8" name="AILANTO PER ALPS BATTERY · SEGMENTO">
            <a:extLst xmlns:a="http://schemas.openxmlformats.org/drawingml/2006/main">
              <a:ext uri="{FF2B5EF4-FFF2-40B4-BE49-F238E27FC236}">
                <a16:creationId xmlns:a16="http://schemas.microsoft.com/office/drawing/2014/main" id="{DB0A6B9C-F0AE-46BA-B30D-135F246066BC}"/>
              </a:ext>
            </a:extLst>
          </p:cNvPr>
          <p:cNvSpPr>
            <a:spLocks xmlns:a="http://schemas.openxmlformats.org/drawingml/2006/main" noGrp="1"/>
          </p:cNvSpPr>
          <p:nvPr/>
        </p:nvSpPr>
        <p:spPr>
          <a:xfrm xmlns:a="http://schemas.openxmlformats.org/drawingml/2006/main">
            <a:off x="914400" y="1917700"/>
            <a:ext cx="13970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1">
                <a:solidFill>
                  <a:srgbClr val="C8F67C"/>
                </a:solidFill>
                <a:latin typeface="Liberation Sans"/>
                <a:ea typeface="Liberation Sans"/>
                <a:cs typeface="Liberation Sans"/>
              </a:defRPr>
            </a:defPPr>
          </a:lstStyle>
          <a:p xmlns:a="http://schemas.openxmlformats.org/drawingml/2006/main">
            <a:pPr>
              <a:lnSpc>
                <a:spcPct val="108000"/>
              </a:lnSpc>
              <a:buNone/>
              <a:defRPr sz="1400" b="1">
                <a:solidFill>
                  <a:srgbClr val="C8F67C"/>
                </a:solidFill>
                <a:latin typeface="Liberation Sans"/>
                <a:ea typeface="Liberation Sans"/>
                <a:cs typeface="Liberation Sans"/>
              </a:defRPr>
            </a:pPr>
            <a:r>
              <a:rPr sz="1400" b="1">
                <a:solidFill>
                  <a:srgbClr val="C8F67C"/>
                </a:solidFill>
                <a:latin typeface="Liberation Sans"/>
                <a:ea typeface="Liberation Sans"/>
                <a:cs typeface="Liberation Sans"/>
              </a:rPr>
              <a:t>AILANTO PER ALPS BATTERY · SEGMENTO</a:t>
            </a:r>
          </a:p>
        </p:txBody>
      </p:sp>
      <p:sp>
        <p:nvSpPr>
          <p:cNvPr id="9" name="Il passaporto&#10;della batteria.&#10;Il valore dei suoi dat">
            <a:extLst xmlns:a="http://schemas.openxmlformats.org/drawingml/2006/main">
              <a:ext uri="{FF2B5EF4-FFF2-40B4-BE49-F238E27FC236}">
                <a16:creationId xmlns:a16="http://schemas.microsoft.com/office/drawing/2014/main" id="{63BE28F5-8844-4828-81D5-4BC721A688D3}"/>
              </a:ext>
            </a:extLst>
          </p:cNvPr>
          <p:cNvSpPr>
            <a:spLocks xmlns:a="http://schemas.openxmlformats.org/drawingml/2006/main" noGrp="1"/>
          </p:cNvSpPr>
          <p:nvPr/>
        </p:nvSpPr>
        <p:spPr>
          <a:xfrm xmlns:a="http://schemas.openxmlformats.org/drawingml/2006/main">
            <a:off x="914400" y="2628900"/>
            <a:ext cx="9842500" cy="275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400" b="1">
                <a:solidFill>
                  <a:srgbClr val="F4F4E9"/>
                </a:solidFill>
                <a:latin typeface="Liberation Sans"/>
                <a:ea typeface="Liberation Sans"/>
                <a:cs typeface="Liberation Sans"/>
              </a:defRPr>
            </a:defPPr>
          </a:lstStyle>
          <a:p xmlns:a="http://schemas.openxmlformats.org/drawingml/2006/main">
            <a:pPr>
              <a:lnSpc>
                <a:spcPct val="90000"/>
              </a:lnSpc>
              <a:buNone/>
              <a:defRPr sz="6400" b="1">
                <a:solidFill>
                  <a:srgbClr val="F4F4E9"/>
                </a:solidFill>
                <a:latin typeface="Liberation Sans"/>
                <a:ea typeface="Liberation Sans"/>
                <a:cs typeface="Liberation Sans"/>
              </a:defRPr>
            </a:pPr>
            <a:r>
              <a:rPr sz="6400" b="1">
                <a:solidFill>
                  <a:srgbClr val="F4F4E9"/>
                </a:solidFill>
                <a:latin typeface="Liberation Sans"/>
                <a:ea typeface="Liberation Sans"/>
                <a:cs typeface="Liberation Sans"/>
              </a:rPr>
              <a:t>Il passaporto</a:t>
            </a:r>
          </a:p>
          <a:p xmlns:a="http://schemas.openxmlformats.org/drawingml/2006/main">
            <a:pPr>
              <a:lnSpc>
                <a:spcPct val="90000"/>
              </a:lnSpc>
              <a:buNone/>
              <a:defRPr sz="6400" b="1">
                <a:solidFill>
                  <a:srgbClr val="F4F4E9"/>
                </a:solidFill>
                <a:latin typeface="Liberation Sans"/>
                <a:ea typeface="Liberation Sans"/>
                <a:cs typeface="Liberation Sans"/>
              </a:defRPr>
            </a:pPr>
            <a:r>
              <a:rPr sz="6400" b="1">
                <a:solidFill>
                  <a:srgbClr val="F4F4E9"/>
                </a:solidFill>
                <a:latin typeface="Liberation Sans"/>
                <a:ea typeface="Liberation Sans"/>
                <a:cs typeface="Liberation Sans"/>
              </a:rPr>
              <a:t>della batteria.</a:t>
            </a:r>
          </a:p>
          <a:p xmlns:a="http://schemas.openxmlformats.org/drawingml/2006/main">
            <a:pPr>
              <a:lnSpc>
                <a:spcPct val="90000"/>
              </a:lnSpc>
              <a:buNone/>
              <a:defRPr sz="6400" b="1">
                <a:solidFill>
                  <a:srgbClr val="F4F4E9"/>
                </a:solidFill>
                <a:latin typeface="Liberation Sans"/>
                <a:ea typeface="Liberation Sans"/>
                <a:cs typeface="Liberation Sans"/>
              </a:defRPr>
            </a:pPr>
            <a:r>
              <a:rPr sz="6400" b="1">
                <a:solidFill>
                  <a:srgbClr val="F4F4E9"/>
                </a:solidFill>
                <a:latin typeface="Liberation Sans"/>
                <a:ea typeface="Liberation Sans"/>
                <a:cs typeface="Liberation Sans"/>
              </a:rPr>
              <a:t>Il valore dei suoi dati.</a:t>
            </a:r>
          </a:p>
        </p:txBody>
      </p:sp>
      <p:sp>
        <p:nvSpPr>
          <p:cNvPr id="10" name="Identità digitale e dati verificabili per collegare&#10;">
            <a:extLst xmlns:a="http://schemas.openxmlformats.org/drawingml/2006/main">
              <a:ext uri="{FF2B5EF4-FFF2-40B4-BE49-F238E27FC236}">
                <a16:creationId xmlns:a16="http://schemas.microsoft.com/office/drawing/2014/main" id="{F7DC20B8-5BC8-4A65-BFB8-C36F37F9A4A2}"/>
              </a:ext>
            </a:extLst>
          </p:cNvPr>
          <p:cNvSpPr>
            <a:spLocks xmlns:a="http://schemas.openxmlformats.org/drawingml/2006/main" noGrp="1"/>
          </p:cNvSpPr>
          <p:nvPr/>
        </p:nvSpPr>
        <p:spPr>
          <a:xfrm xmlns:a="http://schemas.openxmlformats.org/drawingml/2006/main">
            <a:off x="914400" y="572770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0">
                <a:solidFill>
                  <a:srgbClr val="F4F4E9"/>
                </a:solidFill>
                <a:latin typeface="Liberation Sans"/>
                <a:ea typeface="Liberation Sans"/>
                <a:cs typeface="Liberation Sans"/>
              </a:defRPr>
            </a:defPPr>
          </a:lstStyle>
          <a:p xmlns:a="http://schemas.openxmlformats.org/drawingml/2006/main">
            <a:pPr>
              <a:lnSpc>
                <a:spcPct val="108000"/>
              </a:lnSpc>
              <a:buNone/>
              <a:defRPr sz="2600" b="0">
                <a:solidFill>
                  <a:srgbClr val="F4F4E9"/>
                </a:solidFill>
                <a:latin typeface="Liberation Sans"/>
                <a:ea typeface="Liberation Sans"/>
                <a:cs typeface="Liberation Sans"/>
              </a:defRPr>
            </a:pPr>
            <a:r>
              <a:rPr sz="2600" b="0">
                <a:solidFill>
                  <a:srgbClr val="F4F4E9"/>
                </a:solidFill>
                <a:latin typeface="Liberation Sans"/>
                <a:ea typeface="Liberation Sans"/>
                <a:cs typeface="Liberation Sans"/>
              </a:rPr>
              <a:t>Identità digitale e dati verificabili per collegare</a:t>
            </a:r>
          </a:p>
          <a:p xmlns:a="http://schemas.openxmlformats.org/drawingml/2006/main">
            <a:pPr>
              <a:lnSpc>
                <a:spcPct val="108000"/>
              </a:lnSpc>
              <a:buNone/>
              <a:defRPr sz="2600" b="0">
                <a:solidFill>
                  <a:srgbClr val="F4F4E9"/>
                </a:solidFill>
                <a:latin typeface="Liberation Sans"/>
                <a:ea typeface="Liberation Sans"/>
                <a:cs typeface="Liberation Sans"/>
              </a:defRPr>
            </a:pPr>
            <a:r>
              <a:rPr sz="2600" b="0">
                <a:solidFill>
                  <a:srgbClr val="F4F4E9"/>
                </a:solidFill>
                <a:latin typeface="Liberation Sans"/>
                <a:ea typeface="Liberation Sans"/>
                <a:cs typeface="Liberation Sans"/>
              </a:rPr>
              <a:t>produzione, utilizzo e storia di ogni batteria.</a:t>
            </a:r>
          </a:p>
        </p:txBody>
      </p:sp>
      <p:sp>
        <p:nvSpPr>
          <p:cNvPr id="11" name="">
            <a:extLst xmlns:a="http://schemas.openxmlformats.org/drawingml/2006/main">
              <a:ext uri="{FF2B5EF4-FFF2-40B4-BE49-F238E27FC236}">
                <a16:creationId xmlns:a16="http://schemas.microsoft.com/office/drawing/2014/main" id="{134CA1BD-EBF2-4BD5-BCE4-A6535239FB48}"/>
              </a:ext>
            </a:extLst>
          </p:cNvPr>
          <p:cNvSpPr>
            <a:spLocks xmlns:a="http://schemas.openxmlformats.org/drawingml/2006/main" noGrp="1"/>
          </p:cNvSpPr>
          <p:nvPr/>
        </p:nvSpPr>
        <p:spPr>
          <a:xfrm xmlns:a="http://schemas.openxmlformats.org/drawingml/2006/main">
            <a:off x="914400" y="7556500"/>
            <a:ext cx="7747000" cy="0"/>
          </a:xfrm>
          <a:prstGeom xmlns:a="http://schemas.openxmlformats.org/drawingml/2006/main" prst="line">
            <a:avLst/>
          </a:prstGeom>
          <a:noFill xmlns:a="http://schemas.openxmlformats.org/drawingml/2006/main"/>
          <a:ln xmlns:a="http://schemas.openxmlformats.org/drawingml/2006/main" w="25400">
            <a:solidFill>
              <a:srgbClr val="C8F67C"/>
            </a:solidFill>
            <a:prstDash val="solid"/>
          </a:ln>
        </p:spPr>
      </p:sp>
      <p:sp>
        <p:nvSpPr>
          <p:cNvPr id="12" name="PASSAPORTO DIGITALE  /  CICLO DI VITA  /  IMPATTO">
            <a:extLst xmlns:a="http://schemas.openxmlformats.org/drawingml/2006/main">
              <a:ext uri="{FF2B5EF4-FFF2-40B4-BE49-F238E27FC236}">
                <a16:creationId xmlns:a16="http://schemas.microsoft.com/office/drawing/2014/main" id="{4CF7B62F-29C5-4540-B404-B17AE13EC4A3}"/>
              </a:ext>
            </a:extLst>
          </p:cNvPr>
          <p:cNvSpPr>
            <a:spLocks xmlns:a="http://schemas.openxmlformats.org/drawingml/2006/main" noGrp="1"/>
          </p:cNvSpPr>
          <p:nvPr/>
        </p:nvSpPr>
        <p:spPr>
          <a:xfrm xmlns:a="http://schemas.openxmlformats.org/drawingml/2006/main">
            <a:off x="914400" y="781050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PASSAPORTO DIGITALE  /  CICLO DI VITA  /  IMPATTO</a:t>
            </a:r>
          </a:p>
        </p:txBody>
      </p:sp>
      <p:sp>
        <p:nvSpPr>
          <p:cNvPr id="13" name="Soluzione proposta · Immagini e loghi ufficiali · Ot">
            <a:extLst xmlns:a="http://schemas.openxmlformats.org/drawingml/2006/main">
              <a:ext uri="{FF2B5EF4-FFF2-40B4-BE49-F238E27FC236}">
                <a16:creationId xmlns:a16="http://schemas.microsoft.com/office/drawing/2014/main" id="{60733AD9-0C8D-4DC0-BC85-238AAD65BDFA}"/>
              </a:ext>
            </a:extLst>
          </p:cNvPr>
          <p:cNvSpPr>
            <a:spLocks xmlns:a="http://schemas.openxmlformats.org/drawingml/2006/main" noGrp="1"/>
          </p:cNvSpPr>
          <p:nvPr/>
        </p:nvSpPr>
        <p:spPr>
          <a:xfrm xmlns:a="http://schemas.openxmlformats.org/drawingml/2006/main">
            <a:off x="914400" y="8648700"/>
            <a:ext cx="13462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F4F4E9"/>
                </a:solidFill>
                <a:latin typeface="Liberation Sans"/>
                <a:ea typeface="Liberation Sans"/>
                <a:cs typeface="Liberation Sans"/>
              </a:defRPr>
            </a:defPPr>
          </a:lstStyle>
          <a:p xmlns:a="http://schemas.openxmlformats.org/drawingml/2006/main">
            <a:pPr>
              <a:lnSpc>
                <a:spcPct val="108000"/>
              </a:lnSpc>
              <a:buNone/>
              <a:defRPr sz="1200" b="0">
                <a:solidFill>
                  <a:srgbClr val="F4F4E9"/>
                </a:solidFill>
                <a:latin typeface="Liberation Sans"/>
                <a:ea typeface="Liberation Sans"/>
                <a:cs typeface="Liberation Sans"/>
              </a:defRPr>
            </a:pPr>
            <a:r>
              <a:rPr sz="1200" b="0">
                <a:solidFill>
                  <a:srgbClr val="F4F4E9"/>
                </a:solidFill>
                <a:latin typeface="Liberation Sans"/>
                <a:ea typeface="Liberation Sans"/>
                <a:cs typeface="Liberation Sans"/>
              </a:rPr>
              <a:t>Soluzione proposta · Immagini e loghi ufficiali · Ottobre 2026</a:t>
            </a:r>
          </a:p>
        </p:txBody>
      </p:sp>
      <p:sp>
        <p:nvSpPr>
          <p:cNvPr id="14" name="01 / 13">
            <a:extLst xmlns:a="http://schemas.openxmlformats.org/drawingml/2006/main">
              <a:ext uri="{FF2B5EF4-FFF2-40B4-BE49-F238E27FC236}">
                <a16:creationId xmlns:a16="http://schemas.microsoft.com/office/drawing/2014/main" id="{FCA6B7A1-7668-4F87-A812-EAC572F4A29C}"/>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09191B"/>
                </a:solidFill>
                <a:latin typeface="Liberation Sans"/>
                <a:ea typeface="Liberation Sans"/>
                <a:cs typeface="Liberation Sans"/>
              </a:defRPr>
            </a:defPPr>
          </a:lstStyle>
          <a:p xmlns:a="http://schemas.openxmlformats.org/drawingml/2006/main">
            <a:pPr>
              <a:lnSpc>
                <a:spcPct val="108000"/>
              </a:lnSpc>
              <a:buNone/>
              <a:defRPr sz="1300" b="1">
                <a:solidFill>
                  <a:srgbClr val="09191B"/>
                </a:solidFill>
                <a:latin typeface="Liberation Sans"/>
                <a:ea typeface="Liberation Sans"/>
                <a:cs typeface="Liberation Sans"/>
              </a:defRPr>
            </a:pPr>
            <a:r>
              <a:rPr sz="1300" b="1">
                <a:solidFill>
                  <a:srgbClr val="09191B"/>
                </a:solidFill>
                <a:latin typeface="Liberation Sans"/>
                <a:ea typeface="Liberation Sans"/>
                <a:cs typeface="Liberation Sans"/>
              </a:rPr>
              <a:t>01 / 13</a:t>
            </a:r>
          </a:p>
        </p:txBody>
      </p:sp>
    </p:spTree>
    <p:extLst>
      <p:ext uri="{BB962C8B-B14F-4D97-AF65-F5344CB8AC3E}">
        <p14:creationId xmlns:p14="http://schemas.microsoft.com/office/powerpoint/2010/main" val="166681561"/>
      </p:ext>
    </p:extLst>
  </p:cSld>
</p:sld>
</file>

<file path=ppt/slides/slide2.xml><?xml version="1.0" encoding="utf-8"?>
<p:sld xmlns:p="http://schemas.openxmlformats.org/presentationml/2006/main">
  <p:cSld>
    <p:bg>
      <p:bgPr>
        <a:solidFill xmlns:a="http://schemas.openxmlformats.org/drawingml/2006/main">
          <a:srgbClr val="F0F1E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94B9A00-EF95-4741-993B-0CD39CE91564}"/>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FFBE62B0-3F84-4518-8B27-3348E85005F0}"/>
              </a:ext>
            </a:extLst>
          </p:cNvPr>
          <p:cNvPicPr>
            <a:picLocks xmlns:a="http://schemas.openxmlformats.org/drawingml/2006/main" noChangeAspect="1"/>
          </p:cNvPicPr>
          <p:nvPr/>
        </p:nvPicPr>
        <p:blipFill>
          <a:blip xmlns:r="http://schemas.openxmlformats.org/officeDocument/2006/relationships" xmlns:a="http://schemas.openxmlformats.org/drawingml/2006/main" r:embed="Re8c29d01f83e450c"/>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2A38FB4-2826-40B0-812B-6596734D3C94}"/>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722CDCAB-E001-4284-A81B-ACB45FB1F5A0}"/>
              </a:ext>
            </a:extLst>
          </p:cNvPr>
          <p:cNvPicPr>
            <a:picLocks xmlns:a="http://schemas.openxmlformats.org/drawingml/2006/main" noChangeAspect="1"/>
          </p:cNvPicPr>
          <p:nvPr/>
        </p:nvPicPr>
        <p:blipFill>
          <a:blip xmlns:r="http://schemas.openxmlformats.org/officeDocument/2006/relationships" xmlns:a="http://schemas.openxmlformats.org/drawingml/2006/main" r:embed="Ra2ed75ecb433417e"/>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LA SOLUZIONE">
            <a:extLst xmlns:a="http://schemas.openxmlformats.org/drawingml/2006/main">
              <a:ext uri="{FF2B5EF4-FFF2-40B4-BE49-F238E27FC236}">
                <a16:creationId xmlns:a16="http://schemas.microsoft.com/office/drawing/2014/main" id="{F88FC60D-D8AA-4E5A-820C-4AF04482D040}"/>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LA SOLUZIONE</a:t>
            </a:r>
          </a:p>
        </p:txBody>
      </p:sp>
      <p:sp>
        <p:nvSpPr>
          <p:cNvPr id="6" name="Un servizio digitale&#10;per le batterie su misura">
            <a:extLst xmlns:a="http://schemas.openxmlformats.org/drawingml/2006/main">
              <a:ext uri="{FF2B5EF4-FFF2-40B4-BE49-F238E27FC236}">
                <a16:creationId xmlns:a16="http://schemas.microsoft.com/office/drawing/2014/main" id="{B93836E5-27B7-4F38-B8C7-E49A988C1A7A}"/>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02B28"/>
                </a:solidFill>
                <a:latin typeface="Liberation Sans"/>
                <a:ea typeface="Liberation Sans"/>
                <a:cs typeface="Liberation Sans"/>
              </a:defRPr>
            </a:defPPr>
          </a:lstStyle>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Un servizio digitale</a:t>
            </a:r>
          </a:p>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per le batterie su misura</a:t>
            </a:r>
          </a:p>
        </p:txBody>
      </p:sp>
      <p:sp>
        <p:nvSpPr>
          <p:cNvPr id="7" name="Alps Battery propone soluzioni al litio per macchine">
            <a:extLst xmlns:a="http://schemas.openxmlformats.org/drawingml/2006/main">
              <a:ext uri="{FF2B5EF4-FFF2-40B4-BE49-F238E27FC236}">
                <a16:creationId xmlns:a16="http://schemas.microsoft.com/office/drawing/2014/main" id="{9F09DDF6-8A3E-4602-AF5C-A72309857B01}"/>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4F6C62"/>
                </a:solidFill>
                <a:latin typeface="Liberation Sans"/>
                <a:ea typeface="Liberation Sans"/>
                <a:cs typeface="Liberation Sans"/>
              </a:defRPr>
            </a:defPPr>
          </a:lstStyle>
          <a:p xmlns:a="http://schemas.openxmlformats.org/drawingml/2006/main">
            <a:pPr>
              <a:lnSpc>
                <a:spcPct val="108000"/>
              </a:lnSpc>
              <a:buNone/>
              <a:defRPr sz="2200" b="0">
                <a:solidFill>
                  <a:srgbClr val="4F6C62"/>
                </a:solidFill>
                <a:latin typeface="Liberation Sans"/>
                <a:ea typeface="Liberation Sans"/>
                <a:cs typeface="Liberation Sans"/>
              </a:defRPr>
            </a:pPr>
            <a:r>
              <a:rPr sz="2200" b="0">
                <a:solidFill>
                  <a:srgbClr val="4F6C62"/>
                </a:solidFill>
                <a:latin typeface="Liberation Sans"/>
                <a:ea typeface="Liberation Sans"/>
                <a:cs typeface="Liberation Sans"/>
              </a:rPr>
              <a:t>Alps Battery propone soluzioni al litio per macchine elettriche e ibride, con chimiche e configurazioni personalizzate.</a:t>
            </a:r>
          </a:p>
        </p:txBody>
      </p:sp>
      <p:sp>
        <p:nvSpPr>
          <p:cNvPr id="8" name="">
            <a:extLst xmlns:a="http://schemas.openxmlformats.org/drawingml/2006/main">
              <a:ext uri="{FF2B5EF4-FFF2-40B4-BE49-F238E27FC236}">
                <a16:creationId xmlns:a16="http://schemas.microsoft.com/office/drawing/2014/main" id="{D9D91241-E8FE-4DF4-94B1-E059345B6CE5}"/>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9" name="Fonte: alpsbattery.com · Interfacce, dati disponibil">
            <a:extLst xmlns:a="http://schemas.openxmlformats.org/drawingml/2006/main">
              <a:ext uri="{FF2B5EF4-FFF2-40B4-BE49-F238E27FC236}">
                <a16:creationId xmlns:a16="http://schemas.microsoft.com/office/drawing/2014/main" id="{4150A04F-EDDE-4488-A511-A5129C4DDE95}"/>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F6C62"/>
                </a:solidFill>
                <a:latin typeface="Liberation Sans"/>
                <a:ea typeface="Liberation Sans"/>
                <a:cs typeface="Liberation Sans"/>
              </a:defRPr>
            </a:defPPr>
          </a:lstStyle>
          <a:p xmlns:a="http://schemas.openxmlformats.org/drawingml/2006/main">
            <a:pPr>
              <a:lnSpc>
                <a:spcPct val="108000"/>
              </a:lnSpc>
              <a:buNone/>
              <a:defRPr sz="1200" b="0">
                <a:solidFill>
                  <a:srgbClr val="4F6C62"/>
                </a:solidFill>
                <a:latin typeface="Liberation Sans"/>
                <a:ea typeface="Liberation Sans"/>
                <a:cs typeface="Liberation Sans"/>
              </a:defRPr>
            </a:pPr>
            <a:r>
              <a:rPr sz="1200" b="0">
                <a:solidFill>
                  <a:srgbClr val="4F6C62"/>
                </a:solidFill>
                <a:latin typeface="Liberation Sans"/>
                <a:ea typeface="Liberation Sans"/>
                <a:cs typeface="Liberation Sans"/>
              </a:rPr>
              <a:t>Fonte: alpsbattery.com · Interfacce, dati disponibili e perimetro dell’integrazione da concordare.</a:t>
            </a:r>
          </a:p>
        </p:txBody>
      </p:sp>
      <p:sp>
        <p:nvSpPr>
          <p:cNvPr id="10" name="02 / 13">
            <a:extLst xmlns:a="http://schemas.openxmlformats.org/drawingml/2006/main">
              <a:ext uri="{FF2B5EF4-FFF2-40B4-BE49-F238E27FC236}">
                <a16:creationId xmlns:a16="http://schemas.microsoft.com/office/drawing/2014/main" id="{F610BBFF-FF4C-4653-B44C-352B2DE0A696}"/>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02 / 13</a:t>
            </a:r>
          </a:p>
        </p:txBody>
      </p:sp>
      <p:sp>
        <p:nvSpPr>
          <p:cNvPr id="11" name="01">
            <a:extLst xmlns:a="http://schemas.openxmlformats.org/drawingml/2006/main">
              <a:ext uri="{FF2B5EF4-FFF2-40B4-BE49-F238E27FC236}">
                <a16:creationId xmlns:a16="http://schemas.microsoft.com/office/drawing/2014/main" id="{69EDE6F7-A938-48E9-BB22-7DED399A2F9E}"/>
              </a:ext>
            </a:extLst>
          </p:cNvPr>
          <p:cNvSpPr>
            <a:spLocks xmlns:a="http://schemas.openxmlformats.org/drawingml/2006/main" noGrp="1"/>
          </p:cNvSpPr>
          <p:nvPr/>
        </p:nvSpPr>
        <p:spPr>
          <a:xfrm xmlns:a="http://schemas.openxmlformats.org/drawingml/2006/main">
            <a:off x="914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01</a:t>
            </a:r>
          </a:p>
        </p:txBody>
      </p:sp>
      <p:sp>
        <p:nvSpPr>
          <p:cNvPr id="12" name="Passaporto digitale">
            <a:extLst xmlns:a="http://schemas.openxmlformats.org/drawingml/2006/main">
              <a:ext uri="{FF2B5EF4-FFF2-40B4-BE49-F238E27FC236}">
                <a16:creationId xmlns:a16="http://schemas.microsoft.com/office/drawing/2014/main" id="{323D1AC5-4314-49BC-8444-93D0CC98CAFF}"/>
              </a:ext>
            </a:extLst>
          </p:cNvPr>
          <p:cNvSpPr>
            <a:spLocks xmlns:a="http://schemas.openxmlformats.org/drawingml/2006/main" noGrp="1"/>
          </p:cNvSpPr>
          <p:nvPr/>
        </p:nvSpPr>
        <p:spPr>
          <a:xfrm xmlns:a="http://schemas.openxmlformats.org/drawingml/2006/main">
            <a:off x="914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102B28"/>
                </a:solidFill>
                <a:latin typeface="Liberation Sans"/>
                <a:ea typeface="Liberation Sans"/>
                <a:cs typeface="Liberation Sans"/>
              </a:defRPr>
            </a:defPPr>
          </a:lstStyle>
          <a:p xmlns:a="http://schemas.openxmlformats.org/drawingml/2006/main">
            <a:pPr>
              <a:lnSpc>
                <a:spcPct val="108000"/>
              </a:lnSpc>
              <a:buNone/>
              <a:defRPr sz="2900" b="1">
                <a:solidFill>
                  <a:srgbClr val="102B28"/>
                </a:solidFill>
                <a:latin typeface="Liberation Sans"/>
                <a:ea typeface="Liberation Sans"/>
                <a:cs typeface="Liberation Sans"/>
              </a:defRPr>
            </a:pPr>
            <a:r>
              <a:rPr sz="2900" b="1">
                <a:solidFill>
                  <a:srgbClr val="102B28"/>
                </a:solidFill>
                <a:latin typeface="Liberation Sans"/>
                <a:ea typeface="Liberation Sans"/>
                <a:cs typeface="Liberation Sans"/>
              </a:rPr>
              <a:t>Passaporto digitale</a:t>
            </a:r>
          </a:p>
        </p:txBody>
      </p:sp>
      <p:sp>
        <p:nvSpPr>
          <p:cNvPr id="13" name="Identità, configurazione e&#10;documenti collegati alla&#10;">
            <a:extLst xmlns:a="http://schemas.openxmlformats.org/drawingml/2006/main">
              <a:ext uri="{FF2B5EF4-FFF2-40B4-BE49-F238E27FC236}">
                <a16:creationId xmlns:a16="http://schemas.microsoft.com/office/drawing/2014/main" id="{8949C9A2-DCA2-446A-8B8C-5DE4210EAA91}"/>
              </a:ext>
            </a:extLst>
          </p:cNvPr>
          <p:cNvSpPr>
            <a:spLocks xmlns:a="http://schemas.openxmlformats.org/drawingml/2006/main" noGrp="1"/>
          </p:cNvSpPr>
          <p:nvPr/>
        </p:nvSpPr>
        <p:spPr>
          <a:xfrm xmlns:a="http://schemas.openxmlformats.org/drawingml/2006/main">
            <a:off x="914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Identità, configurazione e</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documenti collegati alla</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singola batteria.</a:t>
            </a:r>
          </a:p>
        </p:txBody>
      </p:sp>
      <p:sp>
        <p:nvSpPr>
          <p:cNvPr id="14" name="02">
            <a:extLst xmlns:a="http://schemas.openxmlformats.org/drawingml/2006/main">
              <a:ext uri="{FF2B5EF4-FFF2-40B4-BE49-F238E27FC236}">
                <a16:creationId xmlns:a16="http://schemas.microsoft.com/office/drawing/2014/main" id="{1BA3BE1A-B0CD-4880-BAAB-45E1CF12DCFF}"/>
              </a:ext>
            </a:extLst>
          </p:cNvPr>
          <p:cNvSpPr>
            <a:spLocks xmlns:a="http://schemas.openxmlformats.org/drawingml/2006/main" noGrp="1"/>
          </p:cNvSpPr>
          <p:nvPr/>
        </p:nvSpPr>
        <p:spPr>
          <a:xfrm xmlns:a="http://schemas.openxmlformats.org/drawingml/2006/main">
            <a:off x="5867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02</a:t>
            </a:r>
          </a:p>
        </p:txBody>
      </p:sp>
      <p:sp>
        <p:nvSpPr>
          <p:cNvPr id="15" name="Utilizzo e assistenza">
            <a:extLst xmlns:a="http://schemas.openxmlformats.org/drawingml/2006/main">
              <a:ext uri="{FF2B5EF4-FFF2-40B4-BE49-F238E27FC236}">
                <a16:creationId xmlns:a16="http://schemas.microsoft.com/office/drawing/2014/main" id="{36139430-B6ED-4A48-AFE4-362454CA7D2A}"/>
              </a:ext>
            </a:extLst>
          </p:cNvPr>
          <p:cNvSpPr>
            <a:spLocks xmlns:a="http://schemas.openxmlformats.org/drawingml/2006/main" noGrp="1"/>
          </p:cNvSpPr>
          <p:nvPr/>
        </p:nvSpPr>
        <p:spPr>
          <a:xfrm xmlns:a="http://schemas.openxmlformats.org/drawingml/2006/main">
            <a:off x="5867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102B28"/>
                </a:solidFill>
                <a:latin typeface="Liberation Sans"/>
                <a:ea typeface="Liberation Sans"/>
                <a:cs typeface="Liberation Sans"/>
              </a:defRPr>
            </a:defPPr>
          </a:lstStyle>
          <a:p xmlns:a="http://schemas.openxmlformats.org/drawingml/2006/main">
            <a:pPr>
              <a:lnSpc>
                <a:spcPct val="108000"/>
              </a:lnSpc>
              <a:buNone/>
              <a:defRPr sz="2900" b="1">
                <a:solidFill>
                  <a:srgbClr val="102B28"/>
                </a:solidFill>
                <a:latin typeface="Liberation Sans"/>
                <a:ea typeface="Liberation Sans"/>
                <a:cs typeface="Liberation Sans"/>
              </a:defRPr>
            </a:pPr>
            <a:r>
              <a:rPr sz="2900" b="1">
                <a:solidFill>
                  <a:srgbClr val="102B28"/>
                </a:solidFill>
                <a:latin typeface="Liberation Sans"/>
                <a:ea typeface="Liberation Sans"/>
                <a:cs typeface="Liberation Sans"/>
              </a:rPr>
              <a:t>Utilizzo e assistenza</a:t>
            </a:r>
          </a:p>
        </p:txBody>
      </p:sp>
      <p:sp>
        <p:nvSpPr>
          <p:cNvPr id="16" name="Misure e interventi rendono&#10;ricostruibile la storia ">
            <a:extLst xmlns:a="http://schemas.openxmlformats.org/drawingml/2006/main">
              <a:ext uri="{FF2B5EF4-FFF2-40B4-BE49-F238E27FC236}">
                <a16:creationId xmlns:a16="http://schemas.microsoft.com/office/drawing/2014/main" id="{C8E1EE60-04E1-44EF-A368-8CEEE520067A}"/>
              </a:ext>
            </a:extLst>
          </p:cNvPr>
          <p:cNvSpPr>
            <a:spLocks xmlns:a="http://schemas.openxmlformats.org/drawingml/2006/main" noGrp="1"/>
          </p:cNvSpPr>
          <p:nvPr/>
        </p:nvSpPr>
        <p:spPr>
          <a:xfrm xmlns:a="http://schemas.openxmlformats.org/drawingml/2006/main">
            <a:off x="5867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Misure e interventi rendono</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ricostruibile la storia del</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prodotto in esercizio.</a:t>
            </a:r>
          </a:p>
        </p:txBody>
      </p:sp>
      <p:sp>
        <p:nvSpPr>
          <p:cNvPr id="17" name="03">
            <a:extLst xmlns:a="http://schemas.openxmlformats.org/drawingml/2006/main">
              <a:ext uri="{FF2B5EF4-FFF2-40B4-BE49-F238E27FC236}">
                <a16:creationId xmlns:a16="http://schemas.microsoft.com/office/drawing/2014/main" id="{8C02F4A1-8B33-4D6B-8D83-B08286DA7AAE}"/>
              </a:ext>
            </a:extLst>
          </p:cNvPr>
          <p:cNvSpPr>
            <a:spLocks xmlns:a="http://schemas.openxmlformats.org/drawingml/2006/main" noGrp="1"/>
          </p:cNvSpPr>
          <p:nvPr/>
        </p:nvSpPr>
        <p:spPr>
          <a:xfrm xmlns:a="http://schemas.openxmlformats.org/drawingml/2006/main">
            <a:off x="10820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03</a:t>
            </a:r>
          </a:p>
        </p:txBody>
      </p:sp>
      <p:sp>
        <p:nvSpPr>
          <p:cNvPr id="18" name="Impatto documentato">
            <a:extLst xmlns:a="http://schemas.openxmlformats.org/drawingml/2006/main">
              <a:ext uri="{FF2B5EF4-FFF2-40B4-BE49-F238E27FC236}">
                <a16:creationId xmlns:a16="http://schemas.microsoft.com/office/drawing/2014/main" id="{099605CB-EBF5-475D-A79A-F24A60126EE5}"/>
              </a:ext>
            </a:extLst>
          </p:cNvPr>
          <p:cNvSpPr>
            <a:spLocks xmlns:a="http://schemas.openxmlformats.org/drawingml/2006/main" noGrp="1"/>
          </p:cNvSpPr>
          <p:nvPr/>
        </p:nvSpPr>
        <p:spPr>
          <a:xfrm xmlns:a="http://schemas.openxmlformats.org/drawingml/2006/main">
            <a:off x="10820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102B28"/>
                </a:solidFill>
                <a:latin typeface="Liberation Sans"/>
                <a:ea typeface="Liberation Sans"/>
                <a:cs typeface="Liberation Sans"/>
              </a:defRPr>
            </a:defPPr>
          </a:lstStyle>
          <a:p xmlns:a="http://schemas.openxmlformats.org/drawingml/2006/main">
            <a:pPr>
              <a:lnSpc>
                <a:spcPct val="108000"/>
              </a:lnSpc>
              <a:buNone/>
              <a:defRPr sz="2900" b="1">
                <a:solidFill>
                  <a:srgbClr val="102B28"/>
                </a:solidFill>
                <a:latin typeface="Liberation Sans"/>
                <a:ea typeface="Liberation Sans"/>
                <a:cs typeface="Liberation Sans"/>
              </a:defRPr>
            </a:pPr>
            <a:r>
              <a:rPr sz="2900" b="1">
                <a:solidFill>
                  <a:srgbClr val="102B28"/>
                </a:solidFill>
                <a:latin typeface="Liberation Sans"/>
                <a:ea typeface="Liberation Sans"/>
                <a:cs typeface="Liberation Sans"/>
              </a:rPr>
              <a:t>Impatto documentato</a:t>
            </a:r>
          </a:p>
        </p:txBody>
      </p:sp>
      <p:sp>
        <p:nvSpPr>
          <p:cNvPr id="19" name="Evidenze a supporto dei&#10;calcoli ambientali e degli&#10;e">
            <a:extLst xmlns:a="http://schemas.openxmlformats.org/drawingml/2006/main">
              <a:ext uri="{FF2B5EF4-FFF2-40B4-BE49-F238E27FC236}">
                <a16:creationId xmlns:a16="http://schemas.microsoft.com/office/drawing/2014/main" id="{82B10525-C092-4FFA-B59B-3B73AC2AB1B4}"/>
              </a:ext>
            </a:extLst>
          </p:cNvPr>
          <p:cNvSpPr>
            <a:spLocks xmlns:a="http://schemas.openxmlformats.org/drawingml/2006/main" noGrp="1"/>
          </p:cNvSpPr>
          <p:nvPr/>
        </p:nvSpPr>
        <p:spPr>
          <a:xfrm xmlns:a="http://schemas.openxmlformats.org/drawingml/2006/main">
            <a:off x="10820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Evidenze a supporto dei</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calcoli ambientali e degli</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eventuali percorsi di verifica.</a:t>
            </a:r>
          </a:p>
        </p:txBody>
      </p:sp>
      <p:sp>
        <p:nvSpPr>
          <p:cNvPr id="20" name="">
            <a:extLst xmlns:a="http://schemas.openxmlformats.org/drawingml/2006/main">
              <a:ext uri="{FF2B5EF4-FFF2-40B4-BE49-F238E27FC236}">
                <a16:creationId xmlns:a16="http://schemas.microsoft.com/office/drawing/2014/main" id="{E7EC64D3-41F8-40D6-AB18-C550D7A8A291}"/>
              </a:ext>
            </a:extLst>
          </p:cNvPr>
          <p:cNvSpPr>
            <a:spLocks xmlns:a="http://schemas.openxmlformats.org/drawingml/2006/main" noGrp="1"/>
          </p:cNvSpPr>
          <p:nvPr/>
        </p:nvSpPr>
        <p:spPr>
          <a:xfrm xmlns:a="http://schemas.openxmlformats.org/drawingml/2006/main">
            <a:off x="914400" y="7505700"/>
            <a:ext cx="14427200" cy="647700"/>
          </a:xfrm>
          <a:prstGeom xmlns:a="http://schemas.openxmlformats.org/drawingml/2006/main" prst="roundRect">
            <a:avLst>
              <a:gd name="adj" fmla="val 15686"/>
            </a:avLst>
          </a:prstGeom>
          <a:solidFill xmlns:a="http://schemas.openxmlformats.org/drawingml/2006/main">
            <a:srgbClr val="102B28"/>
          </a:solidFill>
          <a:ln xmlns:a="http://schemas.openxmlformats.org/drawingml/2006/main" w="0">
            <a:noFill/>
            <a:prstDash val="solid"/>
          </a:ln>
        </p:spPr>
      </p:sp>
      <p:sp>
        <p:nvSpPr>
          <p:cNvPr id="21" name="Integrazione proposta con i sistemi Alps Battery e, ">
            <a:extLst xmlns:a="http://schemas.openxmlformats.org/drawingml/2006/main">
              <a:ext uri="{FF2B5EF4-FFF2-40B4-BE49-F238E27FC236}">
                <a16:creationId xmlns:a16="http://schemas.microsoft.com/office/drawing/2014/main" id="{82FF92EC-04FF-4D13-A610-96BD273D575D}"/>
              </a:ext>
            </a:extLst>
          </p:cNvPr>
          <p:cNvSpPr>
            <a:spLocks xmlns:a="http://schemas.openxmlformats.org/drawingml/2006/main" noGrp="1"/>
          </p:cNvSpPr>
          <p:nvPr/>
        </p:nvSpPr>
        <p:spPr>
          <a:xfrm xmlns:a="http://schemas.openxmlformats.org/drawingml/2006/main">
            <a:off x="1168400" y="7670800"/>
            <a:ext cx="139192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1">
                <a:solidFill>
                  <a:srgbClr val="F4F4E9"/>
                </a:solidFill>
                <a:latin typeface="Liberation Sans"/>
                <a:ea typeface="Liberation Sans"/>
                <a:cs typeface="Liberation Sans"/>
              </a:defRPr>
            </a:defPPr>
          </a:lstStyle>
          <a:p xmlns:a="http://schemas.openxmlformats.org/drawingml/2006/main">
            <a:pPr>
              <a:lnSpc>
                <a:spcPct val="108000"/>
              </a:lnSpc>
              <a:buNone/>
              <a:defRPr sz="1900" b="1">
                <a:solidFill>
                  <a:srgbClr val="F4F4E9"/>
                </a:solidFill>
                <a:latin typeface="Liberation Sans"/>
                <a:ea typeface="Liberation Sans"/>
                <a:cs typeface="Liberation Sans"/>
              </a:defRPr>
            </a:pPr>
            <a:r>
              <a:rPr sz="1900" b="1">
                <a:solidFill>
                  <a:srgbClr val="F4F4E9"/>
                </a:solidFill>
                <a:latin typeface="Liberation Sans"/>
                <a:ea typeface="Liberation Sans"/>
                <a:cs typeface="Liberation Sans"/>
              </a:rPr>
              <a:t>Integrazione proposta con i sistemi Alps Battery e, dove disponibili, con i dati di BMS e costruttori.</a:t>
            </a:r>
          </a:p>
        </p:txBody>
      </p:sp>
    </p:spTree>
    <p:extLst>
      <p:ext uri="{BB962C8B-B14F-4D97-AF65-F5344CB8AC3E}">
        <p14:creationId xmlns:p14="http://schemas.microsoft.com/office/powerpoint/2010/main" val="960979899"/>
      </p:ext>
    </p:extLst>
  </p:cSld>
</p:sld>
</file>

<file path=ppt/slides/slide3.xml><?xml version="1.0" encoding="utf-8"?>
<p:sld xmlns:p="http://schemas.openxmlformats.org/presentationml/2006/main">
  <p:cSld>
    <p:bg>
      <p:bgPr>
        <a:solidFill xmlns:a="http://schemas.openxmlformats.org/drawingml/2006/main">
          <a:srgbClr val="09191B"/>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ECD109DC-0AC7-4CA3-B193-D55104702D3A}"/>
              </a:ext>
            </a:extLst>
          </p:cNvPr>
          <p:cNvCxnSpPr>
            <a:stCxn xmlns:a="http://schemas.openxmlformats.org/drawingml/2006/main" id="20" idx="3"/>
            <a:endCxn xmlns:a="http://schemas.openxmlformats.org/drawingml/2006/main" id="23" idx="1"/>
          </p:cNvCxnSpPr>
          <p:nvPr/>
        </p:nvCxnSpPr>
        <p:spPr>
          <a:xfrm xmlns:a="http://schemas.openxmlformats.org/drawingml/2006/main">
            <a:off x="10845800" y="5854700"/>
            <a:ext cx="914400" cy="0"/>
          </a:xfrm>
          <a:prstGeom xmlns:a="http://schemas.openxmlformats.org/drawingml/2006/main" prst="straightConnector1">
            <a:avLst/>
          </a:prstGeom>
          <a:ln xmlns:a="http://schemas.openxmlformats.org/drawingml/2006/main" w="19050">
            <a:solidFill>
              <a:srgbClr val="C8F67C"/>
            </a:solidFill>
            <a:prstDash val="solid"/>
            <a:tailEnd type="triangle" w="sm" len="sm"/>
          </a:ln>
        </p:spPr>
      </p:cxnSp>
      <p:cxnSp>
        <p:nvCxnSpPr>
          <p:cNvPr id="30" name="">
            <a:extLst xmlns:a="http://schemas.openxmlformats.org/drawingml/2006/main">
              <a:ext uri="{FF2B5EF4-FFF2-40B4-BE49-F238E27FC236}">
                <a16:creationId xmlns:a16="http://schemas.microsoft.com/office/drawing/2014/main" id="{614F3384-D109-4EE8-A94F-A80C908FBA80}"/>
              </a:ext>
            </a:extLst>
          </p:cNvPr>
          <p:cNvCxnSpPr>
            <a:stCxn xmlns:a="http://schemas.openxmlformats.org/drawingml/2006/main" id="17" idx="3"/>
            <a:endCxn xmlns:a="http://schemas.openxmlformats.org/drawingml/2006/main" id="20" idx="1"/>
          </p:cNvCxnSpPr>
          <p:nvPr/>
        </p:nvCxnSpPr>
        <p:spPr>
          <a:xfrm xmlns:a="http://schemas.openxmlformats.org/drawingml/2006/main">
            <a:off x="6578600" y="5842000"/>
            <a:ext cx="558800" cy="12700"/>
          </a:xfrm>
          <a:prstGeom xmlns:a="http://schemas.openxmlformats.org/drawingml/2006/main" prst="bentConnector3">
            <a:avLst>
              <a:gd name="adj1" fmla="val 50000"/>
            </a:avLst>
          </a:prstGeom>
          <a:ln xmlns:a="http://schemas.openxmlformats.org/drawingml/2006/main" w="19050">
            <a:solidFill>
              <a:srgbClr val="C8F67C"/>
            </a:solidFill>
            <a:prstDash val="solid"/>
            <a:tailEnd type="triangle" w="sm" len="sm"/>
          </a:ln>
        </p:spPr>
      </p:cxnSp>
      <p:cxnSp>
        <p:nvCxnSpPr>
          <p:cNvPr id="29" name="">
            <a:extLst xmlns:a="http://schemas.openxmlformats.org/drawingml/2006/main">
              <a:ext uri="{FF2B5EF4-FFF2-40B4-BE49-F238E27FC236}">
                <a16:creationId xmlns:a16="http://schemas.microsoft.com/office/drawing/2014/main" id="{3FD21AEF-7A7A-4DFF-9DC7-6FCDFAF66976}"/>
              </a:ext>
            </a:extLst>
          </p:cNvPr>
          <p:cNvCxnSpPr>
            <a:stCxn xmlns:a="http://schemas.openxmlformats.org/drawingml/2006/main" id="14" idx="3"/>
            <a:endCxn xmlns:a="http://schemas.openxmlformats.org/drawingml/2006/main" id="17" idx="1"/>
          </p:cNvCxnSpPr>
          <p:nvPr/>
        </p:nvCxnSpPr>
        <p:spPr>
          <a:xfrm xmlns:a="http://schemas.openxmlformats.org/drawingml/2006/main" flipV="1">
            <a:off x="4064000" y="5842000"/>
            <a:ext cx="711200" cy="660400"/>
          </a:xfrm>
          <a:prstGeom xmlns:a="http://schemas.openxmlformats.org/drawingml/2006/main" prst="bentConnector3">
            <a:avLst>
              <a:gd name="adj1" fmla="val 50000"/>
            </a:avLst>
          </a:prstGeom>
          <a:ln xmlns:a="http://schemas.openxmlformats.org/drawingml/2006/main" w="19050">
            <a:solidFill>
              <a:srgbClr val="C8F67C"/>
            </a:solidFill>
            <a:prstDash val="solid"/>
            <a:tailEnd type="triangle" w="sm" len="sm"/>
          </a:ln>
        </p:spPr>
      </p:cxnSp>
      <p:cxnSp>
        <p:nvCxnSpPr>
          <p:cNvPr id="28" name="">
            <a:extLst xmlns:a="http://schemas.openxmlformats.org/drawingml/2006/main">
              <a:ext uri="{FF2B5EF4-FFF2-40B4-BE49-F238E27FC236}">
                <a16:creationId xmlns:a16="http://schemas.microsoft.com/office/drawing/2014/main" id="{56A79F55-A4AF-4F3F-9FCA-AD5EA19FA0F7}"/>
              </a:ext>
            </a:extLst>
          </p:cNvPr>
          <p:cNvCxnSpPr>
            <a:stCxn xmlns:a="http://schemas.openxmlformats.org/drawingml/2006/main" id="11" idx="3"/>
            <a:endCxn xmlns:a="http://schemas.openxmlformats.org/drawingml/2006/main" id="17" idx="1"/>
          </p:cNvCxnSpPr>
          <p:nvPr/>
        </p:nvCxnSpPr>
        <p:spPr>
          <a:xfrm xmlns:a="http://schemas.openxmlformats.org/drawingml/2006/main">
            <a:off x="4064000" y="5207000"/>
            <a:ext cx="711200" cy="635000"/>
          </a:xfrm>
          <a:prstGeom xmlns:a="http://schemas.openxmlformats.org/drawingml/2006/main" prst="bentConnector3">
            <a:avLst>
              <a:gd name="adj1" fmla="val 50000"/>
            </a:avLst>
          </a:prstGeom>
          <a:ln xmlns:a="http://schemas.openxmlformats.org/drawingml/2006/main" w="19050">
            <a:solidFill>
              <a:srgbClr val="C8F67C"/>
            </a:solidFill>
            <a:prstDash val="solid"/>
            <a:tailEnd type="triangle" w="sm" len="sm"/>
          </a:ln>
        </p:spPr>
      </p:cxnSp>
      <p:sp>
        <p:nvSpPr>
          <p:cNvPr id="35" name="">
            <a:extLst xmlns:a="http://schemas.openxmlformats.org/drawingml/2006/main">
              <a:ext uri="{FF2B5EF4-FFF2-40B4-BE49-F238E27FC236}">
                <a16:creationId xmlns:a16="http://schemas.microsoft.com/office/drawing/2014/main" id="{2DED9FF5-AAA9-4A23-85FA-CF8BA7416A80}"/>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D99F74FD-9F1C-46E2-A523-CB28D1FCFEE7}"/>
              </a:ext>
            </a:extLst>
          </p:cNvPr>
          <p:cNvPicPr>
            <a:picLocks xmlns:a="http://schemas.openxmlformats.org/drawingml/2006/main" noChangeAspect="1"/>
          </p:cNvPicPr>
          <p:nvPr/>
        </p:nvPicPr>
        <p:blipFill>
          <a:blip xmlns:r="http://schemas.openxmlformats.org/officeDocument/2006/relationships" xmlns:a="http://schemas.openxmlformats.org/drawingml/2006/main" r:embed="Rcad1231943df4b20"/>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60AC24E-2D55-4EBC-A150-6A31169F0C7D}"/>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195D3454-A1DE-4359-B5EE-D39B3A829783}"/>
              </a:ext>
            </a:extLst>
          </p:cNvPr>
          <p:cNvPicPr>
            <a:picLocks xmlns:a="http://schemas.openxmlformats.org/drawingml/2006/main" noChangeAspect="1"/>
          </p:cNvPicPr>
          <p:nvPr/>
        </p:nvPicPr>
        <p:blipFill>
          <a:blip xmlns:r="http://schemas.openxmlformats.org/officeDocument/2006/relationships" xmlns:a="http://schemas.openxmlformats.org/drawingml/2006/main" r:embed="Rfc21eb145b6c43f9"/>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SEGMENTO · IL SERVIZIO AILANTO">
            <a:extLst xmlns:a="http://schemas.openxmlformats.org/drawingml/2006/main">
              <a:ext uri="{FF2B5EF4-FFF2-40B4-BE49-F238E27FC236}">
                <a16:creationId xmlns:a16="http://schemas.microsoft.com/office/drawing/2014/main" id="{78E13AFF-FFDC-46D6-BD2E-ED1322C8B3BA}"/>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SEGMENTO · IL SERVIZIO AILANTO</a:t>
            </a:r>
          </a:p>
        </p:txBody>
      </p:sp>
      <p:sp>
        <p:nvSpPr>
          <p:cNvPr id="6" name="Segmento&#10;La notarizzazione dei dati industriali">
            <a:extLst xmlns:a="http://schemas.openxmlformats.org/drawingml/2006/main">
              <a:ext uri="{FF2B5EF4-FFF2-40B4-BE49-F238E27FC236}">
                <a16:creationId xmlns:a16="http://schemas.microsoft.com/office/drawing/2014/main" id="{CE5A873E-6F11-4310-9691-AB20C0C725C7}"/>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4F4E9"/>
                </a:solidFill>
                <a:latin typeface="Liberation Sans"/>
                <a:ea typeface="Liberation Sans"/>
                <a:cs typeface="Liberation Sans"/>
              </a:defRPr>
            </a:defPPr>
          </a:lstStyle>
          <a:p xmlns:a="http://schemas.openxmlformats.org/drawingml/2006/main">
            <a:pPr>
              <a:lnSpc>
                <a:spcPct val="90000"/>
              </a:lnSpc>
              <a:buNone/>
              <a:defRPr sz="4800" b="1">
                <a:solidFill>
                  <a:srgbClr val="F4F4E9"/>
                </a:solidFill>
                <a:latin typeface="Liberation Sans"/>
                <a:ea typeface="Liberation Sans"/>
                <a:cs typeface="Liberation Sans"/>
              </a:defRPr>
            </a:pPr>
            <a:r>
              <a:rPr sz="4800" b="1">
                <a:solidFill>
                  <a:srgbClr val="F4F4E9"/>
                </a:solidFill>
                <a:latin typeface="Liberation Sans"/>
                <a:ea typeface="Liberation Sans"/>
                <a:cs typeface="Liberation Sans"/>
              </a:rPr>
              <a:t>Segmento</a:t>
            </a:r>
          </a:p>
          <a:p xmlns:a="http://schemas.openxmlformats.org/drawingml/2006/main">
            <a:pPr>
              <a:lnSpc>
                <a:spcPct val="90000"/>
              </a:lnSpc>
              <a:buNone/>
              <a:defRPr sz="4800" b="1">
                <a:solidFill>
                  <a:srgbClr val="F4F4E9"/>
                </a:solidFill>
                <a:latin typeface="Liberation Sans"/>
                <a:ea typeface="Liberation Sans"/>
                <a:cs typeface="Liberation Sans"/>
              </a:defRPr>
            </a:pPr>
            <a:r>
              <a:rPr sz="4800" b="1">
                <a:solidFill>
                  <a:srgbClr val="F4F4E9"/>
                </a:solidFill>
                <a:latin typeface="Liberation Sans"/>
                <a:ea typeface="Liberation Sans"/>
                <a:cs typeface="Liberation Sans"/>
              </a:rPr>
              <a:t>La notarizzazione dei dati industriali</a:t>
            </a:r>
          </a:p>
        </p:txBody>
      </p:sp>
      <p:sp>
        <p:nvSpPr>
          <p:cNvPr id="7" name="Il servizio Ailanto registra dati industriali e ne r">
            <a:extLst xmlns:a="http://schemas.openxmlformats.org/drawingml/2006/main">
              <a:ext uri="{FF2B5EF4-FFF2-40B4-BE49-F238E27FC236}">
                <a16:creationId xmlns:a16="http://schemas.microsoft.com/office/drawing/2014/main" id="{780084D8-C876-4B8A-B1B4-6B16E5EDEBA0}"/>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Il servizio Ailanto registra dati industriali e ne rende verificabile l’integrità.</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L’API REST collega i sistemi esistenti a un’architettura a doppia blockchain.</a:t>
            </a:r>
          </a:p>
        </p:txBody>
      </p:sp>
      <p:sp>
        <p:nvSpPr>
          <p:cNvPr id="8" name="">
            <a:extLst xmlns:a="http://schemas.openxmlformats.org/drawingml/2006/main">
              <a:ext uri="{FF2B5EF4-FFF2-40B4-BE49-F238E27FC236}">
                <a16:creationId xmlns:a16="http://schemas.microsoft.com/office/drawing/2014/main" id="{CA869782-3619-45A0-B757-06F8F987C488}"/>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486B5D"/>
            </a:solidFill>
            <a:prstDash val="solid"/>
          </a:ln>
        </p:spPr>
      </p:sp>
      <p:sp>
        <p:nvSpPr>
          <p:cNvPr id="9" name="Architettura del servizio: presentazione Ailanto for">
            <a:extLst xmlns:a="http://schemas.openxmlformats.org/drawingml/2006/main">
              <a:ext uri="{FF2B5EF4-FFF2-40B4-BE49-F238E27FC236}">
                <a16:creationId xmlns:a16="http://schemas.microsoft.com/office/drawing/2014/main" id="{D70B88E6-D4E8-4E63-9E1A-4806CA6528B6}"/>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0C4BC"/>
                </a:solidFill>
                <a:latin typeface="Liberation Sans"/>
                <a:ea typeface="Liberation Sans"/>
                <a:cs typeface="Liberation Sans"/>
              </a:defRPr>
            </a:defPPr>
          </a:lstStyle>
          <a:p xmlns:a="http://schemas.openxmlformats.org/drawingml/2006/main">
            <a:pPr>
              <a:lnSpc>
                <a:spcPct val="108000"/>
              </a:lnSpc>
              <a:buNone/>
              <a:defRPr sz="1200" b="0">
                <a:solidFill>
                  <a:srgbClr val="B0C4BC"/>
                </a:solidFill>
                <a:latin typeface="Liberation Sans"/>
                <a:ea typeface="Liberation Sans"/>
                <a:cs typeface="Liberation Sans"/>
              </a:defRPr>
            </a:pPr>
            <a:r>
              <a:rPr sz="1200" b="0">
                <a:solidFill>
                  <a:srgbClr val="B0C4BC"/>
                </a:solidFill>
                <a:latin typeface="Liberation Sans"/>
                <a:ea typeface="Liberation Sans"/>
                <a:cs typeface="Liberation Sans"/>
              </a:rPr>
              <a:t>Architettura del servizio: presentazione Ailanto fornita, p. 3. Integrazione Alps proposta.</a:t>
            </a:r>
          </a:p>
        </p:txBody>
      </p:sp>
      <p:sp>
        <p:nvSpPr>
          <p:cNvPr id="10" name="03 / 13">
            <a:extLst xmlns:a="http://schemas.openxmlformats.org/drawingml/2006/main">
              <a:ext uri="{FF2B5EF4-FFF2-40B4-BE49-F238E27FC236}">
                <a16:creationId xmlns:a16="http://schemas.microsoft.com/office/drawing/2014/main" id="{EB4BCDC1-F8B6-455D-95A8-3B413A8556E9}"/>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03 / 13</a:t>
            </a:r>
          </a:p>
        </p:txBody>
      </p:sp>
      <p:sp>
        <p:nvSpPr>
          <p:cNvPr id="11" name="">
            <a:extLst xmlns:a="http://schemas.openxmlformats.org/drawingml/2006/main">
              <a:ext uri="{FF2B5EF4-FFF2-40B4-BE49-F238E27FC236}">
                <a16:creationId xmlns:a16="http://schemas.microsoft.com/office/drawing/2014/main" id="{DBF406E2-7E87-4405-BF82-F5028A4D48C9}"/>
              </a:ext>
            </a:extLst>
          </p:cNvPr>
          <p:cNvSpPr>
            <a:spLocks xmlns:a="http://schemas.openxmlformats.org/drawingml/2006/main" noGrp="1"/>
          </p:cNvSpPr>
          <p:nvPr/>
        </p:nvSpPr>
        <p:spPr>
          <a:xfrm xmlns:a="http://schemas.openxmlformats.org/drawingml/2006/main">
            <a:off x="914400" y="4749800"/>
            <a:ext cx="3149600" cy="914400"/>
          </a:xfrm>
          <a:prstGeom xmlns:a="http://schemas.openxmlformats.org/drawingml/2006/main" prst="roundRect">
            <a:avLst>
              <a:gd name="adj" fmla="val 13889"/>
            </a:avLst>
          </a:prstGeom>
          <a:solidFill xmlns:a="http://schemas.openxmlformats.org/drawingml/2006/main">
            <a:srgbClr val="102B28"/>
          </a:solidFill>
          <a:ln xmlns:a="http://schemas.openxmlformats.org/drawingml/2006/main" w="12700">
            <a:solidFill>
              <a:srgbClr val="396A59"/>
            </a:solidFill>
            <a:prstDash val="solid"/>
          </a:ln>
        </p:spPr>
      </p:sp>
      <p:sp>
        <p:nvSpPr>
          <p:cNvPr id="12" name="Sistemi aziendali">
            <a:extLst xmlns:a="http://schemas.openxmlformats.org/drawingml/2006/main">
              <a:ext uri="{FF2B5EF4-FFF2-40B4-BE49-F238E27FC236}">
                <a16:creationId xmlns:a16="http://schemas.microsoft.com/office/drawing/2014/main" id="{3986A75F-4887-418D-A72A-59139A50AD51}"/>
              </a:ext>
            </a:extLst>
          </p:cNvPr>
          <p:cNvSpPr>
            <a:spLocks xmlns:a="http://schemas.openxmlformats.org/drawingml/2006/main" noGrp="1"/>
          </p:cNvSpPr>
          <p:nvPr/>
        </p:nvSpPr>
        <p:spPr>
          <a:xfrm xmlns:a="http://schemas.openxmlformats.org/drawingml/2006/main">
            <a:off x="1155700" y="48641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1">
                <a:solidFill>
                  <a:srgbClr val="F4F4E9"/>
                </a:solidFill>
                <a:latin typeface="Liberation Sans"/>
                <a:ea typeface="Liberation Sans"/>
                <a:cs typeface="Liberation Sans"/>
              </a:defRPr>
            </a:defPPr>
          </a:lstStyle>
          <a:p xmlns:a="http://schemas.openxmlformats.org/drawingml/2006/main">
            <a:pPr>
              <a:lnSpc>
                <a:spcPct val="108000"/>
              </a:lnSpc>
              <a:buNone/>
              <a:defRPr sz="2200" b="1">
                <a:solidFill>
                  <a:srgbClr val="F4F4E9"/>
                </a:solidFill>
                <a:latin typeface="Liberation Sans"/>
                <a:ea typeface="Liberation Sans"/>
                <a:cs typeface="Liberation Sans"/>
              </a:defRPr>
            </a:pPr>
            <a:r>
              <a:rPr sz="2200" b="1">
                <a:solidFill>
                  <a:srgbClr val="F4F4E9"/>
                </a:solidFill>
                <a:latin typeface="Liberation Sans"/>
                <a:ea typeface="Liberation Sans"/>
                <a:cs typeface="Liberation Sans"/>
              </a:rPr>
              <a:t>Sistemi aziendali</a:t>
            </a:r>
          </a:p>
        </p:txBody>
      </p:sp>
      <p:sp>
        <p:nvSpPr>
          <p:cNvPr id="13" name="Dati e documenti">
            <a:extLst xmlns:a="http://schemas.openxmlformats.org/drawingml/2006/main">
              <a:ext uri="{FF2B5EF4-FFF2-40B4-BE49-F238E27FC236}">
                <a16:creationId xmlns:a16="http://schemas.microsoft.com/office/drawing/2014/main" id="{8A47902A-7EFC-411C-B10B-E4E59188EF62}"/>
              </a:ext>
            </a:extLst>
          </p:cNvPr>
          <p:cNvSpPr>
            <a:spLocks xmlns:a="http://schemas.openxmlformats.org/drawingml/2006/main" noGrp="1"/>
          </p:cNvSpPr>
          <p:nvPr/>
        </p:nvSpPr>
        <p:spPr>
          <a:xfrm xmlns:a="http://schemas.openxmlformats.org/drawingml/2006/main">
            <a:off x="1155700" y="52832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0">
                <a:solidFill>
                  <a:srgbClr val="B0C4BC"/>
                </a:solidFill>
                <a:latin typeface="Liberation Sans"/>
                <a:ea typeface="Liberation Sans"/>
                <a:cs typeface="Liberation Sans"/>
              </a:defRPr>
            </a:defPPr>
          </a:lstStyle>
          <a:p xmlns:a="http://schemas.openxmlformats.org/drawingml/2006/main">
            <a:pPr>
              <a:lnSpc>
                <a:spcPct val="108000"/>
              </a:lnSpc>
              <a:buNone/>
              <a:defRPr sz="1900" b="0">
                <a:solidFill>
                  <a:srgbClr val="B0C4BC"/>
                </a:solidFill>
                <a:latin typeface="Liberation Sans"/>
                <a:ea typeface="Liberation Sans"/>
                <a:cs typeface="Liberation Sans"/>
              </a:defRPr>
            </a:pPr>
            <a:r>
              <a:rPr sz="1900" b="0">
                <a:solidFill>
                  <a:srgbClr val="B0C4BC"/>
                </a:solidFill>
                <a:latin typeface="Liberation Sans"/>
                <a:ea typeface="Liberation Sans"/>
                <a:cs typeface="Liberation Sans"/>
              </a:rPr>
              <a:t>Dati e documenti</a:t>
            </a:r>
          </a:p>
        </p:txBody>
      </p:sp>
      <p:sp>
        <p:nvSpPr>
          <p:cNvPr id="14" name="">
            <a:extLst xmlns:a="http://schemas.openxmlformats.org/drawingml/2006/main">
              <a:ext uri="{FF2B5EF4-FFF2-40B4-BE49-F238E27FC236}">
                <a16:creationId xmlns:a16="http://schemas.microsoft.com/office/drawing/2014/main" id="{1900A5A3-9B18-4D73-BDCD-E641092EBB55}"/>
              </a:ext>
            </a:extLst>
          </p:cNvPr>
          <p:cNvSpPr>
            <a:spLocks xmlns:a="http://schemas.openxmlformats.org/drawingml/2006/main" noGrp="1"/>
          </p:cNvSpPr>
          <p:nvPr/>
        </p:nvSpPr>
        <p:spPr>
          <a:xfrm xmlns:a="http://schemas.openxmlformats.org/drawingml/2006/main">
            <a:off x="914400" y="6045200"/>
            <a:ext cx="3149600" cy="914400"/>
          </a:xfrm>
          <a:prstGeom xmlns:a="http://schemas.openxmlformats.org/drawingml/2006/main" prst="roundRect">
            <a:avLst>
              <a:gd name="adj" fmla="val 13889"/>
            </a:avLst>
          </a:prstGeom>
          <a:solidFill xmlns:a="http://schemas.openxmlformats.org/drawingml/2006/main">
            <a:srgbClr val="102B28"/>
          </a:solidFill>
          <a:ln xmlns:a="http://schemas.openxmlformats.org/drawingml/2006/main" w="12700">
            <a:solidFill>
              <a:srgbClr val="396A59"/>
            </a:solidFill>
            <a:prstDash val="solid"/>
          </a:ln>
        </p:spPr>
      </p:sp>
      <p:sp>
        <p:nvSpPr>
          <p:cNvPr id="15" name="BMS e dispositivi">
            <a:extLst xmlns:a="http://schemas.openxmlformats.org/drawingml/2006/main">
              <a:ext uri="{FF2B5EF4-FFF2-40B4-BE49-F238E27FC236}">
                <a16:creationId xmlns:a16="http://schemas.microsoft.com/office/drawing/2014/main" id="{3EB95C5C-D68C-4CA3-8CEE-F158FF9798F5}"/>
              </a:ext>
            </a:extLst>
          </p:cNvPr>
          <p:cNvSpPr>
            <a:spLocks xmlns:a="http://schemas.openxmlformats.org/drawingml/2006/main" noGrp="1"/>
          </p:cNvSpPr>
          <p:nvPr/>
        </p:nvSpPr>
        <p:spPr>
          <a:xfrm xmlns:a="http://schemas.openxmlformats.org/drawingml/2006/main">
            <a:off x="1155700" y="61595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1">
                <a:solidFill>
                  <a:srgbClr val="F4F4E9"/>
                </a:solidFill>
                <a:latin typeface="Liberation Sans"/>
                <a:ea typeface="Liberation Sans"/>
                <a:cs typeface="Liberation Sans"/>
              </a:defRPr>
            </a:defPPr>
          </a:lstStyle>
          <a:p xmlns:a="http://schemas.openxmlformats.org/drawingml/2006/main">
            <a:pPr>
              <a:lnSpc>
                <a:spcPct val="108000"/>
              </a:lnSpc>
              <a:buNone/>
              <a:defRPr sz="2200" b="1">
                <a:solidFill>
                  <a:srgbClr val="F4F4E9"/>
                </a:solidFill>
                <a:latin typeface="Liberation Sans"/>
                <a:ea typeface="Liberation Sans"/>
                <a:cs typeface="Liberation Sans"/>
              </a:defRPr>
            </a:pPr>
            <a:r>
              <a:rPr sz="2200" b="1">
                <a:solidFill>
                  <a:srgbClr val="F4F4E9"/>
                </a:solidFill>
                <a:latin typeface="Liberation Sans"/>
                <a:ea typeface="Liberation Sans"/>
                <a:cs typeface="Liberation Sans"/>
              </a:rPr>
              <a:t>BMS e dispositivi</a:t>
            </a:r>
          </a:p>
        </p:txBody>
      </p:sp>
      <p:sp>
        <p:nvSpPr>
          <p:cNvPr id="16" name="Misure disponibili">
            <a:extLst xmlns:a="http://schemas.openxmlformats.org/drawingml/2006/main">
              <a:ext uri="{FF2B5EF4-FFF2-40B4-BE49-F238E27FC236}">
                <a16:creationId xmlns:a16="http://schemas.microsoft.com/office/drawing/2014/main" id="{7D5BB4FE-4905-436E-9CC1-F490B14BBBDA}"/>
              </a:ext>
            </a:extLst>
          </p:cNvPr>
          <p:cNvSpPr>
            <a:spLocks xmlns:a="http://schemas.openxmlformats.org/drawingml/2006/main" noGrp="1"/>
          </p:cNvSpPr>
          <p:nvPr/>
        </p:nvSpPr>
        <p:spPr>
          <a:xfrm xmlns:a="http://schemas.openxmlformats.org/drawingml/2006/main">
            <a:off x="1155700" y="65786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0">
                <a:solidFill>
                  <a:srgbClr val="B0C4BC"/>
                </a:solidFill>
                <a:latin typeface="Liberation Sans"/>
                <a:ea typeface="Liberation Sans"/>
                <a:cs typeface="Liberation Sans"/>
              </a:defRPr>
            </a:defPPr>
          </a:lstStyle>
          <a:p xmlns:a="http://schemas.openxmlformats.org/drawingml/2006/main">
            <a:pPr>
              <a:lnSpc>
                <a:spcPct val="108000"/>
              </a:lnSpc>
              <a:buNone/>
              <a:defRPr sz="1900" b="0">
                <a:solidFill>
                  <a:srgbClr val="B0C4BC"/>
                </a:solidFill>
                <a:latin typeface="Liberation Sans"/>
                <a:ea typeface="Liberation Sans"/>
                <a:cs typeface="Liberation Sans"/>
              </a:defRPr>
            </a:pPr>
            <a:r>
              <a:rPr sz="1900" b="0">
                <a:solidFill>
                  <a:srgbClr val="B0C4BC"/>
                </a:solidFill>
                <a:latin typeface="Liberation Sans"/>
                <a:ea typeface="Liberation Sans"/>
                <a:cs typeface="Liberation Sans"/>
              </a:rPr>
              <a:t>Misure disponibili</a:t>
            </a:r>
          </a:p>
        </p:txBody>
      </p:sp>
      <p:sp>
        <p:nvSpPr>
          <p:cNvPr id="17" name="">
            <a:extLst xmlns:a="http://schemas.openxmlformats.org/drawingml/2006/main">
              <a:ext uri="{FF2B5EF4-FFF2-40B4-BE49-F238E27FC236}">
                <a16:creationId xmlns:a16="http://schemas.microsoft.com/office/drawing/2014/main" id="{7F0A4F95-9557-4C0E-B496-11EEB1AA18A5}"/>
              </a:ext>
            </a:extLst>
          </p:cNvPr>
          <p:cNvSpPr>
            <a:spLocks xmlns:a="http://schemas.openxmlformats.org/drawingml/2006/main" noGrp="1"/>
          </p:cNvSpPr>
          <p:nvPr/>
        </p:nvSpPr>
        <p:spPr>
          <a:xfrm xmlns:a="http://schemas.openxmlformats.org/drawingml/2006/main">
            <a:off x="4775200" y="5270500"/>
            <a:ext cx="1803400" cy="1143000"/>
          </a:xfrm>
          <a:prstGeom xmlns:a="http://schemas.openxmlformats.org/drawingml/2006/main" prst="roundRect">
            <a:avLst>
              <a:gd name="adj" fmla="val 11111"/>
            </a:avLst>
          </a:prstGeom>
          <a:solidFill xmlns:a="http://schemas.openxmlformats.org/drawingml/2006/main">
            <a:srgbClr val="102B28"/>
          </a:solidFill>
          <a:ln xmlns:a="http://schemas.openxmlformats.org/drawingml/2006/main" w="12700">
            <a:solidFill>
              <a:srgbClr val="396A59"/>
            </a:solidFill>
            <a:prstDash val="solid"/>
          </a:ln>
        </p:spPr>
      </p:sp>
      <p:sp>
        <p:nvSpPr>
          <p:cNvPr id="18" name="API REST">
            <a:extLst xmlns:a="http://schemas.openxmlformats.org/drawingml/2006/main">
              <a:ext uri="{FF2B5EF4-FFF2-40B4-BE49-F238E27FC236}">
                <a16:creationId xmlns:a16="http://schemas.microsoft.com/office/drawing/2014/main" id="{7A41DF72-F50E-4D1B-B53A-B069B87DF92C}"/>
              </a:ext>
            </a:extLst>
          </p:cNvPr>
          <p:cNvSpPr>
            <a:spLocks xmlns:a="http://schemas.openxmlformats.org/drawingml/2006/main" noGrp="1"/>
          </p:cNvSpPr>
          <p:nvPr/>
        </p:nvSpPr>
        <p:spPr>
          <a:xfrm xmlns:a="http://schemas.openxmlformats.org/drawingml/2006/main">
            <a:off x="4953000" y="5486400"/>
            <a:ext cx="1498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1">
                <a:solidFill>
                  <a:srgbClr val="F4F4E9"/>
                </a:solidFill>
                <a:latin typeface="Liberation Sans"/>
                <a:ea typeface="Liberation Sans"/>
                <a:cs typeface="Liberation Sans"/>
              </a:defRPr>
            </a:defPPr>
          </a:lstStyle>
          <a:p xmlns:a="http://schemas.openxmlformats.org/drawingml/2006/main">
            <a:pPr>
              <a:lnSpc>
                <a:spcPct val="108000"/>
              </a:lnSpc>
              <a:buNone/>
              <a:defRPr sz="2300" b="1">
                <a:solidFill>
                  <a:srgbClr val="F4F4E9"/>
                </a:solidFill>
                <a:latin typeface="Liberation Sans"/>
                <a:ea typeface="Liberation Sans"/>
                <a:cs typeface="Liberation Sans"/>
              </a:defRPr>
            </a:pPr>
            <a:r>
              <a:rPr sz="2300" b="1">
                <a:solidFill>
                  <a:srgbClr val="F4F4E9"/>
                </a:solidFill>
                <a:latin typeface="Liberation Sans"/>
                <a:ea typeface="Liberation Sans"/>
                <a:cs typeface="Liberation Sans"/>
              </a:rPr>
              <a:t>API REST</a:t>
            </a:r>
          </a:p>
        </p:txBody>
      </p:sp>
      <p:sp>
        <p:nvSpPr>
          <p:cNvPr id="19" name="Integrazione">
            <a:extLst xmlns:a="http://schemas.openxmlformats.org/drawingml/2006/main">
              <a:ext uri="{FF2B5EF4-FFF2-40B4-BE49-F238E27FC236}">
                <a16:creationId xmlns:a16="http://schemas.microsoft.com/office/drawing/2014/main" id="{F2C9126A-BEAD-4568-85EA-EF3EE907B091}"/>
              </a:ext>
            </a:extLst>
          </p:cNvPr>
          <p:cNvSpPr>
            <a:spLocks xmlns:a="http://schemas.openxmlformats.org/drawingml/2006/main" noGrp="1"/>
          </p:cNvSpPr>
          <p:nvPr/>
        </p:nvSpPr>
        <p:spPr>
          <a:xfrm xmlns:a="http://schemas.openxmlformats.org/drawingml/2006/main">
            <a:off x="4965700" y="5918200"/>
            <a:ext cx="1473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0C4BC"/>
                </a:solidFill>
                <a:latin typeface="Liberation Sans"/>
                <a:ea typeface="Liberation Sans"/>
                <a:cs typeface="Liberation Sans"/>
              </a:defRPr>
            </a:defPPr>
          </a:lstStyle>
          <a:p xmlns:a="http://schemas.openxmlformats.org/drawingml/2006/main">
            <a:pPr>
              <a:lnSpc>
                <a:spcPct val="108000"/>
              </a:lnSpc>
              <a:buNone/>
              <a:defRPr sz="1800" b="0">
                <a:solidFill>
                  <a:srgbClr val="B0C4BC"/>
                </a:solidFill>
                <a:latin typeface="Liberation Sans"/>
                <a:ea typeface="Liberation Sans"/>
                <a:cs typeface="Liberation Sans"/>
              </a:defRPr>
            </a:pPr>
            <a:r>
              <a:rPr sz="1800" b="0">
                <a:solidFill>
                  <a:srgbClr val="B0C4BC"/>
                </a:solidFill>
                <a:latin typeface="Liberation Sans"/>
                <a:ea typeface="Liberation Sans"/>
                <a:cs typeface="Liberation Sans"/>
              </a:rPr>
              <a:t>Integrazione</a:t>
            </a:r>
          </a:p>
        </p:txBody>
      </p:sp>
      <p:sp>
        <p:nvSpPr>
          <p:cNvPr id="20" name="">
            <a:extLst xmlns:a="http://schemas.openxmlformats.org/drawingml/2006/main">
              <a:ext uri="{FF2B5EF4-FFF2-40B4-BE49-F238E27FC236}">
                <a16:creationId xmlns:a16="http://schemas.microsoft.com/office/drawing/2014/main" id="{F0FA3426-2268-4275-ACE0-647F0E9C015E}"/>
              </a:ext>
            </a:extLst>
          </p:cNvPr>
          <p:cNvSpPr>
            <a:spLocks xmlns:a="http://schemas.openxmlformats.org/drawingml/2006/main" noGrp="1"/>
          </p:cNvSpPr>
          <p:nvPr/>
        </p:nvSpPr>
        <p:spPr>
          <a:xfrm xmlns:a="http://schemas.openxmlformats.org/drawingml/2006/main">
            <a:off x="7137400" y="5003800"/>
            <a:ext cx="3708400" cy="1701800"/>
          </a:xfrm>
          <a:prstGeom xmlns:a="http://schemas.openxmlformats.org/drawingml/2006/main" prst="roundRect">
            <a:avLst>
              <a:gd name="adj" fmla="val 7463"/>
            </a:avLst>
          </a:prstGeom>
          <a:solidFill xmlns:a="http://schemas.openxmlformats.org/drawingml/2006/main">
            <a:srgbClr val="183F37"/>
          </a:solidFill>
          <a:ln xmlns:a="http://schemas.openxmlformats.org/drawingml/2006/main" w="12700">
            <a:solidFill>
              <a:srgbClr val="396A59"/>
            </a:solidFill>
            <a:prstDash val="solid"/>
          </a:ln>
        </p:spPr>
      </p:sp>
      <p:sp>
        <p:nvSpPr>
          <p:cNvPr id="21" name="Blockchain privata">
            <a:extLst xmlns:a="http://schemas.openxmlformats.org/drawingml/2006/main">
              <a:ext uri="{FF2B5EF4-FFF2-40B4-BE49-F238E27FC236}">
                <a16:creationId xmlns:a16="http://schemas.microsoft.com/office/drawing/2014/main" id="{86EC7AFD-B6C2-45E0-8492-C9E99F92A66A}"/>
              </a:ext>
            </a:extLst>
          </p:cNvPr>
          <p:cNvSpPr>
            <a:spLocks xmlns:a="http://schemas.openxmlformats.org/drawingml/2006/main" noGrp="1"/>
          </p:cNvSpPr>
          <p:nvPr/>
        </p:nvSpPr>
        <p:spPr>
          <a:xfrm xmlns:a="http://schemas.openxmlformats.org/drawingml/2006/main">
            <a:off x="7391400" y="5156200"/>
            <a:ext cx="332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F4F4E9"/>
                </a:solidFill>
                <a:latin typeface="Liberation Sans"/>
                <a:ea typeface="Liberation Sans"/>
                <a:cs typeface="Liberation Sans"/>
              </a:defRPr>
            </a:defPPr>
          </a:lstStyle>
          <a:p xmlns:a="http://schemas.openxmlformats.org/drawingml/2006/main">
            <a:pPr>
              <a:lnSpc>
                <a:spcPct val="108000"/>
              </a:lnSpc>
              <a:buNone/>
              <a:defRPr sz="2600" b="1">
                <a:solidFill>
                  <a:srgbClr val="F4F4E9"/>
                </a:solidFill>
                <a:latin typeface="Liberation Sans"/>
                <a:ea typeface="Liberation Sans"/>
                <a:cs typeface="Liberation Sans"/>
              </a:defRPr>
            </a:pPr>
            <a:r>
              <a:rPr sz="2600" b="1">
                <a:solidFill>
                  <a:srgbClr val="F4F4E9"/>
                </a:solidFill>
                <a:latin typeface="Liberation Sans"/>
                <a:ea typeface="Liberation Sans"/>
                <a:cs typeface="Liberation Sans"/>
              </a:rPr>
              <a:t>Blockchain privata</a:t>
            </a:r>
          </a:p>
        </p:txBody>
      </p:sp>
      <p:sp>
        <p:nvSpPr>
          <p:cNvPr id="22" name="Registrazione dei dati&#10;Staging e scalabilità">
            <a:extLst xmlns:a="http://schemas.openxmlformats.org/drawingml/2006/main">
              <a:ext uri="{FF2B5EF4-FFF2-40B4-BE49-F238E27FC236}">
                <a16:creationId xmlns:a16="http://schemas.microsoft.com/office/drawing/2014/main" id="{E2D2342A-2CE2-4115-80B0-ECAD9D179316}"/>
              </a:ext>
            </a:extLst>
          </p:cNvPr>
          <p:cNvSpPr>
            <a:spLocks xmlns:a="http://schemas.openxmlformats.org/drawingml/2006/main" noGrp="1"/>
          </p:cNvSpPr>
          <p:nvPr/>
        </p:nvSpPr>
        <p:spPr>
          <a:xfrm xmlns:a="http://schemas.openxmlformats.org/drawingml/2006/main">
            <a:off x="7391400" y="5727700"/>
            <a:ext cx="31750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0C4BC"/>
                </a:solidFill>
                <a:latin typeface="Liberation Sans"/>
                <a:ea typeface="Liberation Sans"/>
                <a:cs typeface="Liberation Sans"/>
              </a:defRPr>
            </a:defPPr>
          </a:lstStyle>
          <a:p xmlns:a="http://schemas.openxmlformats.org/drawingml/2006/main">
            <a:pPr>
              <a:lnSpc>
                <a:spcPct val="108000"/>
              </a:lnSpc>
              <a:buNone/>
              <a:defRPr sz="2100" b="0">
                <a:solidFill>
                  <a:srgbClr val="B0C4BC"/>
                </a:solidFill>
                <a:latin typeface="Liberation Sans"/>
                <a:ea typeface="Liberation Sans"/>
                <a:cs typeface="Liberation Sans"/>
              </a:defRPr>
            </a:pPr>
            <a:r>
              <a:rPr sz="2100" b="0">
                <a:solidFill>
                  <a:srgbClr val="B0C4BC"/>
                </a:solidFill>
                <a:latin typeface="Liberation Sans"/>
                <a:ea typeface="Liberation Sans"/>
                <a:cs typeface="Liberation Sans"/>
              </a:rPr>
              <a:t>Registrazione dei dati</a:t>
            </a:r>
          </a:p>
          <a:p xmlns:a="http://schemas.openxmlformats.org/drawingml/2006/main">
            <a:pPr>
              <a:lnSpc>
                <a:spcPct val="108000"/>
              </a:lnSpc>
              <a:buNone/>
              <a:defRPr sz="2100" b="0">
                <a:solidFill>
                  <a:srgbClr val="B0C4BC"/>
                </a:solidFill>
                <a:latin typeface="Liberation Sans"/>
                <a:ea typeface="Liberation Sans"/>
                <a:cs typeface="Liberation Sans"/>
              </a:defRPr>
            </a:pPr>
            <a:r>
              <a:rPr sz="2100" b="0">
                <a:solidFill>
                  <a:srgbClr val="B0C4BC"/>
                </a:solidFill>
                <a:latin typeface="Liberation Sans"/>
                <a:ea typeface="Liberation Sans"/>
                <a:cs typeface="Liberation Sans"/>
              </a:rPr>
              <a:t>Staging e scalabilità</a:t>
            </a:r>
          </a:p>
        </p:txBody>
      </p:sp>
      <p:sp>
        <p:nvSpPr>
          <p:cNvPr id="23" name="">
            <a:extLst xmlns:a="http://schemas.openxmlformats.org/drawingml/2006/main">
              <a:ext uri="{FF2B5EF4-FFF2-40B4-BE49-F238E27FC236}">
                <a16:creationId xmlns:a16="http://schemas.microsoft.com/office/drawing/2014/main" id="{A5823073-F92E-4FA0-9A00-734E81B3A348}"/>
              </a:ext>
            </a:extLst>
          </p:cNvPr>
          <p:cNvSpPr>
            <a:spLocks xmlns:a="http://schemas.openxmlformats.org/drawingml/2006/main" noGrp="1"/>
          </p:cNvSpPr>
          <p:nvPr/>
        </p:nvSpPr>
        <p:spPr>
          <a:xfrm xmlns:a="http://schemas.openxmlformats.org/drawingml/2006/main">
            <a:off x="11760200" y="5003800"/>
            <a:ext cx="3581400" cy="1701800"/>
          </a:xfrm>
          <a:prstGeom xmlns:a="http://schemas.openxmlformats.org/drawingml/2006/main" prst="roundRect">
            <a:avLst>
              <a:gd name="adj" fmla="val 7463"/>
            </a:avLst>
          </a:prstGeom>
          <a:solidFill xmlns:a="http://schemas.openxmlformats.org/drawingml/2006/main">
            <a:srgbClr val="102B28"/>
          </a:solidFill>
          <a:ln xmlns:a="http://schemas.openxmlformats.org/drawingml/2006/main" w="12700">
            <a:solidFill>
              <a:srgbClr val="396A59"/>
            </a:solidFill>
            <a:prstDash val="solid"/>
          </a:ln>
        </p:spPr>
      </p:sp>
      <p:sp>
        <p:nvSpPr>
          <p:cNvPr id="24" name="Blockchain pubblica">
            <a:extLst xmlns:a="http://schemas.openxmlformats.org/drawingml/2006/main">
              <a:ext uri="{FF2B5EF4-FFF2-40B4-BE49-F238E27FC236}">
                <a16:creationId xmlns:a16="http://schemas.microsoft.com/office/drawing/2014/main" id="{359B96C7-3B1B-4441-B182-E31C2B891B46}"/>
              </a:ext>
            </a:extLst>
          </p:cNvPr>
          <p:cNvSpPr>
            <a:spLocks xmlns:a="http://schemas.openxmlformats.org/drawingml/2006/main" noGrp="1"/>
          </p:cNvSpPr>
          <p:nvPr/>
        </p:nvSpPr>
        <p:spPr>
          <a:xfrm xmlns:a="http://schemas.openxmlformats.org/drawingml/2006/main">
            <a:off x="12014200" y="5156200"/>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F4F4E9"/>
                </a:solidFill>
                <a:latin typeface="Liberation Sans"/>
                <a:ea typeface="Liberation Sans"/>
                <a:cs typeface="Liberation Sans"/>
              </a:defRPr>
            </a:defPPr>
          </a:lstStyle>
          <a:p xmlns:a="http://schemas.openxmlformats.org/drawingml/2006/main">
            <a:pPr>
              <a:lnSpc>
                <a:spcPct val="108000"/>
              </a:lnSpc>
              <a:buNone/>
              <a:defRPr sz="2500" b="1">
                <a:solidFill>
                  <a:srgbClr val="F4F4E9"/>
                </a:solidFill>
                <a:latin typeface="Liberation Sans"/>
                <a:ea typeface="Liberation Sans"/>
                <a:cs typeface="Liberation Sans"/>
              </a:defRPr>
            </a:pPr>
            <a:r>
              <a:rPr sz="2500" b="1">
                <a:solidFill>
                  <a:srgbClr val="F4F4E9"/>
                </a:solidFill>
                <a:latin typeface="Liberation Sans"/>
                <a:ea typeface="Liberation Sans"/>
                <a:cs typeface="Liberation Sans"/>
              </a:rPr>
              <a:t>Blockchain pubblica</a:t>
            </a:r>
          </a:p>
        </p:txBody>
      </p:sp>
      <p:sp>
        <p:nvSpPr>
          <p:cNvPr id="25" name="Ancoraggio delle impronte&#10;Verifica dell’integrità">
            <a:extLst xmlns:a="http://schemas.openxmlformats.org/drawingml/2006/main">
              <a:ext uri="{FF2B5EF4-FFF2-40B4-BE49-F238E27FC236}">
                <a16:creationId xmlns:a16="http://schemas.microsoft.com/office/drawing/2014/main" id="{FA0D7449-403B-43AC-8A7B-3CF9C0295D44}"/>
              </a:ext>
            </a:extLst>
          </p:cNvPr>
          <p:cNvSpPr>
            <a:spLocks xmlns:a="http://schemas.openxmlformats.org/drawingml/2006/main" noGrp="1"/>
          </p:cNvSpPr>
          <p:nvPr/>
        </p:nvSpPr>
        <p:spPr>
          <a:xfrm xmlns:a="http://schemas.openxmlformats.org/drawingml/2006/main">
            <a:off x="12014200" y="5727700"/>
            <a:ext cx="30988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a:solidFill>
                  <a:srgbClr val="B0C4BC"/>
                </a:solidFill>
                <a:latin typeface="Liberation Sans"/>
                <a:ea typeface="Liberation Sans"/>
                <a:cs typeface="Liberation Sans"/>
              </a:defRPr>
            </a:defPPr>
          </a:lstStyle>
          <a:p xmlns:a="http://schemas.openxmlformats.org/drawingml/2006/main">
            <a:pPr>
              <a:lnSpc>
                <a:spcPct val="108000"/>
              </a:lnSpc>
              <a:buNone/>
              <a:defRPr sz="2000" b="0">
                <a:solidFill>
                  <a:srgbClr val="B0C4BC"/>
                </a:solidFill>
                <a:latin typeface="Liberation Sans"/>
                <a:ea typeface="Liberation Sans"/>
                <a:cs typeface="Liberation Sans"/>
              </a:defRPr>
            </a:pPr>
            <a:r>
              <a:rPr sz="2000" b="0">
                <a:solidFill>
                  <a:srgbClr val="B0C4BC"/>
                </a:solidFill>
                <a:latin typeface="Liberation Sans"/>
                <a:ea typeface="Liberation Sans"/>
                <a:cs typeface="Liberation Sans"/>
              </a:rPr>
              <a:t>Ancoraggio delle impronte</a:t>
            </a:r>
          </a:p>
          <a:p xmlns:a="http://schemas.openxmlformats.org/drawingml/2006/main">
            <a:pPr>
              <a:lnSpc>
                <a:spcPct val="108000"/>
              </a:lnSpc>
              <a:buNone/>
              <a:defRPr sz="2000" b="0">
                <a:solidFill>
                  <a:srgbClr val="B0C4BC"/>
                </a:solidFill>
                <a:latin typeface="Liberation Sans"/>
                <a:ea typeface="Liberation Sans"/>
                <a:cs typeface="Liberation Sans"/>
              </a:defRPr>
            </a:pPr>
            <a:r>
              <a:rPr sz="2000" b="0">
                <a:solidFill>
                  <a:srgbClr val="B0C4BC"/>
                </a:solidFill>
                <a:latin typeface="Liberation Sans"/>
                <a:ea typeface="Liberation Sans"/>
                <a:cs typeface="Liberation Sans"/>
              </a:rPr>
              <a:t>Verifica dell’integrità</a:t>
            </a:r>
          </a:p>
        </p:txBody>
      </p:sp>
      <p:sp>
        <p:nvSpPr>
          <p:cNvPr id="26" name="SEGMENTO">
            <a:extLst xmlns:a="http://schemas.openxmlformats.org/drawingml/2006/main">
              <a:ext uri="{FF2B5EF4-FFF2-40B4-BE49-F238E27FC236}">
                <a16:creationId xmlns:a16="http://schemas.microsoft.com/office/drawing/2014/main" id="{4B9F729B-D33B-45DC-80F8-DB30AFAAA9F5}"/>
              </a:ext>
            </a:extLst>
          </p:cNvPr>
          <p:cNvSpPr>
            <a:spLocks xmlns:a="http://schemas.openxmlformats.org/drawingml/2006/main" noGrp="1"/>
          </p:cNvSpPr>
          <p:nvPr/>
        </p:nvSpPr>
        <p:spPr>
          <a:xfrm xmlns:a="http://schemas.openxmlformats.org/drawingml/2006/main">
            <a:off x="7137400" y="4419600"/>
            <a:ext cx="254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SEGMENTO</a:t>
            </a:r>
          </a:p>
        </p:txBody>
      </p:sp>
      <p:sp>
        <p:nvSpPr>
          <p:cNvPr id="27" name="">
            <a:extLst xmlns:a="http://schemas.openxmlformats.org/drawingml/2006/main">
              <a:ext uri="{FF2B5EF4-FFF2-40B4-BE49-F238E27FC236}">
                <a16:creationId xmlns:a16="http://schemas.microsoft.com/office/drawing/2014/main" id="{AB2977F1-FCA9-44AE-8701-3A43A1DD145B}"/>
              </a:ext>
            </a:extLst>
          </p:cNvPr>
          <p:cNvSpPr>
            <a:spLocks xmlns:a="http://schemas.openxmlformats.org/drawingml/2006/main" noGrp="1"/>
          </p:cNvSpPr>
          <p:nvPr/>
        </p:nvSpPr>
        <p:spPr>
          <a:xfrm xmlns:a="http://schemas.openxmlformats.org/drawingml/2006/main">
            <a:off x="7137400" y="4724400"/>
            <a:ext cx="8204200" cy="0"/>
          </a:xfrm>
          <a:prstGeom xmlns:a="http://schemas.openxmlformats.org/drawingml/2006/main" prst="line">
            <a:avLst/>
          </a:prstGeom>
          <a:noFill xmlns:a="http://schemas.openxmlformats.org/drawingml/2006/main"/>
          <a:ln xmlns:a="http://schemas.openxmlformats.org/drawingml/2006/main" w="12700">
            <a:solidFill>
              <a:srgbClr val="396A59"/>
            </a:solidFill>
            <a:prstDash val="solid"/>
          </a:ln>
        </p:spPr>
      </p:sp>
      <p:sp>
        <p:nvSpPr>
          <p:cNvPr id="32" name="Impronte">
            <a:extLst xmlns:a="http://schemas.openxmlformats.org/drawingml/2006/main">
              <a:ext uri="{FF2B5EF4-FFF2-40B4-BE49-F238E27FC236}">
                <a16:creationId xmlns:a16="http://schemas.microsoft.com/office/drawing/2014/main" id="{662AE05D-E0C9-461D-A63E-62FB783A95F4}"/>
              </a:ext>
            </a:extLst>
          </p:cNvPr>
          <p:cNvSpPr>
            <a:spLocks xmlns:a="http://schemas.openxmlformats.org/drawingml/2006/main" noGrp="1"/>
          </p:cNvSpPr>
          <p:nvPr/>
        </p:nvSpPr>
        <p:spPr>
          <a:xfrm xmlns:a="http://schemas.openxmlformats.org/drawingml/2006/main">
            <a:off x="10922000" y="5499100"/>
            <a:ext cx="8382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C8F67C"/>
                </a:solidFill>
                <a:latin typeface="Liberation Sans"/>
                <a:ea typeface="Liberation Sans"/>
                <a:cs typeface="Liberation Sans"/>
              </a:defRPr>
            </a:defPPr>
          </a:lstStyle>
          <a:p xmlns:a="http://schemas.openxmlformats.org/drawingml/2006/main">
            <a:pPr>
              <a:lnSpc>
                <a:spcPct val="108000"/>
              </a:lnSpc>
              <a:buNone/>
              <a:defRPr sz="1400" b="0">
                <a:solidFill>
                  <a:srgbClr val="C8F67C"/>
                </a:solidFill>
                <a:latin typeface="Liberation Sans"/>
                <a:ea typeface="Liberation Sans"/>
                <a:cs typeface="Liberation Sans"/>
              </a:defRPr>
            </a:pPr>
            <a:r>
              <a:rPr sz="1400" b="0">
                <a:solidFill>
                  <a:srgbClr val="C8F67C"/>
                </a:solidFill>
                <a:latin typeface="Liberation Sans"/>
                <a:ea typeface="Liberation Sans"/>
                <a:cs typeface="Liberation Sans"/>
              </a:rPr>
              <a:t>Impronte</a:t>
            </a:r>
          </a:p>
        </p:txBody>
      </p:sp>
      <p:sp>
        <p:nvSpPr>
          <p:cNvPr id="33" name="">
            <a:extLst xmlns:a="http://schemas.openxmlformats.org/drawingml/2006/main">
              <a:ext uri="{FF2B5EF4-FFF2-40B4-BE49-F238E27FC236}">
                <a16:creationId xmlns:a16="http://schemas.microsoft.com/office/drawing/2014/main" id="{7D7FD32E-FF1F-4658-8AAA-71C36FBFBE71}"/>
              </a:ext>
            </a:extLst>
          </p:cNvPr>
          <p:cNvSpPr>
            <a:spLocks xmlns:a="http://schemas.openxmlformats.org/drawingml/2006/main" noGrp="1"/>
          </p:cNvSpPr>
          <p:nvPr/>
        </p:nvSpPr>
        <p:spPr>
          <a:xfrm xmlns:a="http://schemas.openxmlformats.org/drawingml/2006/main">
            <a:off x="914400" y="7505700"/>
            <a:ext cx="144272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sp>
        <p:nvSpPr>
          <p:cNvPr id="34" name="Per Alps Battery: configurazioni, collaudi e interve">
            <a:extLst xmlns:a="http://schemas.openxmlformats.org/drawingml/2006/main">
              <a:ext uri="{FF2B5EF4-FFF2-40B4-BE49-F238E27FC236}">
                <a16:creationId xmlns:a16="http://schemas.microsoft.com/office/drawing/2014/main" id="{73EDC732-CC01-490E-A1B4-47C49E4BDAC9}"/>
              </a:ext>
            </a:extLst>
          </p:cNvPr>
          <p:cNvSpPr>
            <a:spLocks xmlns:a="http://schemas.openxmlformats.org/drawingml/2006/main" noGrp="1"/>
          </p:cNvSpPr>
          <p:nvPr/>
        </p:nvSpPr>
        <p:spPr>
          <a:xfrm xmlns:a="http://schemas.openxmlformats.org/drawingml/2006/main">
            <a:off x="1168400" y="7670800"/>
            <a:ext cx="139192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1">
                <a:solidFill>
                  <a:srgbClr val="F4F4E9"/>
                </a:solidFill>
                <a:latin typeface="Liberation Sans"/>
                <a:ea typeface="Liberation Sans"/>
                <a:cs typeface="Liberation Sans"/>
              </a:defRPr>
            </a:defPPr>
          </a:lstStyle>
          <a:p xmlns:a="http://schemas.openxmlformats.org/drawingml/2006/main">
            <a:pPr>
              <a:lnSpc>
                <a:spcPct val="108000"/>
              </a:lnSpc>
              <a:buNone/>
              <a:defRPr sz="1900" b="1">
                <a:solidFill>
                  <a:srgbClr val="F4F4E9"/>
                </a:solidFill>
                <a:latin typeface="Liberation Sans"/>
                <a:ea typeface="Liberation Sans"/>
                <a:cs typeface="Liberation Sans"/>
              </a:defRPr>
            </a:pPr>
            <a:r>
              <a:rPr sz="1900" b="1">
                <a:solidFill>
                  <a:srgbClr val="F4F4E9"/>
                </a:solidFill>
                <a:latin typeface="Liberation Sans"/>
                <a:ea typeface="Liberation Sans"/>
                <a:cs typeface="Liberation Sans"/>
              </a:rPr>
              <a:t>Per Alps Battery: configurazioni, collaudi e interventi collegati a evidenze verificabili.</a:t>
            </a:r>
          </a:p>
        </p:txBody>
      </p:sp>
    </p:spTree>
    <p:extLst>
      <p:ext uri="{BB962C8B-B14F-4D97-AF65-F5344CB8AC3E}">
        <p14:creationId xmlns:p14="http://schemas.microsoft.com/office/powerpoint/2010/main" val="1930873990"/>
      </p:ext>
    </p:extLst>
  </p:cSld>
</p:sld>
</file>

<file path=ppt/slides/slide4.xml><?xml version="1.0" encoding="utf-8"?>
<p:sld xmlns:p="http://schemas.openxmlformats.org/presentationml/2006/main">
  <p:cSld>
    <p:bg>
      <p:bgPr>
        <a:solidFill xmlns:a="http://schemas.openxmlformats.org/drawingml/2006/main">
          <a:srgbClr val="F0F1E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122FF5C-8FB4-4984-B82F-7669AA1D919D}"/>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2EA86855-DB74-4771-8755-38D8638CFF21}"/>
              </a:ext>
            </a:extLst>
          </p:cNvPr>
          <p:cNvPicPr>
            <a:picLocks xmlns:a="http://schemas.openxmlformats.org/drawingml/2006/main" noChangeAspect="1"/>
          </p:cNvPicPr>
          <p:nvPr/>
        </p:nvPicPr>
        <p:blipFill>
          <a:blip xmlns:r="http://schemas.openxmlformats.org/officeDocument/2006/relationships" xmlns:a="http://schemas.openxmlformats.org/drawingml/2006/main" r:embed="R1e55500d666249c6"/>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61C1A21-BAB5-4ED4-A006-4EA3C75A7947}"/>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F02FF774-AFEE-4570-B45D-5A0C6024536A}"/>
              </a:ext>
            </a:extLst>
          </p:cNvPr>
          <p:cNvPicPr>
            <a:picLocks xmlns:a="http://schemas.openxmlformats.org/drawingml/2006/main" noChangeAspect="1"/>
          </p:cNvPicPr>
          <p:nvPr/>
        </p:nvPicPr>
        <p:blipFill>
          <a:blip xmlns:r="http://schemas.openxmlformats.org/officeDocument/2006/relationships" xmlns:a="http://schemas.openxmlformats.org/drawingml/2006/main" r:embed="R93189cd1b8524352"/>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PASSAPORTO DIGITALE">
            <a:extLst xmlns:a="http://schemas.openxmlformats.org/drawingml/2006/main">
              <a:ext uri="{FF2B5EF4-FFF2-40B4-BE49-F238E27FC236}">
                <a16:creationId xmlns:a16="http://schemas.microsoft.com/office/drawing/2014/main" id="{181DD75B-01A9-4082-ABA3-69A8BF5E6CB2}"/>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PASSAPORTO DIGITALE</a:t>
            </a:r>
          </a:p>
        </p:txBody>
      </p:sp>
      <p:sp>
        <p:nvSpPr>
          <p:cNvPr id="6" name="Un’identità digitale&#10;per ogni batteria">
            <a:extLst xmlns:a="http://schemas.openxmlformats.org/drawingml/2006/main">
              <a:ext uri="{FF2B5EF4-FFF2-40B4-BE49-F238E27FC236}">
                <a16:creationId xmlns:a16="http://schemas.microsoft.com/office/drawing/2014/main" id="{E58FFFA7-F8D1-4493-AFD6-FF168214D965}"/>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02B28"/>
                </a:solidFill>
                <a:latin typeface="Liberation Sans"/>
                <a:ea typeface="Liberation Sans"/>
                <a:cs typeface="Liberation Sans"/>
              </a:defRPr>
            </a:defPPr>
          </a:lstStyle>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Un’identità digitale</a:t>
            </a:r>
          </a:p>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per ogni batteria</a:t>
            </a:r>
          </a:p>
        </p:txBody>
      </p:sp>
      <p:sp>
        <p:nvSpPr>
          <p:cNvPr id="7" name="Il numero di serie collega configurazione, collaudi,">
            <a:extLst xmlns:a="http://schemas.openxmlformats.org/drawingml/2006/main">
              <a:ext uri="{FF2B5EF4-FFF2-40B4-BE49-F238E27FC236}">
                <a16:creationId xmlns:a16="http://schemas.microsoft.com/office/drawing/2014/main" id="{0B559A27-152E-4EE6-B4C4-9E4222824D58}"/>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4F6C62"/>
                </a:solidFill>
                <a:latin typeface="Liberation Sans"/>
                <a:ea typeface="Liberation Sans"/>
                <a:cs typeface="Liberation Sans"/>
              </a:defRPr>
            </a:defPPr>
          </a:lstStyle>
          <a:p xmlns:a="http://schemas.openxmlformats.org/drawingml/2006/main">
            <a:pPr>
              <a:lnSpc>
                <a:spcPct val="108000"/>
              </a:lnSpc>
              <a:buNone/>
              <a:defRPr sz="2200" b="0">
                <a:solidFill>
                  <a:srgbClr val="4F6C62"/>
                </a:solidFill>
                <a:latin typeface="Liberation Sans"/>
                <a:ea typeface="Liberation Sans"/>
                <a:cs typeface="Liberation Sans"/>
              </a:defRPr>
            </a:pPr>
            <a:r>
              <a:rPr sz="2200" b="0">
                <a:solidFill>
                  <a:srgbClr val="4F6C62"/>
                </a:solidFill>
                <a:latin typeface="Liberation Sans"/>
                <a:ea typeface="Liberation Sans"/>
                <a:cs typeface="Liberation Sans"/>
              </a:rPr>
              <a:t>Il numero di serie collega configurazione, collaudi, documenti e storia degli interventi.</a:t>
            </a:r>
          </a:p>
        </p:txBody>
      </p:sp>
      <p:sp>
        <p:nvSpPr>
          <p:cNvPr id="8" name="">
            <a:extLst xmlns:a="http://schemas.openxmlformats.org/drawingml/2006/main">
              <a:ext uri="{FF2B5EF4-FFF2-40B4-BE49-F238E27FC236}">
                <a16:creationId xmlns:a16="http://schemas.microsoft.com/office/drawing/2014/main" id="{FEED7808-C0CD-4622-8E46-21BAAFC4473E}"/>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9" name="Contenuti proposti · Reg. (UE) 2023/1542, artt. 77-7">
            <a:extLst xmlns:a="http://schemas.openxmlformats.org/drawingml/2006/main">
              <a:ext uri="{FF2B5EF4-FFF2-40B4-BE49-F238E27FC236}">
                <a16:creationId xmlns:a16="http://schemas.microsoft.com/office/drawing/2014/main" id="{43A8D1E2-9BF5-4CB6-BB08-76BD4FCB03D7}"/>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F6C62"/>
                </a:solidFill>
                <a:latin typeface="Liberation Sans"/>
                <a:ea typeface="Liberation Sans"/>
                <a:cs typeface="Liberation Sans"/>
              </a:defRPr>
            </a:defPPr>
          </a:lstStyle>
          <a:p xmlns:a="http://schemas.openxmlformats.org/drawingml/2006/main">
            <a:pPr>
              <a:lnSpc>
                <a:spcPct val="108000"/>
              </a:lnSpc>
              <a:buNone/>
              <a:defRPr sz="1200" b="0">
                <a:solidFill>
                  <a:srgbClr val="4F6C62"/>
                </a:solidFill>
                <a:latin typeface="Liberation Sans"/>
                <a:ea typeface="Liberation Sans"/>
                <a:cs typeface="Liberation Sans"/>
              </a:defRPr>
            </a:pPr>
            <a:r>
              <a:rPr sz="1200" b="0">
                <a:solidFill>
                  <a:srgbClr val="4F6C62"/>
                </a:solidFill>
                <a:latin typeface="Liberation Sans"/>
                <a:ea typeface="Liberation Sans"/>
                <a:cs typeface="Liberation Sans"/>
              </a:rPr>
              <a:t>Contenuti proposti · Reg. (UE) 2023/1542, artt. 77-78 e allegato XIII; applicabilità da verificare per prodotto.</a:t>
            </a:r>
          </a:p>
        </p:txBody>
      </p:sp>
      <p:sp>
        <p:nvSpPr>
          <p:cNvPr id="10" name="04 / 13">
            <a:extLst xmlns:a="http://schemas.openxmlformats.org/drawingml/2006/main">
              <a:ext uri="{FF2B5EF4-FFF2-40B4-BE49-F238E27FC236}">
                <a16:creationId xmlns:a16="http://schemas.microsoft.com/office/drawing/2014/main" id="{2D793129-BD3F-4C78-AC72-4AE45B538B70}"/>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04 / 13</a:t>
            </a:r>
          </a:p>
        </p:txBody>
      </p:sp>
      <p:pic>
        <p:nvPicPr>
          <p:cNvPr id="11" name="">
            <a:extLst xmlns:a="http://schemas.openxmlformats.org/drawingml/2006/main">
              <a:ext uri="{FF2B5EF4-FFF2-40B4-BE49-F238E27FC236}">
                <a16:creationId xmlns:a16="http://schemas.microsoft.com/office/drawing/2014/main" id="{C0E29D3A-65A4-43CC-858C-8B8CC7180CDA}"/>
              </a:ext>
            </a:extLst>
          </p:cNvPr>
          <p:cNvPicPr>
            <a:picLocks xmlns:a="http://schemas.openxmlformats.org/drawingml/2006/main" noChangeAspect="1"/>
          </p:cNvPicPr>
          <p:nvPr/>
        </p:nvPicPr>
        <p:blipFill>
          <a:blip xmlns:r="http://schemas.openxmlformats.org/officeDocument/2006/relationships" xmlns:a="http://schemas.openxmlformats.org/drawingml/2006/main" r:embed="R0035019f1ee0432a"/>
          <a:stretch xmlns:a="http://schemas.openxmlformats.org/drawingml/2006/main"/>
        </p:blipFill>
        <p:spPr>
          <a:xfrm xmlns:a="http://schemas.openxmlformats.org/drawingml/2006/main">
            <a:off x="1041400" y="4330700"/>
            <a:ext cx="3340100" cy="33401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D3F5F0E-F49D-4FA2-ABDB-359FDEF4EC19}"/>
              </a:ext>
            </a:extLst>
          </p:cNvPr>
          <p:cNvSpPr>
            <a:spLocks xmlns:a="http://schemas.openxmlformats.org/drawingml/2006/main" noGrp="1"/>
          </p:cNvSpPr>
          <p:nvPr/>
        </p:nvSpPr>
        <p:spPr>
          <a:xfrm xmlns:a="http://schemas.openxmlformats.org/drawingml/2006/main">
            <a:off x="4749800" y="4356100"/>
            <a:ext cx="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13" name="Identità e configurazione">
            <a:extLst xmlns:a="http://schemas.openxmlformats.org/drawingml/2006/main">
              <a:ext uri="{FF2B5EF4-FFF2-40B4-BE49-F238E27FC236}">
                <a16:creationId xmlns:a16="http://schemas.microsoft.com/office/drawing/2014/main" id="{61011B6E-83DA-4AA5-A57F-0F5DC0BE5E66}"/>
              </a:ext>
            </a:extLst>
          </p:cNvPr>
          <p:cNvSpPr>
            <a:spLocks xmlns:a="http://schemas.openxmlformats.org/drawingml/2006/main" noGrp="1"/>
          </p:cNvSpPr>
          <p:nvPr/>
        </p:nvSpPr>
        <p:spPr>
          <a:xfrm xmlns:a="http://schemas.openxmlformats.org/drawingml/2006/main">
            <a:off x="5283200" y="4267200"/>
            <a:ext cx="990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02B28"/>
                </a:solidFill>
                <a:latin typeface="Liberation Sans"/>
                <a:ea typeface="Liberation Sans"/>
                <a:cs typeface="Liberation Sans"/>
              </a:defRPr>
            </a:defPPr>
          </a:lstStyle>
          <a:p xmlns:a="http://schemas.openxmlformats.org/drawingml/2006/main">
            <a:pPr>
              <a:lnSpc>
                <a:spcPct val="108000"/>
              </a:lnSpc>
              <a:buNone/>
              <a:defRPr sz="2400" b="1">
                <a:solidFill>
                  <a:srgbClr val="102B28"/>
                </a:solidFill>
                <a:latin typeface="Liberation Sans"/>
                <a:ea typeface="Liberation Sans"/>
                <a:cs typeface="Liberation Sans"/>
              </a:defRPr>
            </a:pPr>
            <a:r>
              <a:rPr sz="2400" b="1">
                <a:solidFill>
                  <a:srgbClr val="102B28"/>
                </a:solidFill>
                <a:latin typeface="Liberation Sans"/>
                <a:ea typeface="Liberation Sans"/>
                <a:cs typeface="Liberation Sans"/>
              </a:rPr>
              <a:t>Identità e configurazione</a:t>
            </a:r>
          </a:p>
        </p:txBody>
      </p:sp>
      <p:sp>
        <p:nvSpPr>
          <p:cNvPr id="14" name="Modello, matricola, chimica, capacità e componenti.">
            <a:extLst xmlns:a="http://schemas.openxmlformats.org/drawingml/2006/main">
              <a:ext uri="{FF2B5EF4-FFF2-40B4-BE49-F238E27FC236}">
                <a16:creationId xmlns:a16="http://schemas.microsoft.com/office/drawing/2014/main" id="{90D70826-2D61-46F7-90C1-C0A18FB51146}"/>
              </a:ext>
            </a:extLst>
          </p:cNvPr>
          <p:cNvSpPr>
            <a:spLocks xmlns:a="http://schemas.openxmlformats.org/drawingml/2006/main" noGrp="1"/>
          </p:cNvSpPr>
          <p:nvPr/>
        </p:nvSpPr>
        <p:spPr>
          <a:xfrm xmlns:a="http://schemas.openxmlformats.org/drawingml/2006/main">
            <a:off x="5283200" y="4749800"/>
            <a:ext cx="9906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a:solidFill>
                  <a:srgbClr val="4F6C62"/>
                </a:solidFill>
                <a:latin typeface="Liberation Sans"/>
                <a:ea typeface="Liberation Sans"/>
                <a:cs typeface="Liberation Sans"/>
              </a:defRPr>
            </a:defPPr>
          </a:lstStyle>
          <a:p xmlns:a="http://schemas.openxmlformats.org/drawingml/2006/main">
            <a:pPr>
              <a:lnSpc>
                <a:spcPct val="108000"/>
              </a:lnSpc>
              <a:buNone/>
              <a:defRPr sz="2000" b="0">
                <a:solidFill>
                  <a:srgbClr val="4F6C62"/>
                </a:solidFill>
                <a:latin typeface="Liberation Sans"/>
                <a:ea typeface="Liberation Sans"/>
                <a:cs typeface="Liberation Sans"/>
              </a:defRPr>
            </a:pPr>
            <a:r>
              <a:rPr sz="2000" b="0">
                <a:solidFill>
                  <a:srgbClr val="4F6C62"/>
                </a:solidFill>
                <a:latin typeface="Liberation Sans"/>
                <a:ea typeface="Liberation Sans"/>
                <a:cs typeface="Liberation Sans"/>
              </a:rPr>
              <a:t>Modello, matricola, chimica, capacità e componenti.</a:t>
            </a:r>
          </a:p>
        </p:txBody>
      </p:sp>
      <p:sp>
        <p:nvSpPr>
          <p:cNvPr id="15" name="Documenti e prove">
            <a:extLst xmlns:a="http://schemas.openxmlformats.org/drawingml/2006/main">
              <a:ext uri="{FF2B5EF4-FFF2-40B4-BE49-F238E27FC236}">
                <a16:creationId xmlns:a16="http://schemas.microsoft.com/office/drawing/2014/main" id="{3E4892C0-95A6-464B-ABC3-221D99C07648}"/>
              </a:ext>
            </a:extLst>
          </p:cNvPr>
          <p:cNvSpPr>
            <a:spLocks xmlns:a="http://schemas.openxmlformats.org/drawingml/2006/main" noGrp="1"/>
          </p:cNvSpPr>
          <p:nvPr/>
        </p:nvSpPr>
        <p:spPr>
          <a:xfrm xmlns:a="http://schemas.openxmlformats.org/drawingml/2006/main">
            <a:off x="5283200" y="5207000"/>
            <a:ext cx="990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02B28"/>
                </a:solidFill>
                <a:latin typeface="Liberation Sans"/>
                <a:ea typeface="Liberation Sans"/>
                <a:cs typeface="Liberation Sans"/>
              </a:defRPr>
            </a:defPPr>
          </a:lstStyle>
          <a:p xmlns:a="http://schemas.openxmlformats.org/drawingml/2006/main">
            <a:pPr>
              <a:lnSpc>
                <a:spcPct val="108000"/>
              </a:lnSpc>
              <a:buNone/>
              <a:defRPr sz="2400" b="1">
                <a:solidFill>
                  <a:srgbClr val="102B28"/>
                </a:solidFill>
                <a:latin typeface="Liberation Sans"/>
                <a:ea typeface="Liberation Sans"/>
                <a:cs typeface="Liberation Sans"/>
              </a:defRPr>
            </a:pPr>
            <a:r>
              <a:rPr sz="2400" b="1">
                <a:solidFill>
                  <a:srgbClr val="102B28"/>
                </a:solidFill>
                <a:latin typeface="Liberation Sans"/>
                <a:ea typeface="Liberation Sans"/>
                <a:cs typeface="Liberation Sans"/>
              </a:rPr>
              <a:t>Documenti e prove</a:t>
            </a:r>
          </a:p>
        </p:txBody>
      </p:sp>
      <p:sp>
        <p:nvSpPr>
          <p:cNvPr id="16" name="Documentazione tecnica, collaudi e dichiarazioni per">
            <a:extLst xmlns:a="http://schemas.openxmlformats.org/drawingml/2006/main">
              <a:ext uri="{FF2B5EF4-FFF2-40B4-BE49-F238E27FC236}">
                <a16:creationId xmlns:a16="http://schemas.microsoft.com/office/drawing/2014/main" id="{80FAE775-7665-4808-A945-4939DDD9BE5F}"/>
              </a:ext>
            </a:extLst>
          </p:cNvPr>
          <p:cNvSpPr>
            <a:spLocks xmlns:a="http://schemas.openxmlformats.org/drawingml/2006/main" noGrp="1"/>
          </p:cNvSpPr>
          <p:nvPr/>
        </p:nvSpPr>
        <p:spPr>
          <a:xfrm xmlns:a="http://schemas.openxmlformats.org/drawingml/2006/main">
            <a:off x="5283200" y="5689600"/>
            <a:ext cx="9906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a:solidFill>
                  <a:srgbClr val="4F6C62"/>
                </a:solidFill>
                <a:latin typeface="Liberation Sans"/>
                <a:ea typeface="Liberation Sans"/>
                <a:cs typeface="Liberation Sans"/>
              </a:defRPr>
            </a:defPPr>
          </a:lstStyle>
          <a:p xmlns:a="http://schemas.openxmlformats.org/drawingml/2006/main">
            <a:pPr>
              <a:lnSpc>
                <a:spcPct val="108000"/>
              </a:lnSpc>
              <a:buNone/>
              <a:defRPr sz="2000" b="0">
                <a:solidFill>
                  <a:srgbClr val="4F6C62"/>
                </a:solidFill>
                <a:latin typeface="Liberation Sans"/>
                <a:ea typeface="Liberation Sans"/>
                <a:cs typeface="Liberation Sans"/>
              </a:defRPr>
            </a:pPr>
            <a:r>
              <a:rPr sz="2000" b="0">
                <a:solidFill>
                  <a:srgbClr val="4F6C62"/>
                </a:solidFill>
                <a:latin typeface="Liberation Sans"/>
                <a:ea typeface="Liberation Sans"/>
                <a:cs typeface="Liberation Sans"/>
              </a:rPr>
              <a:t>Documentazione tecnica, collaudi e dichiarazioni pertinenti.</a:t>
            </a:r>
          </a:p>
        </p:txBody>
      </p:sp>
      <p:sp>
        <p:nvSpPr>
          <p:cNvPr id="17" name="Storia della batteria">
            <a:extLst xmlns:a="http://schemas.openxmlformats.org/drawingml/2006/main">
              <a:ext uri="{FF2B5EF4-FFF2-40B4-BE49-F238E27FC236}">
                <a16:creationId xmlns:a16="http://schemas.microsoft.com/office/drawing/2014/main" id="{FD60FBBB-CB84-4D28-8E2D-A155BBF489E5}"/>
              </a:ext>
            </a:extLst>
          </p:cNvPr>
          <p:cNvSpPr>
            <a:spLocks xmlns:a="http://schemas.openxmlformats.org/drawingml/2006/main" noGrp="1"/>
          </p:cNvSpPr>
          <p:nvPr/>
        </p:nvSpPr>
        <p:spPr>
          <a:xfrm xmlns:a="http://schemas.openxmlformats.org/drawingml/2006/main">
            <a:off x="5283200" y="6146800"/>
            <a:ext cx="990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02B28"/>
                </a:solidFill>
                <a:latin typeface="Liberation Sans"/>
                <a:ea typeface="Liberation Sans"/>
                <a:cs typeface="Liberation Sans"/>
              </a:defRPr>
            </a:defPPr>
          </a:lstStyle>
          <a:p xmlns:a="http://schemas.openxmlformats.org/drawingml/2006/main">
            <a:pPr>
              <a:lnSpc>
                <a:spcPct val="108000"/>
              </a:lnSpc>
              <a:buNone/>
              <a:defRPr sz="2400" b="1">
                <a:solidFill>
                  <a:srgbClr val="102B28"/>
                </a:solidFill>
                <a:latin typeface="Liberation Sans"/>
                <a:ea typeface="Liberation Sans"/>
                <a:cs typeface="Liberation Sans"/>
              </a:defRPr>
            </a:pPr>
            <a:r>
              <a:rPr sz="2400" b="1">
                <a:solidFill>
                  <a:srgbClr val="102B28"/>
                </a:solidFill>
                <a:latin typeface="Liberation Sans"/>
                <a:ea typeface="Liberation Sans"/>
                <a:cs typeface="Liberation Sans"/>
              </a:rPr>
              <a:t>Storia della batteria</a:t>
            </a:r>
          </a:p>
        </p:txBody>
      </p:sp>
      <p:sp>
        <p:nvSpPr>
          <p:cNvPr id="18" name="Consegna, dati di utilizzo, manutenzioni e sostituzi">
            <a:extLst xmlns:a="http://schemas.openxmlformats.org/drawingml/2006/main">
              <a:ext uri="{FF2B5EF4-FFF2-40B4-BE49-F238E27FC236}">
                <a16:creationId xmlns:a16="http://schemas.microsoft.com/office/drawing/2014/main" id="{0C5D8294-86A2-4BCD-9956-92650E16A448}"/>
              </a:ext>
            </a:extLst>
          </p:cNvPr>
          <p:cNvSpPr>
            <a:spLocks xmlns:a="http://schemas.openxmlformats.org/drawingml/2006/main" noGrp="1"/>
          </p:cNvSpPr>
          <p:nvPr/>
        </p:nvSpPr>
        <p:spPr>
          <a:xfrm xmlns:a="http://schemas.openxmlformats.org/drawingml/2006/main">
            <a:off x="5283200" y="6629400"/>
            <a:ext cx="9906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a:solidFill>
                  <a:srgbClr val="4F6C62"/>
                </a:solidFill>
                <a:latin typeface="Liberation Sans"/>
                <a:ea typeface="Liberation Sans"/>
                <a:cs typeface="Liberation Sans"/>
              </a:defRPr>
            </a:defPPr>
          </a:lstStyle>
          <a:p xmlns:a="http://schemas.openxmlformats.org/drawingml/2006/main">
            <a:pPr>
              <a:lnSpc>
                <a:spcPct val="108000"/>
              </a:lnSpc>
              <a:buNone/>
              <a:defRPr sz="2000" b="0">
                <a:solidFill>
                  <a:srgbClr val="4F6C62"/>
                </a:solidFill>
                <a:latin typeface="Liberation Sans"/>
                <a:ea typeface="Liberation Sans"/>
                <a:cs typeface="Liberation Sans"/>
              </a:defRPr>
            </a:pPr>
            <a:r>
              <a:rPr sz="2000" b="0">
                <a:solidFill>
                  <a:srgbClr val="4F6C62"/>
                </a:solidFill>
                <a:latin typeface="Liberation Sans"/>
                <a:ea typeface="Liberation Sans"/>
                <a:cs typeface="Liberation Sans"/>
              </a:rPr>
              <a:t>Consegna, dati di utilizzo, manutenzioni e sostituzioni.</a:t>
            </a:r>
          </a:p>
        </p:txBody>
      </p:sp>
      <p:sp>
        <p:nvSpPr>
          <p:cNvPr id="19" name="Accesso tramite QR">
            <a:extLst xmlns:a="http://schemas.openxmlformats.org/drawingml/2006/main">
              <a:ext uri="{FF2B5EF4-FFF2-40B4-BE49-F238E27FC236}">
                <a16:creationId xmlns:a16="http://schemas.microsoft.com/office/drawing/2014/main" id="{B9ABDEB7-1192-4F70-B2BE-EC69EEF94D40}"/>
              </a:ext>
            </a:extLst>
          </p:cNvPr>
          <p:cNvSpPr>
            <a:spLocks xmlns:a="http://schemas.openxmlformats.org/drawingml/2006/main" noGrp="1"/>
          </p:cNvSpPr>
          <p:nvPr/>
        </p:nvSpPr>
        <p:spPr>
          <a:xfrm xmlns:a="http://schemas.openxmlformats.org/drawingml/2006/main">
            <a:off x="5283200" y="7086600"/>
            <a:ext cx="990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02B28"/>
                </a:solidFill>
                <a:latin typeface="Liberation Sans"/>
                <a:ea typeface="Liberation Sans"/>
                <a:cs typeface="Liberation Sans"/>
              </a:defRPr>
            </a:defPPr>
          </a:lstStyle>
          <a:p xmlns:a="http://schemas.openxmlformats.org/drawingml/2006/main">
            <a:pPr>
              <a:lnSpc>
                <a:spcPct val="108000"/>
              </a:lnSpc>
              <a:buNone/>
              <a:defRPr sz="2400" b="1">
                <a:solidFill>
                  <a:srgbClr val="102B28"/>
                </a:solidFill>
                <a:latin typeface="Liberation Sans"/>
                <a:ea typeface="Liberation Sans"/>
                <a:cs typeface="Liberation Sans"/>
              </a:defRPr>
            </a:pPr>
            <a:r>
              <a:rPr sz="2400" b="1">
                <a:solidFill>
                  <a:srgbClr val="102B28"/>
                </a:solidFill>
                <a:latin typeface="Liberation Sans"/>
                <a:ea typeface="Liberation Sans"/>
                <a:cs typeface="Liberation Sans"/>
              </a:rPr>
              <a:t>Accesso tramite QR</a:t>
            </a:r>
          </a:p>
        </p:txBody>
      </p:sp>
      <p:sp>
        <p:nvSpPr>
          <p:cNvPr id="20" name="Informazioni pubbliche e riservate secondo i diritti">
            <a:extLst xmlns:a="http://schemas.openxmlformats.org/drawingml/2006/main">
              <a:ext uri="{FF2B5EF4-FFF2-40B4-BE49-F238E27FC236}">
                <a16:creationId xmlns:a16="http://schemas.microsoft.com/office/drawing/2014/main" id="{093E5ADC-A1E8-4592-8B83-D4118C202F53}"/>
              </a:ext>
            </a:extLst>
          </p:cNvPr>
          <p:cNvSpPr>
            <a:spLocks xmlns:a="http://schemas.openxmlformats.org/drawingml/2006/main" noGrp="1"/>
          </p:cNvSpPr>
          <p:nvPr/>
        </p:nvSpPr>
        <p:spPr>
          <a:xfrm xmlns:a="http://schemas.openxmlformats.org/drawingml/2006/main">
            <a:off x="5283200" y="7569200"/>
            <a:ext cx="9906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a:solidFill>
                  <a:srgbClr val="4F6C62"/>
                </a:solidFill>
                <a:latin typeface="Liberation Sans"/>
                <a:ea typeface="Liberation Sans"/>
                <a:cs typeface="Liberation Sans"/>
              </a:defRPr>
            </a:defPPr>
          </a:lstStyle>
          <a:p xmlns:a="http://schemas.openxmlformats.org/drawingml/2006/main">
            <a:pPr>
              <a:lnSpc>
                <a:spcPct val="108000"/>
              </a:lnSpc>
              <a:buNone/>
              <a:defRPr sz="2000" b="0">
                <a:solidFill>
                  <a:srgbClr val="4F6C62"/>
                </a:solidFill>
                <a:latin typeface="Liberation Sans"/>
                <a:ea typeface="Liberation Sans"/>
                <a:cs typeface="Liberation Sans"/>
              </a:defRPr>
            </a:pPr>
            <a:r>
              <a:rPr sz="2000" b="0">
                <a:solidFill>
                  <a:srgbClr val="4F6C62"/>
                </a:solidFill>
                <a:latin typeface="Liberation Sans"/>
                <a:ea typeface="Liberation Sans"/>
                <a:cs typeface="Liberation Sans"/>
              </a:rPr>
              <a:t>Informazioni pubbliche e riservate secondo i diritti di accesso.</a:t>
            </a:r>
          </a:p>
        </p:txBody>
      </p:sp>
      <p:sp>
        <p:nvSpPr>
          <p:cNvPr id="21" name="Alps Battery · NCM Multimaster">
            <a:extLst xmlns:a="http://schemas.openxmlformats.org/drawingml/2006/main">
              <a:ext uri="{FF2B5EF4-FFF2-40B4-BE49-F238E27FC236}">
                <a16:creationId xmlns:a16="http://schemas.microsoft.com/office/drawing/2014/main" id="{3C991E2A-9F08-42B5-AFF9-932A17AC640A}"/>
              </a:ext>
            </a:extLst>
          </p:cNvPr>
          <p:cNvSpPr>
            <a:spLocks xmlns:a="http://schemas.openxmlformats.org/drawingml/2006/main" noGrp="1"/>
          </p:cNvSpPr>
          <p:nvPr/>
        </p:nvSpPr>
        <p:spPr>
          <a:xfrm xmlns:a="http://schemas.openxmlformats.org/drawingml/2006/main">
            <a:off x="914400" y="795020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F6C62"/>
                </a:solidFill>
                <a:latin typeface="Liberation Sans"/>
                <a:ea typeface="Liberation Sans"/>
                <a:cs typeface="Liberation Sans"/>
              </a:defRPr>
            </a:defPPr>
          </a:lstStyle>
          <a:p xmlns:a="http://schemas.openxmlformats.org/drawingml/2006/main">
            <a:pPr>
              <a:lnSpc>
                <a:spcPct val="108000"/>
              </a:lnSpc>
              <a:buNone/>
              <a:defRPr sz="1200" b="0">
                <a:solidFill>
                  <a:srgbClr val="4F6C62"/>
                </a:solidFill>
                <a:latin typeface="Liberation Sans"/>
                <a:ea typeface="Liberation Sans"/>
                <a:cs typeface="Liberation Sans"/>
              </a:defRPr>
            </a:pPr>
            <a:r>
              <a:rPr sz="1200" b="0">
                <a:solidFill>
                  <a:srgbClr val="4F6C62"/>
                </a:solidFill>
                <a:latin typeface="Liberation Sans"/>
                <a:ea typeface="Liberation Sans"/>
                <a:cs typeface="Liberation Sans"/>
              </a:rPr>
              <a:t>Alps Battery · NCM Multimaster</a:t>
            </a:r>
          </a:p>
        </p:txBody>
      </p:sp>
    </p:spTree>
    <p:extLst>
      <p:ext uri="{BB962C8B-B14F-4D97-AF65-F5344CB8AC3E}">
        <p14:creationId xmlns:p14="http://schemas.microsoft.com/office/powerpoint/2010/main" val="1910322806"/>
      </p:ext>
    </p:extLst>
  </p:cSld>
</p:sld>
</file>

<file path=ppt/slides/slide5.xml><?xml version="1.0" encoding="utf-8"?>
<p:sld xmlns:p="http://schemas.openxmlformats.org/presentationml/2006/main">
  <p:cSld>
    <p:bg>
      <p:bgPr>
        <a:solidFill xmlns:a="http://schemas.openxmlformats.org/drawingml/2006/main">
          <a:srgbClr val="183F37"/>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74D34AF-1907-409C-88FD-089FF59BD336}"/>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404C08B2-9BD3-4526-A687-70F1165ADA4A}"/>
              </a:ext>
            </a:extLst>
          </p:cNvPr>
          <p:cNvPicPr>
            <a:picLocks xmlns:a="http://schemas.openxmlformats.org/drawingml/2006/main" noChangeAspect="1"/>
          </p:cNvPicPr>
          <p:nvPr/>
        </p:nvPicPr>
        <p:blipFill>
          <a:blip xmlns:r="http://schemas.openxmlformats.org/officeDocument/2006/relationships" xmlns:a="http://schemas.openxmlformats.org/drawingml/2006/main" r:embed="Rc23b518cd31144bc"/>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3A7E585-9757-4D24-9F5B-CCD9EA96634F}"/>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4F9900E0-993C-480C-B9C3-F1073AB49F74}"/>
              </a:ext>
            </a:extLst>
          </p:cNvPr>
          <p:cNvPicPr>
            <a:picLocks xmlns:a="http://schemas.openxmlformats.org/drawingml/2006/main" noChangeAspect="1"/>
          </p:cNvPicPr>
          <p:nvPr/>
        </p:nvPicPr>
        <p:blipFill>
          <a:blip xmlns:r="http://schemas.openxmlformats.org/officeDocument/2006/relationships" xmlns:a="http://schemas.openxmlformats.org/drawingml/2006/main" r:embed="Rebb36fddf11b43f7"/>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PASSAPORTO DIGITALE · CICLO DI VITA">
            <a:extLst xmlns:a="http://schemas.openxmlformats.org/drawingml/2006/main">
              <a:ext uri="{FF2B5EF4-FFF2-40B4-BE49-F238E27FC236}">
                <a16:creationId xmlns:a16="http://schemas.microsoft.com/office/drawing/2014/main" id="{2C648AF3-4DD5-4901-871A-46DCDB395BF8}"/>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PASSAPORTO DIGITALE · CICLO DI VITA</a:t>
            </a:r>
          </a:p>
        </p:txBody>
      </p:sp>
      <p:sp>
        <p:nvSpPr>
          <p:cNvPr id="6" name="La storia segue la batteria">
            <a:extLst xmlns:a="http://schemas.openxmlformats.org/drawingml/2006/main">
              <a:ext uri="{FF2B5EF4-FFF2-40B4-BE49-F238E27FC236}">
                <a16:creationId xmlns:a16="http://schemas.microsoft.com/office/drawing/2014/main" id="{068D997E-27AF-4DA0-A03A-40533A619033}"/>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4F4E9"/>
                </a:solidFill>
                <a:latin typeface="Liberation Sans"/>
                <a:ea typeface="Liberation Sans"/>
                <a:cs typeface="Liberation Sans"/>
              </a:defRPr>
            </a:defPPr>
          </a:lstStyle>
          <a:p xmlns:a="http://schemas.openxmlformats.org/drawingml/2006/main">
            <a:pPr>
              <a:lnSpc>
                <a:spcPct val="90000"/>
              </a:lnSpc>
              <a:buNone/>
              <a:defRPr sz="4800" b="1">
                <a:solidFill>
                  <a:srgbClr val="F4F4E9"/>
                </a:solidFill>
                <a:latin typeface="Liberation Sans"/>
                <a:ea typeface="Liberation Sans"/>
                <a:cs typeface="Liberation Sans"/>
              </a:defRPr>
            </a:pPr>
            <a:r>
              <a:rPr sz="4800" b="1">
                <a:solidFill>
                  <a:srgbClr val="F4F4E9"/>
                </a:solidFill>
                <a:latin typeface="Liberation Sans"/>
                <a:ea typeface="Liberation Sans"/>
                <a:cs typeface="Liberation Sans"/>
              </a:rPr>
              <a:t>La storia segue la batteria</a:t>
            </a:r>
          </a:p>
        </p:txBody>
      </p:sp>
      <p:sp>
        <p:nvSpPr>
          <p:cNvPr id="7" name="Ogni evento collega responsabile, data, configurazio">
            <a:extLst xmlns:a="http://schemas.openxmlformats.org/drawingml/2006/main">
              <a:ext uri="{FF2B5EF4-FFF2-40B4-BE49-F238E27FC236}">
                <a16:creationId xmlns:a16="http://schemas.microsoft.com/office/drawing/2014/main" id="{C02C9485-5760-4A61-8EFE-80EDA401B457}"/>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Ogni evento collega responsabile, data, configurazione e documenti di supporto.</a:t>
            </a:r>
          </a:p>
        </p:txBody>
      </p:sp>
      <p:sp>
        <p:nvSpPr>
          <p:cNvPr id="8" name="">
            <a:extLst xmlns:a="http://schemas.openxmlformats.org/drawingml/2006/main">
              <a:ext uri="{FF2B5EF4-FFF2-40B4-BE49-F238E27FC236}">
                <a16:creationId xmlns:a16="http://schemas.microsoft.com/office/drawing/2014/main" id="{0D913CB6-B520-4233-867C-C19AEDFEC940}"/>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486B5D"/>
            </a:solidFill>
            <a:prstDash val="solid"/>
          </a:ln>
        </p:spPr>
      </p:sp>
      <p:sp>
        <p:nvSpPr>
          <p:cNvPr id="9" name="Reg. (UE) 2023/1542, art. 77 · Riuso e cambi di stat">
            <a:extLst xmlns:a="http://schemas.openxmlformats.org/drawingml/2006/main">
              <a:ext uri="{FF2B5EF4-FFF2-40B4-BE49-F238E27FC236}">
                <a16:creationId xmlns:a16="http://schemas.microsoft.com/office/drawing/2014/main" id="{29E01E7F-6B4F-48A6-B2D5-B5418F11B952}"/>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0C4BC"/>
                </a:solidFill>
                <a:latin typeface="Liberation Sans"/>
                <a:ea typeface="Liberation Sans"/>
                <a:cs typeface="Liberation Sans"/>
              </a:defRPr>
            </a:defPPr>
          </a:lstStyle>
          <a:p xmlns:a="http://schemas.openxmlformats.org/drawingml/2006/main">
            <a:pPr>
              <a:lnSpc>
                <a:spcPct val="108000"/>
              </a:lnSpc>
              <a:buNone/>
              <a:defRPr sz="1200" b="0">
                <a:solidFill>
                  <a:srgbClr val="B0C4BC"/>
                </a:solidFill>
                <a:latin typeface="Liberation Sans"/>
                <a:ea typeface="Liberation Sans"/>
                <a:cs typeface="Liberation Sans"/>
              </a:defRPr>
            </a:pPr>
            <a:r>
              <a:rPr sz="1200" b="0">
                <a:solidFill>
                  <a:srgbClr val="B0C4BC"/>
                </a:solidFill>
                <a:latin typeface="Liberation Sans"/>
                <a:ea typeface="Liberation Sans"/>
                <a:cs typeface="Liberation Sans"/>
              </a:rPr>
              <a:t>Reg. (UE) 2023/1542, art. 77 · Riuso e cambi di stato seguono le disposizioni applicabili.</a:t>
            </a:r>
          </a:p>
        </p:txBody>
      </p:sp>
      <p:sp>
        <p:nvSpPr>
          <p:cNvPr id="10" name="05 / 13">
            <a:extLst xmlns:a="http://schemas.openxmlformats.org/drawingml/2006/main">
              <a:ext uri="{FF2B5EF4-FFF2-40B4-BE49-F238E27FC236}">
                <a16:creationId xmlns:a16="http://schemas.microsoft.com/office/drawing/2014/main" id="{4F5AAEB5-CF9D-40AB-9B06-0AB7F902276F}"/>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05 / 13</a:t>
            </a:r>
          </a:p>
        </p:txBody>
      </p:sp>
      <p:sp>
        <p:nvSpPr>
          <p:cNvPr id="11" name="01">
            <a:extLst xmlns:a="http://schemas.openxmlformats.org/drawingml/2006/main">
              <a:ext uri="{FF2B5EF4-FFF2-40B4-BE49-F238E27FC236}">
                <a16:creationId xmlns:a16="http://schemas.microsoft.com/office/drawing/2014/main" id="{4BC27A25-B11A-4EC5-A46F-9C26BE91FA06}"/>
              </a:ext>
            </a:extLst>
          </p:cNvPr>
          <p:cNvSpPr>
            <a:spLocks xmlns:a="http://schemas.openxmlformats.org/drawingml/2006/main" noGrp="1"/>
          </p:cNvSpPr>
          <p:nvPr/>
        </p:nvSpPr>
        <p:spPr>
          <a:xfrm xmlns:a="http://schemas.openxmlformats.org/drawingml/2006/main">
            <a:off x="914400" y="4203700"/>
            <a:ext cx="3073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600" b="1">
                <a:solidFill>
                  <a:srgbClr val="C8F67C"/>
                </a:solidFill>
                <a:latin typeface="Liberation Sans"/>
                <a:ea typeface="Liberation Sans"/>
                <a:cs typeface="Liberation Sans"/>
              </a:defRPr>
            </a:defPPr>
          </a:lstStyle>
          <a:p xmlns:a="http://schemas.openxmlformats.org/drawingml/2006/main">
            <a:pPr>
              <a:lnSpc>
                <a:spcPct val="90000"/>
              </a:lnSpc>
              <a:buNone/>
              <a:defRPr sz="5600" b="1">
                <a:solidFill>
                  <a:srgbClr val="C8F67C"/>
                </a:solidFill>
                <a:latin typeface="Liberation Sans"/>
                <a:ea typeface="Liberation Sans"/>
                <a:cs typeface="Liberation Sans"/>
              </a:defRPr>
            </a:pPr>
            <a:r>
              <a:rPr sz="5600" b="1">
                <a:solidFill>
                  <a:srgbClr val="C8F67C"/>
                </a:solidFill>
                <a:latin typeface="Liberation Sans"/>
                <a:ea typeface="Liberation Sans"/>
                <a:cs typeface="Liberation Sans"/>
              </a:rPr>
              <a:t>01</a:t>
            </a:r>
          </a:p>
        </p:txBody>
      </p:sp>
      <p:sp>
        <p:nvSpPr>
          <p:cNvPr id="12" name="">
            <a:extLst xmlns:a="http://schemas.openxmlformats.org/drawingml/2006/main">
              <a:ext uri="{FF2B5EF4-FFF2-40B4-BE49-F238E27FC236}">
                <a16:creationId xmlns:a16="http://schemas.microsoft.com/office/drawing/2014/main" id="{E74C68DD-D0FD-468A-8B84-CB10A8A88531}"/>
              </a:ext>
            </a:extLst>
          </p:cNvPr>
          <p:cNvSpPr>
            <a:spLocks xmlns:a="http://schemas.openxmlformats.org/drawingml/2006/main" noGrp="1"/>
          </p:cNvSpPr>
          <p:nvPr/>
        </p:nvSpPr>
        <p:spPr>
          <a:xfrm xmlns:a="http://schemas.openxmlformats.org/drawingml/2006/main">
            <a:off x="914400" y="5283200"/>
            <a:ext cx="3086100" cy="0"/>
          </a:xfrm>
          <a:prstGeom xmlns:a="http://schemas.openxmlformats.org/drawingml/2006/main" prst="line">
            <a:avLst/>
          </a:prstGeom>
          <a:noFill xmlns:a="http://schemas.openxmlformats.org/drawingml/2006/main"/>
          <a:ln xmlns:a="http://schemas.openxmlformats.org/drawingml/2006/main" w="12700">
            <a:solidFill>
              <a:srgbClr val="668977"/>
            </a:solidFill>
            <a:prstDash val="solid"/>
          </a:ln>
        </p:spPr>
      </p:sp>
      <p:sp>
        <p:nvSpPr>
          <p:cNvPr id="13" name="Produzione">
            <a:extLst xmlns:a="http://schemas.openxmlformats.org/drawingml/2006/main">
              <a:ext uri="{FF2B5EF4-FFF2-40B4-BE49-F238E27FC236}">
                <a16:creationId xmlns:a16="http://schemas.microsoft.com/office/drawing/2014/main" id="{ECB642E7-2739-44EF-874B-9F40E2404772}"/>
              </a:ext>
            </a:extLst>
          </p:cNvPr>
          <p:cNvSpPr>
            <a:spLocks xmlns:a="http://schemas.openxmlformats.org/drawingml/2006/main" noGrp="1"/>
          </p:cNvSpPr>
          <p:nvPr/>
        </p:nvSpPr>
        <p:spPr>
          <a:xfrm xmlns:a="http://schemas.openxmlformats.org/drawingml/2006/main">
            <a:off x="914400" y="5575300"/>
            <a:ext cx="3086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F4F4E9"/>
                </a:solidFill>
                <a:latin typeface="Liberation Sans"/>
                <a:ea typeface="Liberation Sans"/>
                <a:cs typeface="Liberation Sans"/>
              </a:defRPr>
            </a:defPPr>
          </a:lstStyle>
          <a:p xmlns:a="http://schemas.openxmlformats.org/drawingml/2006/main">
            <a:pPr>
              <a:lnSpc>
                <a:spcPct val="108000"/>
              </a:lnSpc>
              <a:buNone/>
              <a:defRPr sz="2900" b="1">
                <a:solidFill>
                  <a:srgbClr val="F4F4E9"/>
                </a:solidFill>
                <a:latin typeface="Liberation Sans"/>
                <a:ea typeface="Liberation Sans"/>
                <a:cs typeface="Liberation Sans"/>
              </a:defRPr>
            </a:pPr>
            <a:r>
              <a:rPr sz="2900" b="1">
                <a:solidFill>
                  <a:srgbClr val="F4F4E9"/>
                </a:solidFill>
                <a:latin typeface="Liberation Sans"/>
                <a:ea typeface="Liberation Sans"/>
                <a:cs typeface="Liberation Sans"/>
              </a:rPr>
              <a:t>Produzione</a:t>
            </a:r>
          </a:p>
        </p:txBody>
      </p:sp>
      <p:sp>
        <p:nvSpPr>
          <p:cNvPr id="14" name="Componenti, versione&#10;del progetto, collaudo&#10;e rilasc">
            <a:extLst xmlns:a="http://schemas.openxmlformats.org/drawingml/2006/main">
              <a:ext uri="{FF2B5EF4-FFF2-40B4-BE49-F238E27FC236}">
                <a16:creationId xmlns:a16="http://schemas.microsoft.com/office/drawing/2014/main" id="{D6D12860-CE7C-4AFD-B436-E8BF0FAB4077}"/>
              </a:ext>
            </a:extLst>
          </p:cNvPr>
          <p:cNvSpPr>
            <a:spLocks xmlns:a="http://schemas.openxmlformats.org/drawingml/2006/main" noGrp="1"/>
          </p:cNvSpPr>
          <p:nvPr/>
        </p:nvSpPr>
        <p:spPr>
          <a:xfrm xmlns:a="http://schemas.openxmlformats.org/drawingml/2006/main">
            <a:off x="914400" y="6197600"/>
            <a:ext cx="3162300" cy="119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Componenti, versione</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del progetto, collaudo</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e rilascio.</a:t>
            </a:r>
          </a:p>
        </p:txBody>
      </p:sp>
      <p:sp>
        <p:nvSpPr>
          <p:cNvPr id="15" name="02">
            <a:extLst xmlns:a="http://schemas.openxmlformats.org/drawingml/2006/main">
              <a:ext uri="{FF2B5EF4-FFF2-40B4-BE49-F238E27FC236}">
                <a16:creationId xmlns:a16="http://schemas.microsoft.com/office/drawing/2014/main" id="{5A01BE08-A061-40BA-BB25-9B71D48ACC6B}"/>
              </a:ext>
            </a:extLst>
          </p:cNvPr>
          <p:cNvSpPr>
            <a:spLocks xmlns:a="http://schemas.openxmlformats.org/drawingml/2006/main" noGrp="1"/>
          </p:cNvSpPr>
          <p:nvPr/>
        </p:nvSpPr>
        <p:spPr>
          <a:xfrm xmlns:a="http://schemas.openxmlformats.org/drawingml/2006/main">
            <a:off x="4622800" y="4203700"/>
            <a:ext cx="3073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600" b="1">
                <a:solidFill>
                  <a:srgbClr val="C8F67C"/>
                </a:solidFill>
                <a:latin typeface="Liberation Sans"/>
                <a:ea typeface="Liberation Sans"/>
                <a:cs typeface="Liberation Sans"/>
              </a:defRPr>
            </a:defPPr>
          </a:lstStyle>
          <a:p xmlns:a="http://schemas.openxmlformats.org/drawingml/2006/main">
            <a:pPr>
              <a:lnSpc>
                <a:spcPct val="90000"/>
              </a:lnSpc>
              <a:buNone/>
              <a:defRPr sz="5600" b="1">
                <a:solidFill>
                  <a:srgbClr val="C8F67C"/>
                </a:solidFill>
                <a:latin typeface="Liberation Sans"/>
                <a:ea typeface="Liberation Sans"/>
                <a:cs typeface="Liberation Sans"/>
              </a:defRPr>
            </a:pPr>
            <a:r>
              <a:rPr sz="5600" b="1">
                <a:solidFill>
                  <a:srgbClr val="C8F67C"/>
                </a:solidFill>
                <a:latin typeface="Liberation Sans"/>
                <a:ea typeface="Liberation Sans"/>
                <a:cs typeface="Liberation Sans"/>
              </a:rPr>
              <a:t>02</a:t>
            </a:r>
          </a:p>
        </p:txBody>
      </p:sp>
      <p:sp>
        <p:nvSpPr>
          <p:cNvPr id="16" name="">
            <a:extLst xmlns:a="http://schemas.openxmlformats.org/drawingml/2006/main">
              <a:ext uri="{FF2B5EF4-FFF2-40B4-BE49-F238E27FC236}">
                <a16:creationId xmlns:a16="http://schemas.microsoft.com/office/drawing/2014/main" id="{749ABC6F-D778-470D-9553-1BC16A91A117}"/>
              </a:ext>
            </a:extLst>
          </p:cNvPr>
          <p:cNvSpPr>
            <a:spLocks xmlns:a="http://schemas.openxmlformats.org/drawingml/2006/main" noGrp="1"/>
          </p:cNvSpPr>
          <p:nvPr/>
        </p:nvSpPr>
        <p:spPr>
          <a:xfrm xmlns:a="http://schemas.openxmlformats.org/drawingml/2006/main">
            <a:off x="4622800" y="5283200"/>
            <a:ext cx="3086100" cy="0"/>
          </a:xfrm>
          <a:prstGeom xmlns:a="http://schemas.openxmlformats.org/drawingml/2006/main" prst="line">
            <a:avLst/>
          </a:prstGeom>
          <a:noFill xmlns:a="http://schemas.openxmlformats.org/drawingml/2006/main"/>
          <a:ln xmlns:a="http://schemas.openxmlformats.org/drawingml/2006/main" w="12700">
            <a:solidFill>
              <a:srgbClr val="668977"/>
            </a:solidFill>
            <a:prstDash val="solid"/>
          </a:ln>
        </p:spPr>
      </p:sp>
      <p:sp>
        <p:nvSpPr>
          <p:cNvPr id="17" name="Integrazione">
            <a:extLst xmlns:a="http://schemas.openxmlformats.org/drawingml/2006/main">
              <a:ext uri="{FF2B5EF4-FFF2-40B4-BE49-F238E27FC236}">
                <a16:creationId xmlns:a16="http://schemas.microsoft.com/office/drawing/2014/main" id="{635746FE-1C6B-4ADE-8AE7-BC1FE65C32FF}"/>
              </a:ext>
            </a:extLst>
          </p:cNvPr>
          <p:cNvSpPr>
            <a:spLocks xmlns:a="http://schemas.openxmlformats.org/drawingml/2006/main" noGrp="1"/>
          </p:cNvSpPr>
          <p:nvPr/>
        </p:nvSpPr>
        <p:spPr>
          <a:xfrm xmlns:a="http://schemas.openxmlformats.org/drawingml/2006/main">
            <a:off x="4622800" y="5575300"/>
            <a:ext cx="3086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F4F4E9"/>
                </a:solidFill>
                <a:latin typeface="Liberation Sans"/>
                <a:ea typeface="Liberation Sans"/>
                <a:cs typeface="Liberation Sans"/>
              </a:defRPr>
            </a:defPPr>
          </a:lstStyle>
          <a:p xmlns:a="http://schemas.openxmlformats.org/drawingml/2006/main">
            <a:pPr>
              <a:lnSpc>
                <a:spcPct val="108000"/>
              </a:lnSpc>
              <a:buNone/>
              <a:defRPr sz="2900" b="1">
                <a:solidFill>
                  <a:srgbClr val="F4F4E9"/>
                </a:solidFill>
                <a:latin typeface="Liberation Sans"/>
                <a:ea typeface="Liberation Sans"/>
                <a:cs typeface="Liberation Sans"/>
              </a:defRPr>
            </a:pPr>
            <a:r>
              <a:rPr sz="2900" b="1">
                <a:solidFill>
                  <a:srgbClr val="F4F4E9"/>
                </a:solidFill>
                <a:latin typeface="Liberation Sans"/>
                <a:ea typeface="Liberation Sans"/>
                <a:cs typeface="Liberation Sans"/>
              </a:rPr>
              <a:t>Integrazione</a:t>
            </a:r>
          </a:p>
        </p:txBody>
      </p:sp>
      <p:sp>
        <p:nvSpPr>
          <p:cNvPr id="18" name="Macchina destinataria,&#10;configurazione e&#10;messa in ser">
            <a:extLst xmlns:a="http://schemas.openxmlformats.org/drawingml/2006/main">
              <a:ext uri="{FF2B5EF4-FFF2-40B4-BE49-F238E27FC236}">
                <a16:creationId xmlns:a16="http://schemas.microsoft.com/office/drawing/2014/main" id="{961C71FA-4650-4CF5-8710-9D92B65899E4}"/>
              </a:ext>
            </a:extLst>
          </p:cNvPr>
          <p:cNvSpPr>
            <a:spLocks xmlns:a="http://schemas.openxmlformats.org/drawingml/2006/main" noGrp="1"/>
          </p:cNvSpPr>
          <p:nvPr/>
        </p:nvSpPr>
        <p:spPr>
          <a:xfrm xmlns:a="http://schemas.openxmlformats.org/drawingml/2006/main">
            <a:off x="4622800" y="6197600"/>
            <a:ext cx="3162300" cy="119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Macchina destinataria,</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configurazione e</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messa in servizio.</a:t>
            </a:r>
          </a:p>
        </p:txBody>
      </p:sp>
      <p:sp>
        <p:nvSpPr>
          <p:cNvPr id="19" name="03">
            <a:extLst xmlns:a="http://schemas.openxmlformats.org/drawingml/2006/main">
              <a:ext uri="{FF2B5EF4-FFF2-40B4-BE49-F238E27FC236}">
                <a16:creationId xmlns:a16="http://schemas.microsoft.com/office/drawing/2014/main" id="{D95E65AC-6CBD-483D-81F7-7F265827E569}"/>
              </a:ext>
            </a:extLst>
          </p:cNvPr>
          <p:cNvSpPr>
            <a:spLocks xmlns:a="http://schemas.openxmlformats.org/drawingml/2006/main" noGrp="1"/>
          </p:cNvSpPr>
          <p:nvPr/>
        </p:nvSpPr>
        <p:spPr>
          <a:xfrm xmlns:a="http://schemas.openxmlformats.org/drawingml/2006/main">
            <a:off x="8331200" y="4203700"/>
            <a:ext cx="3073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600" b="1">
                <a:solidFill>
                  <a:srgbClr val="C8F67C"/>
                </a:solidFill>
                <a:latin typeface="Liberation Sans"/>
                <a:ea typeface="Liberation Sans"/>
                <a:cs typeface="Liberation Sans"/>
              </a:defRPr>
            </a:defPPr>
          </a:lstStyle>
          <a:p xmlns:a="http://schemas.openxmlformats.org/drawingml/2006/main">
            <a:pPr>
              <a:lnSpc>
                <a:spcPct val="90000"/>
              </a:lnSpc>
              <a:buNone/>
              <a:defRPr sz="5600" b="1">
                <a:solidFill>
                  <a:srgbClr val="C8F67C"/>
                </a:solidFill>
                <a:latin typeface="Liberation Sans"/>
                <a:ea typeface="Liberation Sans"/>
                <a:cs typeface="Liberation Sans"/>
              </a:defRPr>
            </a:pPr>
            <a:r>
              <a:rPr sz="5600" b="1">
                <a:solidFill>
                  <a:srgbClr val="C8F67C"/>
                </a:solidFill>
                <a:latin typeface="Liberation Sans"/>
                <a:ea typeface="Liberation Sans"/>
                <a:cs typeface="Liberation Sans"/>
              </a:rPr>
              <a:t>03</a:t>
            </a:r>
          </a:p>
        </p:txBody>
      </p:sp>
      <p:sp>
        <p:nvSpPr>
          <p:cNvPr id="20" name="">
            <a:extLst xmlns:a="http://schemas.openxmlformats.org/drawingml/2006/main">
              <a:ext uri="{FF2B5EF4-FFF2-40B4-BE49-F238E27FC236}">
                <a16:creationId xmlns:a16="http://schemas.microsoft.com/office/drawing/2014/main" id="{4CDB3E69-3792-4B4F-AC8B-3BE79453CAEE}"/>
              </a:ext>
            </a:extLst>
          </p:cNvPr>
          <p:cNvSpPr>
            <a:spLocks xmlns:a="http://schemas.openxmlformats.org/drawingml/2006/main" noGrp="1"/>
          </p:cNvSpPr>
          <p:nvPr/>
        </p:nvSpPr>
        <p:spPr>
          <a:xfrm xmlns:a="http://schemas.openxmlformats.org/drawingml/2006/main">
            <a:off x="8331200" y="5283200"/>
            <a:ext cx="3086100" cy="0"/>
          </a:xfrm>
          <a:prstGeom xmlns:a="http://schemas.openxmlformats.org/drawingml/2006/main" prst="line">
            <a:avLst/>
          </a:prstGeom>
          <a:noFill xmlns:a="http://schemas.openxmlformats.org/drawingml/2006/main"/>
          <a:ln xmlns:a="http://schemas.openxmlformats.org/drawingml/2006/main" w="12700">
            <a:solidFill>
              <a:srgbClr val="668977"/>
            </a:solidFill>
            <a:prstDash val="solid"/>
          </a:ln>
        </p:spPr>
      </p:sp>
      <p:sp>
        <p:nvSpPr>
          <p:cNvPr id="21" name="Esercizio">
            <a:extLst xmlns:a="http://schemas.openxmlformats.org/drawingml/2006/main">
              <a:ext uri="{FF2B5EF4-FFF2-40B4-BE49-F238E27FC236}">
                <a16:creationId xmlns:a16="http://schemas.microsoft.com/office/drawing/2014/main" id="{0FC47F9A-0565-4360-BCB7-3B617CC620CB}"/>
              </a:ext>
            </a:extLst>
          </p:cNvPr>
          <p:cNvSpPr>
            <a:spLocks xmlns:a="http://schemas.openxmlformats.org/drawingml/2006/main" noGrp="1"/>
          </p:cNvSpPr>
          <p:nvPr/>
        </p:nvSpPr>
        <p:spPr>
          <a:xfrm xmlns:a="http://schemas.openxmlformats.org/drawingml/2006/main">
            <a:off x="8331200" y="5575300"/>
            <a:ext cx="3086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F4F4E9"/>
                </a:solidFill>
                <a:latin typeface="Liberation Sans"/>
                <a:ea typeface="Liberation Sans"/>
                <a:cs typeface="Liberation Sans"/>
              </a:defRPr>
            </a:defPPr>
          </a:lstStyle>
          <a:p xmlns:a="http://schemas.openxmlformats.org/drawingml/2006/main">
            <a:pPr>
              <a:lnSpc>
                <a:spcPct val="108000"/>
              </a:lnSpc>
              <a:buNone/>
              <a:defRPr sz="2900" b="1">
                <a:solidFill>
                  <a:srgbClr val="F4F4E9"/>
                </a:solidFill>
                <a:latin typeface="Liberation Sans"/>
                <a:ea typeface="Liberation Sans"/>
                <a:cs typeface="Liberation Sans"/>
              </a:defRPr>
            </a:pPr>
            <a:r>
              <a:rPr sz="2900" b="1">
                <a:solidFill>
                  <a:srgbClr val="F4F4E9"/>
                </a:solidFill>
                <a:latin typeface="Liberation Sans"/>
                <a:ea typeface="Liberation Sans"/>
                <a:cs typeface="Liberation Sans"/>
              </a:rPr>
              <a:t>Esercizio</a:t>
            </a:r>
          </a:p>
        </p:txBody>
      </p:sp>
      <p:sp>
        <p:nvSpPr>
          <p:cNvPr id="22" name="Dati disponibili dal BMS,&#10;manutenzioni e&#10;sostituzion">
            <a:extLst xmlns:a="http://schemas.openxmlformats.org/drawingml/2006/main">
              <a:ext uri="{FF2B5EF4-FFF2-40B4-BE49-F238E27FC236}">
                <a16:creationId xmlns:a16="http://schemas.microsoft.com/office/drawing/2014/main" id="{D04FA9AC-9C72-4091-A32B-0A5CD821F658}"/>
              </a:ext>
            </a:extLst>
          </p:cNvPr>
          <p:cNvSpPr>
            <a:spLocks xmlns:a="http://schemas.openxmlformats.org/drawingml/2006/main" noGrp="1"/>
          </p:cNvSpPr>
          <p:nvPr/>
        </p:nvSpPr>
        <p:spPr>
          <a:xfrm xmlns:a="http://schemas.openxmlformats.org/drawingml/2006/main">
            <a:off x="8331200" y="6197600"/>
            <a:ext cx="3162300" cy="119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Dati disponibili dal BMS,</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manutenzioni e</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sostituzioni.</a:t>
            </a:r>
          </a:p>
        </p:txBody>
      </p:sp>
      <p:sp>
        <p:nvSpPr>
          <p:cNvPr id="23" name="04">
            <a:extLst xmlns:a="http://schemas.openxmlformats.org/drawingml/2006/main">
              <a:ext uri="{FF2B5EF4-FFF2-40B4-BE49-F238E27FC236}">
                <a16:creationId xmlns:a16="http://schemas.microsoft.com/office/drawing/2014/main" id="{3A3CE552-0AD3-4E3D-894B-3DF6F1EC5E34}"/>
              </a:ext>
            </a:extLst>
          </p:cNvPr>
          <p:cNvSpPr>
            <a:spLocks xmlns:a="http://schemas.openxmlformats.org/drawingml/2006/main" noGrp="1"/>
          </p:cNvSpPr>
          <p:nvPr/>
        </p:nvSpPr>
        <p:spPr>
          <a:xfrm xmlns:a="http://schemas.openxmlformats.org/drawingml/2006/main">
            <a:off x="12039600" y="4203700"/>
            <a:ext cx="3073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600" b="1">
                <a:solidFill>
                  <a:srgbClr val="C8F67C"/>
                </a:solidFill>
                <a:latin typeface="Liberation Sans"/>
                <a:ea typeface="Liberation Sans"/>
                <a:cs typeface="Liberation Sans"/>
              </a:defRPr>
            </a:defPPr>
          </a:lstStyle>
          <a:p xmlns:a="http://schemas.openxmlformats.org/drawingml/2006/main">
            <a:pPr>
              <a:lnSpc>
                <a:spcPct val="90000"/>
              </a:lnSpc>
              <a:buNone/>
              <a:defRPr sz="5600" b="1">
                <a:solidFill>
                  <a:srgbClr val="C8F67C"/>
                </a:solidFill>
                <a:latin typeface="Liberation Sans"/>
                <a:ea typeface="Liberation Sans"/>
                <a:cs typeface="Liberation Sans"/>
              </a:defRPr>
            </a:pPr>
            <a:r>
              <a:rPr sz="5600" b="1">
                <a:solidFill>
                  <a:srgbClr val="C8F67C"/>
                </a:solidFill>
                <a:latin typeface="Liberation Sans"/>
                <a:ea typeface="Liberation Sans"/>
                <a:cs typeface="Liberation Sans"/>
              </a:rPr>
              <a:t>04</a:t>
            </a:r>
          </a:p>
        </p:txBody>
      </p:sp>
      <p:sp>
        <p:nvSpPr>
          <p:cNvPr id="24" name="">
            <a:extLst xmlns:a="http://schemas.openxmlformats.org/drawingml/2006/main">
              <a:ext uri="{FF2B5EF4-FFF2-40B4-BE49-F238E27FC236}">
                <a16:creationId xmlns:a16="http://schemas.microsoft.com/office/drawing/2014/main" id="{E966BB7C-D49F-4EF9-8D52-4AF30229A19E}"/>
              </a:ext>
            </a:extLst>
          </p:cNvPr>
          <p:cNvSpPr>
            <a:spLocks xmlns:a="http://schemas.openxmlformats.org/drawingml/2006/main" noGrp="1"/>
          </p:cNvSpPr>
          <p:nvPr/>
        </p:nvSpPr>
        <p:spPr>
          <a:xfrm xmlns:a="http://schemas.openxmlformats.org/drawingml/2006/main">
            <a:off x="12039600" y="5283200"/>
            <a:ext cx="3086100" cy="0"/>
          </a:xfrm>
          <a:prstGeom xmlns:a="http://schemas.openxmlformats.org/drawingml/2006/main" prst="line">
            <a:avLst/>
          </a:prstGeom>
          <a:noFill xmlns:a="http://schemas.openxmlformats.org/drawingml/2006/main"/>
          <a:ln xmlns:a="http://schemas.openxmlformats.org/drawingml/2006/main" w="12700">
            <a:solidFill>
              <a:srgbClr val="668977"/>
            </a:solidFill>
            <a:prstDash val="solid"/>
          </a:ln>
        </p:spPr>
      </p:sp>
      <p:sp>
        <p:nvSpPr>
          <p:cNvPr id="25" name="Seconda vita">
            <a:extLst xmlns:a="http://schemas.openxmlformats.org/drawingml/2006/main">
              <a:ext uri="{FF2B5EF4-FFF2-40B4-BE49-F238E27FC236}">
                <a16:creationId xmlns:a16="http://schemas.microsoft.com/office/drawing/2014/main" id="{33E753B1-0EF1-4164-8756-E513D2E0106B}"/>
              </a:ext>
            </a:extLst>
          </p:cNvPr>
          <p:cNvSpPr>
            <a:spLocks xmlns:a="http://schemas.openxmlformats.org/drawingml/2006/main" noGrp="1"/>
          </p:cNvSpPr>
          <p:nvPr/>
        </p:nvSpPr>
        <p:spPr>
          <a:xfrm xmlns:a="http://schemas.openxmlformats.org/drawingml/2006/main">
            <a:off x="12039600" y="5575300"/>
            <a:ext cx="3086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F4F4E9"/>
                </a:solidFill>
                <a:latin typeface="Liberation Sans"/>
                <a:ea typeface="Liberation Sans"/>
                <a:cs typeface="Liberation Sans"/>
              </a:defRPr>
            </a:defPPr>
          </a:lstStyle>
          <a:p xmlns:a="http://schemas.openxmlformats.org/drawingml/2006/main">
            <a:pPr>
              <a:lnSpc>
                <a:spcPct val="108000"/>
              </a:lnSpc>
              <a:buNone/>
              <a:defRPr sz="2900" b="1">
                <a:solidFill>
                  <a:srgbClr val="F4F4E9"/>
                </a:solidFill>
                <a:latin typeface="Liberation Sans"/>
                <a:ea typeface="Liberation Sans"/>
                <a:cs typeface="Liberation Sans"/>
              </a:defRPr>
            </a:pPr>
            <a:r>
              <a:rPr sz="2900" b="1">
                <a:solidFill>
                  <a:srgbClr val="F4F4E9"/>
                </a:solidFill>
                <a:latin typeface="Liberation Sans"/>
                <a:ea typeface="Liberation Sans"/>
                <a:cs typeface="Liberation Sans"/>
              </a:rPr>
              <a:t>Seconda vita</a:t>
            </a:r>
          </a:p>
        </p:txBody>
      </p:sp>
      <p:sp>
        <p:nvSpPr>
          <p:cNvPr id="26" name="Valutazioni per riuso,&#10;nuovo impiego&#10;e riciclo.">
            <a:extLst xmlns:a="http://schemas.openxmlformats.org/drawingml/2006/main">
              <a:ext uri="{FF2B5EF4-FFF2-40B4-BE49-F238E27FC236}">
                <a16:creationId xmlns:a16="http://schemas.microsoft.com/office/drawing/2014/main" id="{85CDFADC-B7D8-4FDA-9B73-7E72F85AD541}"/>
              </a:ext>
            </a:extLst>
          </p:cNvPr>
          <p:cNvSpPr>
            <a:spLocks xmlns:a="http://schemas.openxmlformats.org/drawingml/2006/main" noGrp="1"/>
          </p:cNvSpPr>
          <p:nvPr/>
        </p:nvSpPr>
        <p:spPr>
          <a:xfrm xmlns:a="http://schemas.openxmlformats.org/drawingml/2006/main">
            <a:off x="12039600" y="6197600"/>
            <a:ext cx="3162300" cy="119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Valutazioni per riuso,</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nuovo impiego</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e riciclo.</a:t>
            </a:r>
          </a:p>
        </p:txBody>
      </p:sp>
      <p:sp>
        <p:nvSpPr>
          <p:cNvPr id="27" name="">
            <a:extLst xmlns:a="http://schemas.openxmlformats.org/drawingml/2006/main">
              <a:ext uri="{FF2B5EF4-FFF2-40B4-BE49-F238E27FC236}">
                <a16:creationId xmlns:a16="http://schemas.microsoft.com/office/drawing/2014/main" id="{A4BE1291-9AE9-4080-AA98-FFB8759512CF}"/>
              </a:ext>
            </a:extLst>
          </p:cNvPr>
          <p:cNvSpPr>
            <a:spLocks xmlns:a="http://schemas.openxmlformats.org/drawingml/2006/main" noGrp="1"/>
          </p:cNvSpPr>
          <p:nvPr/>
        </p:nvSpPr>
        <p:spPr>
          <a:xfrm xmlns:a="http://schemas.openxmlformats.org/drawingml/2006/main">
            <a:off x="914400" y="7581900"/>
            <a:ext cx="144272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sp>
        <p:nvSpPr>
          <p:cNvPr id="28" name="Rettifiche e cambi di stato restano ricostruibili; g">
            <a:extLst xmlns:a="http://schemas.openxmlformats.org/drawingml/2006/main">
              <a:ext uri="{FF2B5EF4-FFF2-40B4-BE49-F238E27FC236}">
                <a16:creationId xmlns:a16="http://schemas.microsoft.com/office/drawing/2014/main" id="{786DAB0B-1954-4C35-AEDF-6ECD974D24F0}"/>
              </a:ext>
            </a:extLst>
          </p:cNvPr>
          <p:cNvSpPr>
            <a:spLocks xmlns:a="http://schemas.openxmlformats.org/drawingml/2006/main" noGrp="1"/>
          </p:cNvSpPr>
          <p:nvPr/>
        </p:nvSpPr>
        <p:spPr>
          <a:xfrm xmlns:a="http://schemas.openxmlformats.org/drawingml/2006/main">
            <a:off x="1168400" y="7747000"/>
            <a:ext cx="139192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4F4E9"/>
                </a:solidFill>
                <a:latin typeface="Liberation Sans"/>
                <a:ea typeface="Liberation Sans"/>
                <a:cs typeface="Liberation Sans"/>
              </a:defRPr>
            </a:defPPr>
          </a:lstStyle>
          <a:p xmlns:a="http://schemas.openxmlformats.org/drawingml/2006/main">
            <a:pPr>
              <a:lnSpc>
                <a:spcPct val="108000"/>
              </a:lnSpc>
              <a:buNone/>
              <a:defRPr sz="1800" b="1">
                <a:solidFill>
                  <a:srgbClr val="F4F4E9"/>
                </a:solidFill>
                <a:latin typeface="Liberation Sans"/>
                <a:ea typeface="Liberation Sans"/>
                <a:cs typeface="Liberation Sans"/>
              </a:defRPr>
            </a:pPr>
            <a:r>
              <a:rPr sz="1800" b="1">
                <a:solidFill>
                  <a:srgbClr val="F4F4E9"/>
                </a:solidFill>
                <a:latin typeface="Liberation Sans"/>
                <a:ea typeface="Liberation Sans"/>
                <a:cs typeface="Liberation Sans"/>
              </a:rPr>
              <a:t>Rettifiche e cambi di stato restano ricostruibili; gli eventuali nuovi passaporti sono collegati ai precedenti.</a:t>
            </a:r>
          </a:p>
        </p:txBody>
      </p:sp>
    </p:spTree>
    <p:extLst>
      <p:ext uri="{BB962C8B-B14F-4D97-AF65-F5344CB8AC3E}">
        <p14:creationId xmlns:p14="http://schemas.microsoft.com/office/powerpoint/2010/main" val="2094362619"/>
      </p:ext>
    </p:extLst>
  </p:cSld>
</p:sld>
</file>

<file path=ppt/slides/slide6.xml><?xml version="1.0" encoding="utf-8"?>
<p:sld xmlns:p="http://schemas.openxmlformats.org/presentationml/2006/main">
  <p:cSld>
    <p:bg>
      <p:bgPr>
        <a:solidFill xmlns:a="http://schemas.openxmlformats.org/drawingml/2006/main">
          <a:srgbClr val="09191B"/>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C74EF9D-B16B-4DB7-9657-4B256D188906}"/>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33662512-184B-4270-9466-C80035B600F9}"/>
              </a:ext>
            </a:extLst>
          </p:cNvPr>
          <p:cNvPicPr>
            <a:picLocks xmlns:a="http://schemas.openxmlformats.org/drawingml/2006/main" noChangeAspect="1"/>
          </p:cNvPicPr>
          <p:nvPr/>
        </p:nvPicPr>
        <p:blipFill>
          <a:blip xmlns:r="http://schemas.openxmlformats.org/officeDocument/2006/relationships" xmlns:a="http://schemas.openxmlformats.org/drawingml/2006/main" r:embed="R001b39ab955b469b"/>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400FE11-2745-42F9-978F-055158065B40}"/>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6DCB6274-22A5-4736-A694-71E56C8ED00C}"/>
              </a:ext>
            </a:extLst>
          </p:cNvPr>
          <p:cNvPicPr>
            <a:picLocks xmlns:a="http://schemas.openxmlformats.org/drawingml/2006/main" noChangeAspect="1"/>
          </p:cNvPicPr>
          <p:nvPr/>
        </p:nvPicPr>
        <p:blipFill>
          <a:blip xmlns:r="http://schemas.openxmlformats.org/officeDocument/2006/relationships" xmlns:a="http://schemas.openxmlformats.org/drawingml/2006/main" r:embed="Raf492ed45f594fe0"/>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TRACKING · UTILIZZO E PRESTAZIONI">
            <a:extLst xmlns:a="http://schemas.openxmlformats.org/drawingml/2006/main">
              <a:ext uri="{FF2B5EF4-FFF2-40B4-BE49-F238E27FC236}">
                <a16:creationId xmlns:a16="http://schemas.microsoft.com/office/drawing/2014/main" id="{128063C3-6FC7-4D8F-B4AD-AB4A965E1D74}"/>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TRACKING · UTILIZZO E PRESTAZIONI</a:t>
            </a:r>
          </a:p>
        </p:txBody>
      </p:sp>
      <p:sp>
        <p:nvSpPr>
          <p:cNvPr id="6" name="Ogni misura conserva&#10;la propria evidenza">
            <a:extLst xmlns:a="http://schemas.openxmlformats.org/drawingml/2006/main">
              <a:ext uri="{FF2B5EF4-FFF2-40B4-BE49-F238E27FC236}">
                <a16:creationId xmlns:a16="http://schemas.microsoft.com/office/drawing/2014/main" id="{AE0309CF-7D3F-4DDD-B37C-5040EA865BC4}"/>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4F4E9"/>
                </a:solidFill>
                <a:latin typeface="Liberation Sans"/>
                <a:ea typeface="Liberation Sans"/>
                <a:cs typeface="Liberation Sans"/>
              </a:defRPr>
            </a:defPPr>
          </a:lstStyle>
          <a:p xmlns:a="http://schemas.openxmlformats.org/drawingml/2006/main">
            <a:pPr>
              <a:lnSpc>
                <a:spcPct val="90000"/>
              </a:lnSpc>
              <a:buNone/>
              <a:defRPr sz="4800" b="1">
                <a:solidFill>
                  <a:srgbClr val="F4F4E9"/>
                </a:solidFill>
                <a:latin typeface="Liberation Sans"/>
                <a:ea typeface="Liberation Sans"/>
                <a:cs typeface="Liberation Sans"/>
              </a:defRPr>
            </a:pPr>
            <a:r>
              <a:rPr sz="4800" b="1">
                <a:solidFill>
                  <a:srgbClr val="F4F4E9"/>
                </a:solidFill>
                <a:latin typeface="Liberation Sans"/>
                <a:ea typeface="Liberation Sans"/>
                <a:cs typeface="Liberation Sans"/>
              </a:rPr>
              <a:t>Ogni misura conserva</a:t>
            </a:r>
          </a:p>
          <a:p xmlns:a="http://schemas.openxmlformats.org/drawingml/2006/main">
            <a:pPr>
              <a:lnSpc>
                <a:spcPct val="90000"/>
              </a:lnSpc>
              <a:buNone/>
              <a:defRPr sz="4800" b="1">
                <a:solidFill>
                  <a:srgbClr val="F4F4E9"/>
                </a:solidFill>
                <a:latin typeface="Liberation Sans"/>
                <a:ea typeface="Liberation Sans"/>
                <a:cs typeface="Liberation Sans"/>
              </a:defRPr>
            </a:pPr>
            <a:r>
              <a:rPr sz="4800" b="1">
                <a:solidFill>
                  <a:srgbClr val="F4F4E9"/>
                </a:solidFill>
                <a:latin typeface="Liberation Sans"/>
                <a:ea typeface="Liberation Sans"/>
                <a:cs typeface="Liberation Sans"/>
              </a:rPr>
              <a:t>la propria evidenza</a:t>
            </a:r>
          </a:p>
        </p:txBody>
      </p:sp>
      <p:sp>
        <p:nvSpPr>
          <p:cNvPr id="7" name="La registrazione distingue misure, stime e dati manc">
            <a:extLst xmlns:a="http://schemas.openxmlformats.org/drawingml/2006/main">
              <a:ext uri="{FF2B5EF4-FFF2-40B4-BE49-F238E27FC236}">
                <a16:creationId xmlns:a16="http://schemas.microsoft.com/office/drawing/2014/main" id="{27DF66BC-3451-4385-A544-1315F44A154E}"/>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La registrazione distingue misure, stime e dati mancanti e permette di risalire alla fonte.</a:t>
            </a:r>
          </a:p>
        </p:txBody>
      </p:sp>
      <p:sp>
        <p:nvSpPr>
          <p:cNvPr id="8" name="">
            <a:extLst xmlns:a="http://schemas.openxmlformats.org/drawingml/2006/main">
              <a:ext uri="{FF2B5EF4-FFF2-40B4-BE49-F238E27FC236}">
                <a16:creationId xmlns:a16="http://schemas.microsoft.com/office/drawing/2014/main" id="{1E51BF64-7018-46F5-8EB6-2D9839F3421B}"/>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486B5D"/>
            </a:solidFill>
            <a:prstDash val="solid"/>
          </a:ln>
        </p:spPr>
      </p:sp>
      <p:sp>
        <p:nvSpPr>
          <p:cNvPr id="9" name="Le grandezze acquisibili dipendono da BMS, contatori">
            <a:extLst xmlns:a="http://schemas.openxmlformats.org/drawingml/2006/main">
              <a:ext uri="{FF2B5EF4-FFF2-40B4-BE49-F238E27FC236}">
                <a16:creationId xmlns:a16="http://schemas.microsoft.com/office/drawing/2014/main" id="{93DB03D3-7ED8-4938-93F5-4A78EE983491}"/>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0C4BC"/>
                </a:solidFill>
                <a:latin typeface="Liberation Sans"/>
                <a:ea typeface="Liberation Sans"/>
                <a:cs typeface="Liberation Sans"/>
              </a:defRPr>
            </a:defPPr>
          </a:lstStyle>
          <a:p xmlns:a="http://schemas.openxmlformats.org/drawingml/2006/main">
            <a:pPr>
              <a:lnSpc>
                <a:spcPct val="108000"/>
              </a:lnSpc>
              <a:buNone/>
              <a:defRPr sz="1200" b="0">
                <a:solidFill>
                  <a:srgbClr val="B0C4BC"/>
                </a:solidFill>
                <a:latin typeface="Liberation Sans"/>
                <a:ea typeface="Liberation Sans"/>
                <a:cs typeface="Liberation Sans"/>
              </a:defRPr>
            </a:pPr>
            <a:r>
              <a:rPr sz="1200" b="0">
                <a:solidFill>
                  <a:srgbClr val="B0C4BC"/>
                </a:solidFill>
                <a:latin typeface="Liberation Sans"/>
                <a:ea typeface="Liberation Sans"/>
                <a:cs typeface="Liberation Sans"/>
              </a:rPr>
              <a:t>Le grandezze acquisibili dipendono da BMS, contatori, sistemi del costruttore e diritti di accesso.</a:t>
            </a:r>
          </a:p>
        </p:txBody>
      </p:sp>
      <p:sp>
        <p:nvSpPr>
          <p:cNvPr id="10" name="06 / 13">
            <a:extLst xmlns:a="http://schemas.openxmlformats.org/drawingml/2006/main">
              <a:ext uri="{FF2B5EF4-FFF2-40B4-BE49-F238E27FC236}">
                <a16:creationId xmlns:a16="http://schemas.microsoft.com/office/drawing/2014/main" id="{074243D9-460E-4189-9A33-AF980F971199}"/>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06 / 13</a:t>
            </a:r>
          </a:p>
        </p:txBody>
      </p:sp>
      <p:sp>
        <p:nvSpPr>
          <p:cNvPr id="11" name="">
            <a:extLst xmlns:a="http://schemas.openxmlformats.org/drawingml/2006/main">
              <a:ext uri="{FF2B5EF4-FFF2-40B4-BE49-F238E27FC236}">
                <a16:creationId xmlns:a16="http://schemas.microsoft.com/office/drawing/2014/main" id="{5E3B8BAD-7147-48C9-805E-39D5F6DA309B}"/>
              </a:ext>
            </a:extLst>
          </p:cNvPr>
          <p:cNvSpPr>
            <a:spLocks xmlns:a="http://schemas.openxmlformats.org/drawingml/2006/main" noGrp="1"/>
          </p:cNvSpPr>
          <p:nvPr/>
        </p:nvSpPr>
        <p:spPr>
          <a:xfrm xmlns:a="http://schemas.openxmlformats.org/drawingml/2006/main">
            <a:off x="914400" y="4318000"/>
            <a:ext cx="6248400" cy="3708400"/>
          </a:xfrm>
          <a:prstGeom xmlns:a="http://schemas.openxmlformats.org/drawingml/2006/main" prst="roundRect">
            <a:avLst>
              <a:gd name="adj" fmla="val 4110"/>
            </a:avLst>
          </a:prstGeom>
          <a:solidFill xmlns:a="http://schemas.openxmlformats.org/drawingml/2006/main">
            <a:srgbClr val="183F37"/>
          </a:solidFill>
          <a:ln xmlns:a="http://schemas.openxmlformats.org/drawingml/2006/main" w="0">
            <a:noFill/>
            <a:prstDash val="solid"/>
          </a:ln>
        </p:spPr>
      </p:sp>
      <p:sp>
        <p:nvSpPr>
          <p:cNvPr id="12" name="DATI PROPOSTI PER BATTERIA">
            <a:extLst xmlns:a="http://schemas.openxmlformats.org/drawingml/2006/main">
              <a:ext uri="{FF2B5EF4-FFF2-40B4-BE49-F238E27FC236}">
                <a16:creationId xmlns:a16="http://schemas.microsoft.com/office/drawing/2014/main" id="{51CB2AA3-DCD0-4A73-9FE5-39C7A9AE924F}"/>
              </a:ext>
            </a:extLst>
          </p:cNvPr>
          <p:cNvSpPr>
            <a:spLocks xmlns:a="http://schemas.openxmlformats.org/drawingml/2006/main" noGrp="1"/>
          </p:cNvSpPr>
          <p:nvPr/>
        </p:nvSpPr>
        <p:spPr>
          <a:xfrm xmlns:a="http://schemas.openxmlformats.org/drawingml/2006/main">
            <a:off x="1219200" y="4635500"/>
            <a:ext cx="5461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DATI PROPOSTI PER BATTERIA</a:t>
            </a:r>
          </a:p>
        </p:txBody>
      </p:sp>
      <p:sp>
        <p:nvSpPr>
          <p:cNvPr id="13" name="Identificazione">
            <a:extLst xmlns:a="http://schemas.openxmlformats.org/drawingml/2006/main">
              <a:ext uri="{FF2B5EF4-FFF2-40B4-BE49-F238E27FC236}">
                <a16:creationId xmlns:a16="http://schemas.microsoft.com/office/drawing/2014/main" id="{677BC1B0-A6C8-4D66-86FC-BAB8E71C73B9}"/>
              </a:ext>
            </a:extLst>
          </p:cNvPr>
          <p:cNvSpPr>
            <a:spLocks xmlns:a="http://schemas.openxmlformats.org/drawingml/2006/main" noGrp="1"/>
          </p:cNvSpPr>
          <p:nvPr/>
        </p:nvSpPr>
        <p:spPr>
          <a:xfrm xmlns:a="http://schemas.openxmlformats.org/drawingml/2006/main">
            <a:off x="1219200" y="5181600"/>
            <a:ext cx="204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0C4BC"/>
                </a:solidFill>
                <a:latin typeface="Liberation Sans"/>
                <a:ea typeface="Liberation Sans"/>
                <a:cs typeface="Liberation Sans"/>
              </a:defRPr>
            </a:defPPr>
          </a:lstStyle>
          <a:p xmlns:a="http://schemas.openxmlformats.org/drawingml/2006/main">
            <a:pPr>
              <a:lnSpc>
                <a:spcPct val="108000"/>
              </a:lnSpc>
              <a:buNone/>
              <a:defRPr sz="1800" b="0">
                <a:solidFill>
                  <a:srgbClr val="B0C4BC"/>
                </a:solidFill>
                <a:latin typeface="Liberation Sans"/>
                <a:ea typeface="Liberation Sans"/>
                <a:cs typeface="Liberation Sans"/>
              </a:defRPr>
            </a:pPr>
            <a:r>
              <a:rPr sz="1800" b="0">
                <a:solidFill>
                  <a:srgbClr val="B0C4BC"/>
                </a:solidFill>
                <a:latin typeface="Liberation Sans"/>
                <a:ea typeface="Liberation Sans"/>
                <a:cs typeface="Liberation Sans"/>
              </a:rPr>
              <a:t>Identificazione</a:t>
            </a:r>
          </a:p>
        </p:txBody>
      </p:sp>
      <p:sp>
        <p:nvSpPr>
          <p:cNvPr id="14" name="Matricola e macchina">
            <a:extLst xmlns:a="http://schemas.openxmlformats.org/drawingml/2006/main">
              <a:ext uri="{FF2B5EF4-FFF2-40B4-BE49-F238E27FC236}">
                <a16:creationId xmlns:a16="http://schemas.microsoft.com/office/drawing/2014/main" id="{E39D4795-7F40-4273-9EBA-B8B10CA80FD3}"/>
              </a:ext>
            </a:extLst>
          </p:cNvPr>
          <p:cNvSpPr>
            <a:spLocks xmlns:a="http://schemas.openxmlformats.org/drawingml/2006/main" noGrp="1"/>
          </p:cNvSpPr>
          <p:nvPr/>
        </p:nvSpPr>
        <p:spPr>
          <a:xfrm xmlns:a="http://schemas.openxmlformats.org/drawingml/2006/main">
            <a:off x="3340100" y="51816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1">
                <a:solidFill>
                  <a:srgbClr val="F4F4E9"/>
                </a:solidFill>
                <a:latin typeface="Liberation Sans"/>
                <a:ea typeface="Liberation Sans"/>
                <a:cs typeface="Liberation Sans"/>
              </a:defRPr>
            </a:defPPr>
          </a:lstStyle>
          <a:p xmlns:a="http://schemas.openxmlformats.org/drawingml/2006/main">
            <a:pPr>
              <a:lnSpc>
                <a:spcPct val="108000"/>
              </a:lnSpc>
              <a:buNone/>
              <a:defRPr sz="2000" b="1">
                <a:solidFill>
                  <a:srgbClr val="F4F4E9"/>
                </a:solidFill>
                <a:latin typeface="Liberation Sans"/>
                <a:ea typeface="Liberation Sans"/>
                <a:cs typeface="Liberation Sans"/>
              </a:defRPr>
            </a:pPr>
            <a:r>
              <a:rPr sz="2000" b="1">
                <a:solidFill>
                  <a:srgbClr val="F4F4E9"/>
                </a:solidFill>
                <a:latin typeface="Liberation Sans"/>
                <a:ea typeface="Liberation Sans"/>
                <a:cs typeface="Liberation Sans"/>
              </a:rPr>
              <a:t>Matricola e macchina</a:t>
            </a:r>
          </a:p>
        </p:txBody>
      </p:sp>
      <p:sp>
        <p:nvSpPr>
          <p:cNvPr id="15" name="Energia">
            <a:extLst xmlns:a="http://schemas.openxmlformats.org/drawingml/2006/main">
              <a:ext uri="{FF2B5EF4-FFF2-40B4-BE49-F238E27FC236}">
                <a16:creationId xmlns:a16="http://schemas.microsoft.com/office/drawing/2014/main" id="{4296DED7-E447-4256-B84F-CE27CEA52E7F}"/>
              </a:ext>
            </a:extLst>
          </p:cNvPr>
          <p:cNvSpPr>
            <a:spLocks xmlns:a="http://schemas.openxmlformats.org/drawingml/2006/main" noGrp="1"/>
          </p:cNvSpPr>
          <p:nvPr/>
        </p:nvSpPr>
        <p:spPr>
          <a:xfrm xmlns:a="http://schemas.openxmlformats.org/drawingml/2006/main">
            <a:off x="1219200" y="5702300"/>
            <a:ext cx="204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0C4BC"/>
                </a:solidFill>
                <a:latin typeface="Liberation Sans"/>
                <a:ea typeface="Liberation Sans"/>
                <a:cs typeface="Liberation Sans"/>
              </a:defRPr>
            </a:defPPr>
          </a:lstStyle>
          <a:p xmlns:a="http://schemas.openxmlformats.org/drawingml/2006/main">
            <a:pPr>
              <a:lnSpc>
                <a:spcPct val="108000"/>
              </a:lnSpc>
              <a:buNone/>
              <a:defRPr sz="1800" b="0">
                <a:solidFill>
                  <a:srgbClr val="B0C4BC"/>
                </a:solidFill>
                <a:latin typeface="Liberation Sans"/>
                <a:ea typeface="Liberation Sans"/>
                <a:cs typeface="Liberation Sans"/>
              </a:defRPr>
            </a:pPr>
            <a:r>
              <a:rPr sz="1800" b="0">
                <a:solidFill>
                  <a:srgbClr val="B0C4BC"/>
                </a:solidFill>
                <a:latin typeface="Liberation Sans"/>
                <a:ea typeface="Liberation Sans"/>
                <a:cs typeface="Liberation Sans"/>
              </a:rPr>
              <a:t>Energia</a:t>
            </a:r>
          </a:p>
        </p:txBody>
      </p:sp>
      <p:sp>
        <p:nvSpPr>
          <p:cNvPr id="16" name="kWh in ingresso / uscita">
            <a:extLst xmlns:a="http://schemas.openxmlformats.org/drawingml/2006/main">
              <a:ext uri="{FF2B5EF4-FFF2-40B4-BE49-F238E27FC236}">
                <a16:creationId xmlns:a16="http://schemas.microsoft.com/office/drawing/2014/main" id="{93E7F319-0BE6-44F0-A1DC-9D7EAC06EB36}"/>
              </a:ext>
            </a:extLst>
          </p:cNvPr>
          <p:cNvSpPr>
            <a:spLocks xmlns:a="http://schemas.openxmlformats.org/drawingml/2006/main" noGrp="1"/>
          </p:cNvSpPr>
          <p:nvPr/>
        </p:nvSpPr>
        <p:spPr>
          <a:xfrm xmlns:a="http://schemas.openxmlformats.org/drawingml/2006/main">
            <a:off x="3340100" y="57023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1">
                <a:solidFill>
                  <a:srgbClr val="F4F4E9"/>
                </a:solidFill>
                <a:latin typeface="Liberation Sans"/>
                <a:ea typeface="Liberation Sans"/>
                <a:cs typeface="Liberation Sans"/>
              </a:defRPr>
            </a:defPPr>
          </a:lstStyle>
          <a:p xmlns:a="http://schemas.openxmlformats.org/drawingml/2006/main">
            <a:pPr>
              <a:lnSpc>
                <a:spcPct val="108000"/>
              </a:lnSpc>
              <a:buNone/>
              <a:defRPr sz="2000" b="1">
                <a:solidFill>
                  <a:srgbClr val="F4F4E9"/>
                </a:solidFill>
                <a:latin typeface="Liberation Sans"/>
                <a:ea typeface="Liberation Sans"/>
                <a:cs typeface="Liberation Sans"/>
              </a:defRPr>
            </a:pPr>
            <a:r>
              <a:rPr sz="2000" b="1">
                <a:solidFill>
                  <a:srgbClr val="F4F4E9"/>
                </a:solidFill>
                <a:latin typeface="Liberation Sans"/>
                <a:ea typeface="Liberation Sans"/>
                <a:cs typeface="Liberation Sans"/>
              </a:rPr>
              <a:t>kWh in ingresso / uscita</a:t>
            </a:r>
          </a:p>
        </p:txBody>
      </p:sp>
      <p:sp>
        <p:nvSpPr>
          <p:cNvPr id="17" name="Stato e utilizzo">
            <a:extLst xmlns:a="http://schemas.openxmlformats.org/drawingml/2006/main">
              <a:ext uri="{FF2B5EF4-FFF2-40B4-BE49-F238E27FC236}">
                <a16:creationId xmlns:a16="http://schemas.microsoft.com/office/drawing/2014/main" id="{653BA43F-6419-418F-9BEA-7EF6DB06F2EA}"/>
              </a:ext>
            </a:extLst>
          </p:cNvPr>
          <p:cNvSpPr>
            <a:spLocks xmlns:a="http://schemas.openxmlformats.org/drawingml/2006/main" noGrp="1"/>
          </p:cNvSpPr>
          <p:nvPr/>
        </p:nvSpPr>
        <p:spPr>
          <a:xfrm xmlns:a="http://schemas.openxmlformats.org/drawingml/2006/main">
            <a:off x="1219200" y="6223000"/>
            <a:ext cx="204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0C4BC"/>
                </a:solidFill>
                <a:latin typeface="Liberation Sans"/>
                <a:ea typeface="Liberation Sans"/>
                <a:cs typeface="Liberation Sans"/>
              </a:defRPr>
            </a:defPPr>
          </a:lstStyle>
          <a:p xmlns:a="http://schemas.openxmlformats.org/drawingml/2006/main">
            <a:pPr>
              <a:lnSpc>
                <a:spcPct val="108000"/>
              </a:lnSpc>
              <a:buNone/>
              <a:defRPr sz="1800" b="0">
                <a:solidFill>
                  <a:srgbClr val="B0C4BC"/>
                </a:solidFill>
                <a:latin typeface="Liberation Sans"/>
                <a:ea typeface="Liberation Sans"/>
                <a:cs typeface="Liberation Sans"/>
              </a:defRPr>
            </a:pPr>
            <a:r>
              <a:rPr sz="1800" b="0">
                <a:solidFill>
                  <a:srgbClr val="B0C4BC"/>
                </a:solidFill>
                <a:latin typeface="Liberation Sans"/>
                <a:ea typeface="Liberation Sans"/>
                <a:cs typeface="Liberation Sans"/>
              </a:rPr>
              <a:t>Stato e utilizzo</a:t>
            </a:r>
          </a:p>
        </p:txBody>
      </p:sp>
      <p:sp>
        <p:nvSpPr>
          <p:cNvPr id="18" name="SoH, cicli, temperatura">
            <a:extLst xmlns:a="http://schemas.openxmlformats.org/drawingml/2006/main">
              <a:ext uri="{FF2B5EF4-FFF2-40B4-BE49-F238E27FC236}">
                <a16:creationId xmlns:a16="http://schemas.microsoft.com/office/drawing/2014/main" id="{FE542716-E6D2-42B2-90B3-2B47BAF56CAA}"/>
              </a:ext>
            </a:extLst>
          </p:cNvPr>
          <p:cNvSpPr>
            <a:spLocks xmlns:a="http://schemas.openxmlformats.org/drawingml/2006/main" noGrp="1"/>
          </p:cNvSpPr>
          <p:nvPr/>
        </p:nvSpPr>
        <p:spPr>
          <a:xfrm xmlns:a="http://schemas.openxmlformats.org/drawingml/2006/main">
            <a:off x="3340100" y="62230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1">
                <a:solidFill>
                  <a:srgbClr val="F4F4E9"/>
                </a:solidFill>
                <a:latin typeface="Liberation Sans"/>
                <a:ea typeface="Liberation Sans"/>
                <a:cs typeface="Liberation Sans"/>
              </a:defRPr>
            </a:defPPr>
          </a:lstStyle>
          <a:p xmlns:a="http://schemas.openxmlformats.org/drawingml/2006/main">
            <a:pPr>
              <a:lnSpc>
                <a:spcPct val="108000"/>
              </a:lnSpc>
              <a:buNone/>
              <a:defRPr sz="2000" b="1">
                <a:solidFill>
                  <a:srgbClr val="F4F4E9"/>
                </a:solidFill>
                <a:latin typeface="Liberation Sans"/>
                <a:ea typeface="Liberation Sans"/>
                <a:cs typeface="Liberation Sans"/>
              </a:defRPr>
            </a:pPr>
            <a:r>
              <a:rPr sz="2000" b="1">
                <a:solidFill>
                  <a:srgbClr val="F4F4E9"/>
                </a:solidFill>
                <a:latin typeface="Liberation Sans"/>
                <a:ea typeface="Liberation Sans"/>
                <a:cs typeface="Liberation Sans"/>
              </a:rPr>
              <a:t>SoH, cicli, temperatura</a:t>
            </a:r>
          </a:p>
        </p:txBody>
      </p:sp>
      <p:sp>
        <p:nvSpPr>
          <p:cNvPr id="19" name="Riferimento">
            <a:extLst xmlns:a="http://schemas.openxmlformats.org/drawingml/2006/main">
              <a:ext uri="{FF2B5EF4-FFF2-40B4-BE49-F238E27FC236}">
                <a16:creationId xmlns:a16="http://schemas.microsoft.com/office/drawing/2014/main" id="{0D78D83F-2A31-43A2-874B-C5DE54F7911E}"/>
              </a:ext>
            </a:extLst>
          </p:cNvPr>
          <p:cNvSpPr>
            <a:spLocks xmlns:a="http://schemas.openxmlformats.org/drawingml/2006/main" noGrp="1"/>
          </p:cNvSpPr>
          <p:nvPr/>
        </p:nvSpPr>
        <p:spPr>
          <a:xfrm xmlns:a="http://schemas.openxmlformats.org/drawingml/2006/main">
            <a:off x="1219200" y="6743700"/>
            <a:ext cx="204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0C4BC"/>
                </a:solidFill>
                <a:latin typeface="Liberation Sans"/>
                <a:ea typeface="Liberation Sans"/>
                <a:cs typeface="Liberation Sans"/>
              </a:defRPr>
            </a:defPPr>
          </a:lstStyle>
          <a:p xmlns:a="http://schemas.openxmlformats.org/drawingml/2006/main">
            <a:pPr>
              <a:lnSpc>
                <a:spcPct val="108000"/>
              </a:lnSpc>
              <a:buNone/>
              <a:defRPr sz="1800" b="0">
                <a:solidFill>
                  <a:srgbClr val="B0C4BC"/>
                </a:solidFill>
                <a:latin typeface="Liberation Sans"/>
                <a:ea typeface="Liberation Sans"/>
                <a:cs typeface="Liberation Sans"/>
              </a:defRPr>
            </a:pPr>
            <a:r>
              <a:rPr sz="1800" b="0">
                <a:solidFill>
                  <a:srgbClr val="B0C4BC"/>
                </a:solidFill>
                <a:latin typeface="Liberation Sans"/>
                <a:ea typeface="Liberation Sans"/>
                <a:cs typeface="Liberation Sans"/>
              </a:rPr>
              <a:t>Riferimento</a:t>
            </a:r>
          </a:p>
        </p:txBody>
      </p:sp>
      <p:sp>
        <p:nvSpPr>
          <p:cNvPr id="20" name="Data, fonte e versione">
            <a:extLst xmlns:a="http://schemas.openxmlformats.org/drawingml/2006/main">
              <a:ext uri="{FF2B5EF4-FFF2-40B4-BE49-F238E27FC236}">
                <a16:creationId xmlns:a16="http://schemas.microsoft.com/office/drawing/2014/main" id="{A506E55D-7487-474A-971A-2F1A437F9BA2}"/>
              </a:ext>
            </a:extLst>
          </p:cNvPr>
          <p:cNvSpPr>
            <a:spLocks xmlns:a="http://schemas.openxmlformats.org/drawingml/2006/main" noGrp="1"/>
          </p:cNvSpPr>
          <p:nvPr/>
        </p:nvSpPr>
        <p:spPr>
          <a:xfrm xmlns:a="http://schemas.openxmlformats.org/drawingml/2006/main">
            <a:off x="3340100" y="67437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1">
                <a:solidFill>
                  <a:srgbClr val="F4F4E9"/>
                </a:solidFill>
                <a:latin typeface="Liberation Sans"/>
                <a:ea typeface="Liberation Sans"/>
                <a:cs typeface="Liberation Sans"/>
              </a:defRPr>
            </a:defPPr>
          </a:lstStyle>
          <a:p xmlns:a="http://schemas.openxmlformats.org/drawingml/2006/main">
            <a:pPr>
              <a:lnSpc>
                <a:spcPct val="108000"/>
              </a:lnSpc>
              <a:buNone/>
              <a:defRPr sz="2000" b="1">
                <a:solidFill>
                  <a:srgbClr val="F4F4E9"/>
                </a:solidFill>
                <a:latin typeface="Liberation Sans"/>
                <a:ea typeface="Liberation Sans"/>
                <a:cs typeface="Liberation Sans"/>
              </a:defRPr>
            </a:pPr>
            <a:r>
              <a:rPr sz="2000" b="1">
                <a:solidFill>
                  <a:srgbClr val="F4F4E9"/>
                </a:solidFill>
                <a:latin typeface="Liberation Sans"/>
                <a:ea typeface="Liberation Sans"/>
                <a:cs typeface="Liberation Sans"/>
              </a:rPr>
              <a:t>Data, fonte e versione</a:t>
            </a:r>
          </a:p>
        </p:txBody>
      </p:sp>
      <p:sp>
        <p:nvSpPr>
          <p:cNvPr id="21" name="Qualità">
            <a:extLst xmlns:a="http://schemas.openxmlformats.org/drawingml/2006/main">
              <a:ext uri="{FF2B5EF4-FFF2-40B4-BE49-F238E27FC236}">
                <a16:creationId xmlns:a16="http://schemas.microsoft.com/office/drawing/2014/main" id="{1EBA90B4-2314-4DBD-9FBB-EE40DACA2ECF}"/>
              </a:ext>
            </a:extLst>
          </p:cNvPr>
          <p:cNvSpPr>
            <a:spLocks xmlns:a="http://schemas.openxmlformats.org/drawingml/2006/main" noGrp="1"/>
          </p:cNvSpPr>
          <p:nvPr/>
        </p:nvSpPr>
        <p:spPr>
          <a:xfrm xmlns:a="http://schemas.openxmlformats.org/drawingml/2006/main">
            <a:off x="1219200" y="7264400"/>
            <a:ext cx="204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0C4BC"/>
                </a:solidFill>
                <a:latin typeface="Liberation Sans"/>
                <a:ea typeface="Liberation Sans"/>
                <a:cs typeface="Liberation Sans"/>
              </a:defRPr>
            </a:defPPr>
          </a:lstStyle>
          <a:p xmlns:a="http://schemas.openxmlformats.org/drawingml/2006/main">
            <a:pPr>
              <a:lnSpc>
                <a:spcPct val="108000"/>
              </a:lnSpc>
              <a:buNone/>
              <a:defRPr sz="1800" b="0">
                <a:solidFill>
                  <a:srgbClr val="B0C4BC"/>
                </a:solidFill>
                <a:latin typeface="Liberation Sans"/>
                <a:ea typeface="Liberation Sans"/>
                <a:cs typeface="Liberation Sans"/>
              </a:defRPr>
            </a:pPr>
            <a:r>
              <a:rPr sz="1800" b="0">
                <a:solidFill>
                  <a:srgbClr val="B0C4BC"/>
                </a:solidFill>
                <a:latin typeface="Liberation Sans"/>
                <a:ea typeface="Liberation Sans"/>
                <a:cs typeface="Liberation Sans"/>
              </a:rPr>
              <a:t>Qualità</a:t>
            </a:r>
          </a:p>
        </p:txBody>
      </p:sp>
      <p:sp>
        <p:nvSpPr>
          <p:cNvPr id="22" name="Controlli e anomalie">
            <a:extLst xmlns:a="http://schemas.openxmlformats.org/drawingml/2006/main">
              <a:ext uri="{FF2B5EF4-FFF2-40B4-BE49-F238E27FC236}">
                <a16:creationId xmlns:a16="http://schemas.microsoft.com/office/drawing/2014/main" id="{D0FE368C-3585-46AA-8B37-25BE52F6CDF7}"/>
              </a:ext>
            </a:extLst>
          </p:cNvPr>
          <p:cNvSpPr>
            <a:spLocks xmlns:a="http://schemas.openxmlformats.org/drawingml/2006/main" noGrp="1"/>
          </p:cNvSpPr>
          <p:nvPr/>
        </p:nvSpPr>
        <p:spPr>
          <a:xfrm xmlns:a="http://schemas.openxmlformats.org/drawingml/2006/main">
            <a:off x="3340100" y="72644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1">
                <a:solidFill>
                  <a:srgbClr val="F4F4E9"/>
                </a:solidFill>
                <a:latin typeface="Liberation Sans"/>
                <a:ea typeface="Liberation Sans"/>
                <a:cs typeface="Liberation Sans"/>
              </a:defRPr>
            </a:defPPr>
          </a:lstStyle>
          <a:p xmlns:a="http://schemas.openxmlformats.org/drawingml/2006/main">
            <a:pPr>
              <a:lnSpc>
                <a:spcPct val="108000"/>
              </a:lnSpc>
              <a:buNone/>
              <a:defRPr sz="2000" b="1">
                <a:solidFill>
                  <a:srgbClr val="F4F4E9"/>
                </a:solidFill>
                <a:latin typeface="Liberation Sans"/>
                <a:ea typeface="Liberation Sans"/>
                <a:cs typeface="Liberation Sans"/>
              </a:defRPr>
            </a:pPr>
            <a:r>
              <a:rPr sz="2000" b="1">
                <a:solidFill>
                  <a:srgbClr val="F4F4E9"/>
                </a:solidFill>
                <a:latin typeface="Liberation Sans"/>
                <a:ea typeface="Liberation Sans"/>
                <a:cs typeface="Liberation Sans"/>
              </a:rPr>
              <a:t>Controlli e anomalie</a:t>
            </a:r>
          </a:p>
        </p:txBody>
      </p:sp>
      <p:sp>
        <p:nvSpPr>
          <p:cNvPr id="23" name="Supporto all’assistenza">
            <a:extLst xmlns:a="http://schemas.openxmlformats.org/drawingml/2006/main">
              <a:ext uri="{FF2B5EF4-FFF2-40B4-BE49-F238E27FC236}">
                <a16:creationId xmlns:a16="http://schemas.microsoft.com/office/drawing/2014/main" id="{0D19BF2D-B0EE-4755-B7AC-9EE345E989FE}"/>
              </a:ext>
            </a:extLst>
          </p:cNvPr>
          <p:cNvSpPr>
            <a:spLocks xmlns:a="http://schemas.openxmlformats.org/drawingml/2006/main" noGrp="1"/>
          </p:cNvSpPr>
          <p:nvPr/>
        </p:nvSpPr>
        <p:spPr>
          <a:xfrm xmlns:a="http://schemas.openxmlformats.org/drawingml/2006/main">
            <a:off x="7874000" y="4584700"/>
            <a:ext cx="73025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F4F4E9"/>
                </a:solidFill>
                <a:latin typeface="Liberation Sans"/>
                <a:ea typeface="Liberation Sans"/>
                <a:cs typeface="Liberation Sans"/>
              </a:defRPr>
            </a:defPPr>
          </a:lstStyle>
          <a:p xmlns:a="http://schemas.openxmlformats.org/drawingml/2006/main">
            <a:pPr>
              <a:lnSpc>
                <a:spcPct val="108000"/>
              </a:lnSpc>
              <a:buNone/>
              <a:defRPr sz="2900" b="1">
                <a:solidFill>
                  <a:srgbClr val="F4F4E9"/>
                </a:solidFill>
                <a:latin typeface="Liberation Sans"/>
                <a:ea typeface="Liberation Sans"/>
                <a:cs typeface="Liberation Sans"/>
              </a:defRPr>
            </a:pPr>
            <a:r>
              <a:rPr sz="2900" b="1">
                <a:solidFill>
                  <a:srgbClr val="F4F4E9"/>
                </a:solidFill>
                <a:latin typeface="Liberation Sans"/>
                <a:ea typeface="Liberation Sans"/>
                <a:cs typeface="Liberation Sans"/>
              </a:rPr>
              <a:t>Supporto all’assistenza</a:t>
            </a:r>
          </a:p>
        </p:txBody>
      </p:sp>
      <p:sp>
        <p:nvSpPr>
          <p:cNvPr id="24" name="Collegare eventi e condizioni d’uso ai documenti&#10;di ">
            <a:extLst xmlns:a="http://schemas.openxmlformats.org/drawingml/2006/main">
              <a:ext uri="{FF2B5EF4-FFF2-40B4-BE49-F238E27FC236}">
                <a16:creationId xmlns:a16="http://schemas.microsoft.com/office/drawing/2014/main" id="{5781E3D6-8877-4574-8C91-4755180EC9F3}"/>
              </a:ext>
            </a:extLst>
          </p:cNvPr>
          <p:cNvSpPr>
            <a:spLocks xmlns:a="http://schemas.openxmlformats.org/drawingml/2006/main" noGrp="1"/>
          </p:cNvSpPr>
          <p:nvPr/>
        </p:nvSpPr>
        <p:spPr>
          <a:xfrm xmlns:a="http://schemas.openxmlformats.org/drawingml/2006/main">
            <a:off x="7874000" y="5219700"/>
            <a:ext cx="74295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Collegare eventi e condizioni d’uso ai documenti</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di manutenzione e alle valutazioni tecniche.</a:t>
            </a:r>
          </a:p>
        </p:txBody>
      </p:sp>
      <p:sp>
        <p:nvSpPr>
          <p:cNvPr id="25" name="Dati confrontabili nel tempo">
            <a:extLst xmlns:a="http://schemas.openxmlformats.org/drawingml/2006/main">
              <a:ext uri="{FF2B5EF4-FFF2-40B4-BE49-F238E27FC236}">
                <a16:creationId xmlns:a16="http://schemas.microsoft.com/office/drawing/2014/main" id="{EF2D0D10-421F-4CC7-BEA5-EE41B5104ABD}"/>
              </a:ext>
            </a:extLst>
          </p:cNvPr>
          <p:cNvSpPr>
            <a:spLocks xmlns:a="http://schemas.openxmlformats.org/drawingml/2006/main" noGrp="1"/>
          </p:cNvSpPr>
          <p:nvPr/>
        </p:nvSpPr>
        <p:spPr>
          <a:xfrm xmlns:a="http://schemas.openxmlformats.org/drawingml/2006/main">
            <a:off x="7874000" y="6451600"/>
            <a:ext cx="73025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F4F4E9"/>
                </a:solidFill>
                <a:latin typeface="Liberation Sans"/>
                <a:ea typeface="Liberation Sans"/>
                <a:cs typeface="Liberation Sans"/>
              </a:defRPr>
            </a:defPPr>
          </a:lstStyle>
          <a:p xmlns:a="http://schemas.openxmlformats.org/drawingml/2006/main">
            <a:pPr>
              <a:lnSpc>
                <a:spcPct val="108000"/>
              </a:lnSpc>
              <a:buNone/>
              <a:defRPr sz="2900" b="1">
                <a:solidFill>
                  <a:srgbClr val="F4F4E9"/>
                </a:solidFill>
                <a:latin typeface="Liberation Sans"/>
                <a:ea typeface="Liberation Sans"/>
                <a:cs typeface="Liberation Sans"/>
              </a:defRPr>
            </a:pPr>
            <a:r>
              <a:rPr sz="2900" b="1">
                <a:solidFill>
                  <a:srgbClr val="F4F4E9"/>
                </a:solidFill>
                <a:latin typeface="Liberation Sans"/>
                <a:ea typeface="Liberation Sans"/>
                <a:cs typeface="Liberation Sans"/>
              </a:rPr>
              <a:t>Dati confrontabili nel tempo</a:t>
            </a:r>
          </a:p>
        </p:txBody>
      </p:sp>
      <p:sp>
        <p:nvSpPr>
          <p:cNvPr id="26" name="Conservare metodo, unità e versione delle stime&#10;di s">
            <a:extLst xmlns:a="http://schemas.openxmlformats.org/drawingml/2006/main">
              <a:ext uri="{FF2B5EF4-FFF2-40B4-BE49-F238E27FC236}">
                <a16:creationId xmlns:a16="http://schemas.microsoft.com/office/drawing/2014/main" id="{C0ECC59F-540A-4571-98FA-9DEA2E927CD1}"/>
              </a:ext>
            </a:extLst>
          </p:cNvPr>
          <p:cNvSpPr>
            <a:spLocks xmlns:a="http://schemas.openxmlformats.org/drawingml/2006/main" noGrp="1"/>
          </p:cNvSpPr>
          <p:nvPr/>
        </p:nvSpPr>
        <p:spPr>
          <a:xfrm xmlns:a="http://schemas.openxmlformats.org/drawingml/2006/main">
            <a:off x="7874000" y="7086600"/>
            <a:ext cx="74295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Conservare metodo, unità e versione delle stime</a:t>
            </a:r>
          </a:p>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di stato di salute (SoH) e capacità residua.</a:t>
            </a:r>
          </a:p>
        </p:txBody>
      </p:sp>
    </p:spTree>
    <p:extLst>
      <p:ext uri="{BB962C8B-B14F-4D97-AF65-F5344CB8AC3E}">
        <p14:creationId xmlns:p14="http://schemas.microsoft.com/office/powerpoint/2010/main" val="2079784685"/>
      </p:ext>
    </p:extLst>
  </p:cSld>
</p:sld>
</file>

<file path=ppt/slides/slide7.xml><?xml version="1.0" encoding="utf-8"?>
<p:sld xmlns:p="http://schemas.openxmlformats.org/presentationml/2006/main">
  <p:cSld>
    <p:bg>
      <p:bgPr>
        <a:solidFill xmlns:a="http://schemas.openxmlformats.org/drawingml/2006/main">
          <a:srgbClr val="F0F1E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ECD8588-0964-460C-A196-4E98795F0631}"/>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7761455D-EE6E-4724-8858-866DAE44515C}"/>
              </a:ext>
            </a:extLst>
          </p:cNvPr>
          <p:cNvPicPr>
            <a:picLocks xmlns:a="http://schemas.openxmlformats.org/drawingml/2006/main" noChangeAspect="1"/>
          </p:cNvPicPr>
          <p:nvPr/>
        </p:nvPicPr>
        <p:blipFill>
          <a:blip xmlns:r="http://schemas.openxmlformats.org/officeDocument/2006/relationships" xmlns:a="http://schemas.openxmlformats.org/drawingml/2006/main" r:embed="R844cc0eaedb84fef"/>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A6F00A9-D748-45CF-8139-2A6E607B7016}"/>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B5716887-6C13-48C2-B234-67C67C06A7C5}"/>
              </a:ext>
            </a:extLst>
          </p:cNvPr>
          <p:cNvPicPr>
            <a:picLocks xmlns:a="http://schemas.openxmlformats.org/drawingml/2006/main" noChangeAspect="1"/>
          </p:cNvPicPr>
          <p:nvPr/>
        </p:nvPicPr>
        <p:blipFill>
          <a:blip xmlns:r="http://schemas.openxmlformats.org/officeDocument/2006/relationships" xmlns:a="http://schemas.openxmlformats.org/drawingml/2006/main" r:embed="R1c228ae5b6254aa5"/>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PASSAPORTO BATTERIE · REQUISITI UE">
            <a:extLst xmlns:a="http://schemas.openxmlformats.org/drawingml/2006/main">
              <a:ext uri="{FF2B5EF4-FFF2-40B4-BE49-F238E27FC236}">
                <a16:creationId xmlns:a16="http://schemas.microsoft.com/office/drawing/2014/main" id="{33BCCAE0-11B5-45AB-8FA4-E16DA99C1A2B}"/>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PASSAPORTO BATTERIE · REQUISITI UE</a:t>
            </a:r>
          </a:p>
        </p:txBody>
      </p:sp>
      <p:sp>
        <p:nvSpPr>
          <p:cNvPr id="6" name="Preparare il passaporto&#10;del 18 febbraio 2027">
            <a:extLst xmlns:a="http://schemas.openxmlformats.org/drawingml/2006/main">
              <a:ext uri="{FF2B5EF4-FFF2-40B4-BE49-F238E27FC236}">
                <a16:creationId xmlns:a16="http://schemas.microsoft.com/office/drawing/2014/main" id="{F3507920-2916-4024-9800-30E02C1F7253}"/>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02B28"/>
                </a:solidFill>
                <a:latin typeface="Liberation Sans"/>
                <a:ea typeface="Liberation Sans"/>
                <a:cs typeface="Liberation Sans"/>
              </a:defRPr>
            </a:defPPr>
          </a:lstStyle>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Preparare il passaporto</a:t>
            </a:r>
          </a:p>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del 18 febbraio 2027</a:t>
            </a:r>
          </a:p>
        </p:txBody>
      </p:sp>
      <p:sp>
        <p:nvSpPr>
          <p:cNvPr id="7" name="Per le batterie industriali oltre 2 kWh immesse sul ">
            <a:extLst xmlns:a="http://schemas.openxmlformats.org/drawingml/2006/main">
              <a:ext uri="{FF2B5EF4-FFF2-40B4-BE49-F238E27FC236}">
                <a16:creationId xmlns:a16="http://schemas.microsoft.com/office/drawing/2014/main" id="{44BA9F79-4757-4373-A379-077E178E34CB}"/>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4F6C62"/>
                </a:solidFill>
                <a:latin typeface="Liberation Sans"/>
                <a:ea typeface="Liberation Sans"/>
                <a:cs typeface="Liberation Sans"/>
              </a:defRPr>
            </a:defPPr>
          </a:lstStyle>
          <a:p xmlns:a="http://schemas.openxmlformats.org/drawingml/2006/main">
            <a:pPr>
              <a:lnSpc>
                <a:spcPct val="108000"/>
              </a:lnSpc>
              <a:buNone/>
              <a:defRPr sz="2200" b="0">
                <a:solidFill>
                  <a:srgbClr val="4F6C62"/>
                </a:solidFill>
                <a:latin typeface="Liberation Sans"/>
                <a:ea typeface="Liberation Sans"/>
                <a:cs typeface="Liberation Sans"/>
              </a:defRPr>
            </a:pPr>
            <a:r>
              <a:rPr sz="2200" b="0">
                <a:solidFill>
                  <a:srgbClr val="4F6C62"/>
                </a:solidFill>
                <a:latin typeface="Liberation Sans"/>
                <a:ea typeface="Liberation Sans"/>
                <a:cs typeface="Liberation Sans"/>
              </a:rPr>
              <a:t>Per le batterie industriali oltre 2 kWh immesse sul mercato o messe in servizio nell’UE da quella data.</a:t>
            </a:r>
          </a:p>
        </p:txBody>
      </p:sp>
      <p:sp>
        <p:nvSpPr>
          <p:cNvPr id="8" name="">
            <a:extLst xmlns:a="http://schemas.openxmlformats.org/drawingml/2006/main">
              <a:ext uri="{FF2B5EF4-FFF2-40B4-BE49-F238E27FC236}">
                <a16:creationId xmlns:a16="http://schemas.microsoft.com/office/drawing/2014/main" id="{6CF37832-AC4E-4BD1-BFD6-4913709FADC1}"/>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9" name="Reg. (UE) 2023/1542, art. 77 · FAQ Commissione, sett">
            <a:extLst xmlns:a="http://schemas.openxmlformats.org/drawingml/2006/main">
              <a:ext uri="{FF2B5EF4-FFF2-40B4-BE49-F238E27FC236}">
                <a16:creationId xmlns:a16="http://schemas.microsoft.com/office/drawing/2014/main" id="{09E49C1C-7579-44E9-BF8F-376FA77F456E}"/>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F6C62"/>
                </a:solidFill>
                <a:latin typeface="Liberation Sans"/>
                <a:ea typeface="Liberation Sans"/>
                <a:cs typeface="Liberation Sans"/>
              </a:defRPr>
            </a:defPPr>
          </a:lstStyle>
          <a:p xmlns:a="http://schemas.openxmlformats.org/drawingml/2006/main">
            <a:pPr>
              <a:lnSpc>
                <a:spcPct val="108000"/>
              </a:lnSpc>
              <a:buNone/>
              <a:defRPr sz="1200" b="0">
                <a:solidFill>
                  <a:srgbClr val="4F6C62"/>
                </a:solidFill>
                <a:latin typeface="Liberation Sans"/>
                <a:ea typeface="Liberation Sans"/>
                <a:cs typeface="Liberation Sans"/>
              </a:defRPr>
            </a:pPr>
            <a:r>
              <a:rPr sz="1200" b="0">
                <a:solidFill>
                  <a:srgbClr val="4F6C62"/>
                </a:solidFill>
                <a:latin typeface="Liberation Sans"/>
                <a:ea typeface="Liberation Sans"/>
                <a:cs typeface="Liberation Sans"/>
              </a:rPr>
              <a:t>Reg. (UE) 2023/1542, art. 77 · FAQ Commissione, settembre 2026. Verifica richiesta sulla gamma Alps.</a:t>
            </a:r>
          </a:p>
        </p:txBody>
      </p:sp>
      <p:sp>
        <p:nvSpPr>
          <p:cNvPr id="10" name="07 / 13">
            <a:extLst xmlns:a="http://schemas.openxmlformats.org/drawingml/2006/main">
              <a:ext uri="{FF2B5EF4-FFF2-40B4-BE49-F238E27FC236}">
                <a16:creationId xmlns:a16="http://schemas.microsoft.com/office/drawing/2014/main" id="{B0DB6595-707C-49F4-8D74-A53D9D5CA386}"/>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07 / 13</a:t>
            </a:r>
          </a:p>
        </p:txBody>
      </p:sp>
      <p:sp>
        <p:nvSpPr>
          <p:cNvPr id="11" name="01">
            <a:extLst xmlns:a="http://schemas.openxmlformats.org/drawingml/2006/main">
              <a:ext uri="{FF2B5EF4-FFF2-40B4-BE49-F238E27FC236}">
                <a16:creationId xmlns:a16="http://schemas.microsoft.com/office/drawing/2014/main" id="{28F72060-D679-4F10-8C3F-CC989A7D9411}"/>
              </a:ext>
            </a:extLst>
          </p:cNvPr>
          <p:cNvSpPr>
            <a:spLocks xmlns:a="http://schemas.openxmlformats.org/drawingml/2006/main" noGrp="1"/>
          </p:cNvSpPr>
          <p:nvPr/>
        </p:nvSpPr>
        <p:spPr>
          <a:xfrm xmlns:a="http://schemas.openxmlformats.org/drawingml/2006/main">
            <a:off x="914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01</a:t>
            </a:r>
          </a:p>
        </p:txBody>
      </p:sp>
      <p:sp>
        <p:nvSpPr>
          <p:cNvPr id="12" name="Perimetro">
            <a:extLst xmlns:a="http://schemas.openxmlformats.org/drawingml/2006/main">
              <a:ext uri="{FF2B5EF4-FFF2-40B4-BE49-F238E27FC236}">
                <a16:creationId xmlns:a16="http://schemas.microsoft.com/office/drawing/2014/main" id="{224212A0-2C4C-4515-8454-DA5E227B2AAF}"/>
              </a:ext>
            </a:extLst>
          </p:cNvPr>
          <p:cNvSpPr>
            <a:spLocks xmlns:a="http://schemas.openxmlformats.org/drawingml/2006/main" noGrp="1"/>
          </p:cNvSpPr>
          <p:nvPr/>
        </p:nvSpPr>
        <p:spPr>
          <a:xfrm xmlns:a="http://schemas.openxmlformats.org/drawingml/2006/main">
            <a:off x="914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102B28"/>
                </a:solidFill>
                <a:latin typeface="Liberation Sans"/>
                <a:ea typeface="Liberation Sans"/>
                <a:cs typeface="Liberation Sans"/>
              </a:defRPr>
            </a:defPPr>
          </a:lstStyle>
          <a:p xmlns:a="http://schemas.openxmlformats.org/drawingml/2006/main">
            <a:pPr>
              <a:lnSpc>
                <a:spcPct val="108000"/>
              </a:lnSpc>
              <a:buNone/>
              <a:defRPr sz="2900" b="1">
                <a:solidFill>
                  <a:srgbClr val="102B28"/>
                </a:solidFill>
                <a:latin typeface="Liberation Sans"/>
                <a:ea typeface="Liberation Sans"/>
                <a:cs typeface="Liberation Sans"/>
              </a:defRPr>
            </a:pPr>
            <a:r>
              <a:rPr sz="2900" b="1">
                <a:solidFill>
                  <a:srgbClr val="102B28"/>
                </a:solidFill>
                <a:latin typeface="Liberation Sans"/>
                <a:ea typeface="Liberation Sans"/>
                <a:cs typeface="Liberation Sans"/>
              </a:rPr>
              <a:t>Perimetro</a:t>
            </a:r>
          </a:p>
        </p:txBody>
      </p:sp>
      <p:sp>
        <p:nvSpPr>
          <p:cNvPr id="13" name="Identificare la batteria finita,&#10;la capacità e il so">
            <a:extLst xmlns:a="http://schemas.openxmlformats.org/drawingml/2006/main">
              <a:ext uri="{FF2B5EF4-FFF2-40B4-BE49-F238E27FC236}">
                <a16:creationId xmlns:a16="http://schemas.microsoft.com/office/drawing/2014/main" id="{CF3F982A-7066-41E3-96E0-08C384A6C4A2}"/>
              </a:ext>
            </a:extLst>
          </p:cNvPr>
          <p:cNvSpPr>
            <a:spLocks xmlns:a="http://schemas.openxmlformats.org/drawingml/2006/main" noGrp="1"/>
          </p:cNvSpPr>
          <p:nvPr/>
        </p:nvSpPr>
        <p:spPr>
          <a:xfrm xmlns:a="http://schemas.openxmlformats.org/drawingml/2006/main">
            <a:off x="914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Identificare la batteria finita,</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la capacità e il soggetto</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responsabile dell’immissione.</a:t>
            </a:r>
          </a:p>
        </p:txBody>
      </p:sp>
      <p:sp>
        <p:nvSpPr>
          <p:cNvPr id="14" name="02">
            <a:extLst xmlns:a="http://schemas.openxmlformats.org/drawingml/2006/main">
              <a:ext uri="{FF2B5EF4-FFF2-40B4-BE49-F238E27FC236}">
                <a16:creationId xmlns:a16="http://schemas.microsoft.com/office/drawing/2014/main" id="{9F91E6E8-5B45-4D0B-8008-3E34A029C5A4}"/>
              </a:ext>
            </a:extLst>
          </p:cNvPr>
          <p:cNvSpPr>
            <a:spLocks xmlns:a="http://schemas.openxmlformats.org/drawingml/2006/main" noGrp="1"/>
          </p:cNvSpPr>
          <p:nvPr/>
        </p:nvSpPr>
        <p:spPr>
          <a:xfrm xmlns:a="http://schemas.openxmlformats.org/drawingml/2006/main">
            <a:off x="5867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02</a:t>
            </a:r>
          </a:p>
        </p:txBody>
      </p:sp>
      <p:sp>
        <p:nvSpPr>
          <p:cNvPr id="15" name="Dati e accessi">
            <a:extLst xmlns:a="http://schemas.openxmlformats.org/drawingml/2006/main">
              <a:ext uri="{FF2B5EF4-FFF2-40B4-BE49-F238E27FC236}">
                <a16:creationId xmlns:a16="http://schemas.microsoft.com/office/drawing/2014/main" id="{47AC7F48-E6E7-4D5C-A7C0-EC0E1061F6B0}"/>
              </a:ext>
            </a:extLst>
          </p:cNvPr>
          <p:cNvSpPr>
            <a:spLocks xmlns:a="http://schemas.openxmlformats.org/drawingml/2006/main" noGrp="1"/>
          </p:cNvSpPr>
          <p:nvPr/>
        </p:nvSpPr>
        <p:spPr>
          <a:xfrm xmlns:a="http://schemas.openxmlformats.org/drawingml/2006/main">
            <a:off x="5867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102B28"/>
                </a:solidFill>
                <a:latin typeface="Liberation Sans"/>
                <a:ea typeface="Liberation Sans"/>
                <a:cs typeface="Liberation Sans"/>
              </a:defRPr>
            </a:defPPr>
          </a:lstStyle>
          <a:p xmlns:a="http://schemas.openxmlformats.org/drawingml/2006/main">
            <a:pPr>
              <a:lnSpc>
                <a:spcPct val="108000"/>
              </a:lnSpc>
              <a:buNone/>
              <a:defRPr sz="2900" b="1">
                <a:solidFill>
                  <a:srgbClr val="102B28"/>
                </a:solidFill>
                <a:latin typeface="Liberation Sans"/>
                <a:ea typeface="Liberation Sans"/>
                <a:cs typeface="Liberation Sans"/>
              </a:defRPr>
            </a:pPr>
            <a:r>
              <a:rPr sz="2900" b="1">
                <a:solidFill>
                  <a:srgbClr val="102B28"/>
                </a:solidFill>
                <a:latin typeface="Liberation Sans"/>
                <a:ea typeface="Liberation Sans"/>
                <a:cs typeface="Liberation Sans"/>
              </a:rPr>
              <a:t>Dati e accessi</a:t>
            </a:r>
          </a:p>
        </p:txBody>
      </p:sp>
      <p:sp>
        <p:nvSpPr>
          <p:cNvPr id="16" name="Associare identificativo e QR,&#10;dati applicabili, agg">
            <a:extLst xmlns:a="http://schemas.openxmlformats.org/drawingml/2006/main">
              <a:ext uri="{FF2B5EF4-FFF2-40B4-BE49-F238E27FC236}">
                <a16:creationId xmlns:a16="http://schemas.microsoft.com/office/drawing/2014/main" id="{FB9DF79F-241E-409D-AE3C-B3C955CB8972}"/>
              </a:ext>
            </a:extLst>
          </p:cNvPr>
          <p:cNvSpPr>
            <a:spLocks xmlns:a="http://schemas.openxmlformats.org/drawingml/2006/main" noGrp="1"/>
          </p:cNvSpPr>
          <p:nvPr/>
        </p:nvSpPr>
        <p:spPr>
          <a:xfrm xmlns:a="http://schemas.openxmlformats.org/drawingml/2006/main">
            <a:off x="5867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Associare identificativo e QR,</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dati applicabili, aggiornamenti</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e accessi differenziati.</a:t>
            </a:r>
          </a:p>
        </p:txBody>
      </p:sp>
      <p:sp>
        <p:nvSpPr>
          <p:cNvPr id="17" name="03">
            <a:extLst xmlns:a="http://schemas.openxmlformats.org/drawingml/2006/main">
              <a:ext uri="{FF2B5EF4-FFF2-40B4-BE49-F238E27FC236}">
                <a16:creationId xmlns:a16="http://schemas.microsoft.com/office/drawing/2014/main" id="{2B257949-72E7-47FF-9DE6-7DA5E850D717}"/>
              </a:ext>
            </a:extLst>
          </p:cNvPr>
          <p:cNvSpPr>
            <a:spLocks xmlns:a="http://schemas.openxmlformats.org/drawingml/2006/main" noGrp="1"/>
          </p:cNvSpPr>
          <p:nvPr/>
        </p:nvSpPr>
        <p:spPr>
          <a:xfrm xmlns:a="http://schemas.openxmlformats.org/drawingml/2006/main">
            <a:off x="10820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03</a:t>
            </a:r>
          </a:p>
        </p:txBody>
      </p:sp>
      <p:sp>
        <p:nvSpPr>
          <p:cNvPr id="18" name="Interoperabilità">
            <a:extLst xmlns:a="http://schemas.openxmlformats.org/drawingml/2006/main">
              <a:ext uri="{FF2B5EF4-FFF2-40B4-BE49-F238E27FC236}">
                <a16:creationId xmlns:a16="http://schemas.microsoft.com/office/drawing/2014/main" id="{9FE37119-ED30-4B43-B061-C6227FC0DF76}"/>
              </a:ext>
            </a:extLst>
          </p:cNvPr>
          <p:cNvSpPr>
            <a:spLocks xmlns:a="http://schemas.openxmlformats.org/drawingml/2006/main" noGrp="1"/>
          </p:cNvSpPr>
          <p:nvPr/>
        </p:nvSpPr>
        <p:spPr>
          <a:xfrm xmlns:a="http://schemas.openxmlformats.org/drawingml/2006/main">
            <a:off x="10820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102B28"/>
                </a:solidFill>
                <a:latin typeface="Liberation Sans"/>
                <a:ea typeface="Liberation Sans"/>
                <a:cs typeface="Liberation Sans"/>
              </a:defRPr>
            </a:defPPr>
          </a:lstStyle>
          <a:p xmlns:a="http://schemas.openxmlformats.org/drawingml/2006/main">
            <a:pPr>
              <a:lnSpc>
                <a:spcPct val="108000"/>
              </a:lnSpc>
              <a:buNone/>
              <a:defRPr sz="2900" b="1">
                <a:solidFill>
                  <a:srgbClr val="102B28"/>
                </a:solidFill>
                <a:latin typeface="Liberation Sans"/>
                <a:ea typeface="Liberation Sans"/>
                <a:cs typeface="Liberation Sans"/>
              </a:defRPr>
            </a:pPr>
            <a:r>
              <a:rPr sz="2900" b="1">
                <a:solidFill>
                  <a:srgbClr val="102B28"/>
                </a:solidFill>
                <a:latin typeface="Liberation Sans"/>
                <a:ea typeface="Liberation Sans"/>
                <a:cs typeface="Liberation Sans"/>
              </a:rPr>
              <a:t>Interoperabilità</a:t>
            </a:r>
          </a:p>
        </p:txBody>
      </p:sp>
      <p:sp>
        <p:nvSpPr>
          <p:cNvPr id="19" name="Predisporre formati aperti,&#10;continuità dei dati e&#10;re">
            <a:extLst xmlns:a="http://schemas.openxmlformats.org/drawingml/2006/main">
              <a:ext uri="{FF2B5EF4-FFF2-40B4-BE49-F238E27FC236}">
                <a16:creationId xmlns:a16="http://schemas.microsoft.com/office/drawing/2014/main" id="{798AAFCA-B265-4EB7-A53C-AF4E3BB35DC6}"/>
              </a:ext>
            </a:extLst>
          </p:cNvPr>
          <p:cNvSpPr>
            <a:spLocks xmlns:a="http://schemas.openxmlformats.org/drawingml/2006/main" noGrp="1"/>
          </p:cNvSpPr>
          <p:nvPr/>
        </p:nvSpPr>
        <p:spPr>
          <a:xfrm xmlns:a="http://schemas.openxmlformats.org/drawingml/2006/main">
            <a:off x="10820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Predisporre formati aperti,</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continuità dei dati e</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registrazione nel registro DPP.</a:t>
            </a:r>
          </a:p>
        </p:txBody>
      </p:sp>
      <p:sp>
        <p:nvSpPr>
          <p:cNvPr id="20" name="">
            <a:extLst xmlns:a="http://schemas.openxmlformats.org/drawingml/2006/main">
              <a:ext uri="{FF2B5EF4-FFF2-40B4-BE49-F238E27FC236}">
                <a16:creationId xmlns:a16="http://schemas.microsoft.com/office/drawing/2014/main" id="{F532BBC4-47D2-4856-9B94-AA0DEDE05441}"/>
              </a:ext>
            </a:extLst>
          </p:cNvPr>
          <p:cNvSpPr>
            <a:spLocks xmlns:a="http://schemas.openxmlformats.org/drawingml/2006/main" noGrp="1"/>
          </p:cNvSpPr>
          <p:nvPr/>
        </p:nvSpPr>
        <p:spPr>
          <a:xfrm xmlns:a="http://schemas.openxmlformats.org/drawingml/2006/main">
            <a:off x="914400" y="7505700"/>
            <a:ext cx="14427200" cy="647700"/>
          </a:xfrm>
          <a:prstGeom xmlns:a="http://schemas.openxmlformats.org/drawingml/2006/main" prst="roundRect">
            <a:avLst>
              <a:gd name="adj" fmla="val 15686"/>
            </a:avLst>
          </a:prstGeom>
          <a:solidFill xmlns:a="http://schemas.openxmlformats.org/drawingml/2006/main">
            <a:srgbClr val="102B28"/>
          </a:solidFill>
          <a:ln xmlns:a="http://schemas.openxmlformats.org/drawingml/2006/main" w="0">
            <a:noFill/>
            <a:prstDash val="solid"/>
          </a:ln>
        </p:spPr>
      </p:sp>
      <p:sp>
        <p:nvSpPr>
          <p:cNvPr id="21" name="Segmento può supportare il percorso: la conformità d">
            <a:extLst xmlns:a="http://schemas.openxmlformats.org/drawingml/2006/main">
              <a:ext uri="{FF2B5EF4-FFF2-40B4-BE49-F238E27FC236}">
                <a16:creationId xmlns:a16="http://schemas.microsoft.com/office/drawing/2014/main" id="{CDD96974-07DA-4521-8EC5-7C427B4A34CB}"/>
              </a:ext>
            </a:extLst>
          </p:cNvPr>
          <p:cNvSpPr>
            <a:spLocks xmlns:a="http://schemas.openxmlformats.org/drawingml/2006/main" noGrp="1"/>
          </p:cNvSpPr>
          <p:nvPr/>
        </p:nvSpPr>
        <p:spPr>
          <a:xfrm xmlns:a="http://schemas.openxmlformats.org/drawingml/2006/main">
            <a:off x="1168400" y="7670800"/>
            <a:ext cx="139192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4F4E9"/>
                </a:solidFill>
                <a:latin typeface="Liberation Sans"/>
                <a:ea typeface="Liberation Sans"/>
                <a:cs typeface="Liberation Sans"/>
              </a:defRPr>
            </a:defPPr>
          </a:lstStyle>
          <a:p xmlns:a="http://schemas.openxmlformats.org/drawingml/2006/main">
            <a:pPr>
              <a:lnSpc>
                <a:spcPct val="108000"/>
              </a:lnSpc>
              <a:buNone/>
              <a:defRPr sz="1800" b="1">
                <a:solidFill>
                  <a:srgbClr val="F4F4E9"/>
                </a:solidFill>
                <a:latin typeface="Liberation Sans"/>
                <a:ea typeface="Liberation Sans"/>
                <a:cs typeface="Liberation Sans"/>
              </a:defRPr>
            </a:pPr>
            <a:r>
              <a:rPr sz="1800" b="1">
                <a:solidFill>
                  <a:srgbClr val="F4F4E9"/>
                </a:solidFill>
                <a:latin typeface="Liberation Sans"/>
                <a:ea typeface="Liberation Sans"/>
                <a:cs typeface="Liberation Sans"/>
              </a:rPr>
              <a:t>Segmento può supportare il percorso: la conformità dipende anche da dati, processi e requisiti applicabili.</a:t>
            </a:r>
          </a:p>
        </p:txBody>
      </p:sp>
    </p:spTree>
    <p:extLst>
      <p:ext uri="{BB962C8B-B14F-4D97-AF65-F5344CB8AC3E}">
        <p14:creationId xmlns:p14="http://schemas.microsoft.com/office/powerpoint/2010/main" val="1008541558"/>
      </p:ext>
    </p:extLst>
  </p:cSld>
</p:sld>
</file>

<file path=ppt/slides/slide8.xml><?xml version="1.0" encoding="utf-8"?>
<p:sld xmlns:p="http://schemas.openxmlformats.org/presentationml/2006/main">
  <p:cSld>
    <p:bg>
      <p:bgPr>
        <a:solidFill xmlns:a="http://schemas.openxmlformats.org/drawingml/2006/main">
          <a:srgbClr val="F0F1E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1BECC9F-7786-49FA-848D-34ACE6AB95D4}"/>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FB641105-9721-4016-A804-7CDF05AC0706}"/>
              </a:ext>
            </a:extLst>
          </p:cNvPr>
          <p:cNvPicPr>
            <a:picLocks xmlns:a="http://schemas.openxmlformats.org/drawingml/2006/main" noChangeAspect="1"/>
          </p:cNvPicPr>
          <p:nvPr/>
        </p:nvPicPr>
        <p:blipFill>
          <a:blip xmlns:r="http://schemas.openxmlformats.org/officeDocument/2006/relationships" xmlns:a="http://schemas.openxmlformats.org/drawingml/2006/main" r:embed="R2276c851727f4899"/>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5CCA4E3-E26C-4125-9ECB-62B969444F76}"/>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0E1D2A4C-92B2-4CB9-814C-DF0D974BD56F}"/>
              </a:ext>
            </a:extLst>
          </p:cNvPr>
          <p:cNvPicPr>
            <a:picLocks xmlns:a="http://schemas.openxmlformats.org/drawingml/2006/main" noChangeAspect="1"/>
          </p:cNvPicPr>
          <p:nvPr/>
        </p:nvPicPr>
        <p:blipFill>
          <a:blip xmlns:r="http://schemas.openxmlformats.org/officeDocument/2006/relationships" xmlns:a="http://schemas.openxmlformats.org/drawingml/2006/main" r:embed="Rebcbb38eb54e41e2"/>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DECARBONIZZAZIONE · METODO">
            <a:extLst xmlns:a="http://schemas.openxmlformats.org/drawingml/2006/main">
              <a:ext uri="{FF2B5EF4-FFF2-40B4-BE49-F238E27FC236}">
                <a16:creationId xmlns:a16="http://schemas.microsoft.com/office/drawing/2014/main" id="{2A1D9C73-830E-4629-A99B-14DC22CE7075}"/>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DECARBONIZZAZIONE · METODO</a:t>
            </a:r>
          </a:p>
        </p:txBody>
      </p:sp>
      <p:sp>
        <p:nvSpPr>
          <p:cNvPr id="6" name="Impronta della batteria&#10;e impatto della macchina">
            <a:extLst xmlns:a="http://schemas.openxmlformats.org/drawingml/2006/main">
              <a:ext uri="{FF2B5EF4-FFF2-40B4-BE49-F238E27FC236}">
                <a16:creationId xmlns:a16="http://schemas.microsoft.com/office/drawing/2014/main" id="{9428F02A-9CC5-48B0-9C88-EF40333111BC}"/>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02B28"/>
                </a:solidFill>
                <a:latin typeface="Liberation Sans"/>
                <a:ea typeface="Liberation Sans"/>
                <a:cs typeface="Liberation Sans"/>
              </a:defRPr>
            </a:defPPr>
          </a:lstStyle>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Impronta della batteria</a:t>
            </a:r>
          </a:p>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e impatto della macchina</a:t>
            </a:r>
          </a:p>
        </p:txBody>
      </p:sp>
      <p:sp>
        <p:nvSpPr>
          <p:cNvPr id="7" name="Due valutazioni distinte, ciascuna con perimetro, fo">
            <a:extLst xmlns:a="http://schemas.openxmlformats.org/drawingml/2006/main">
              <a:ext uri="{FF2B5EF4-FFF2-40B4-BE49-F238E27FC236}">
                <a16:creationId xmlns:a16="http://schemas.microsoft.com/office/drawing/2014/main" id="{151BAB18-B756-4621-81F0-BEA944376595}"/>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4F6C62"/>
                </a:solidFill>
                <a:latin typeface="Liberation Sans"/>
                <a:ea typeface="Liberation Sans"/>
                <a:cs typeface="Liberation Sans"/>
              </a:defRPr>
            </a:defPPr>
          </a:lstStyle>
          <a:p xmlns:a="http://schemas.openxmlformats.org/drawingml/2006/main">
            <a:pPr>
              <a:lnSpc>
                <a:spcPct val="108000"/>
              </a:lnSpc>
              <a:buNone/>
              <a:defRPr sz="2200" b="0">
                <a:solidFill>
                  <a:srgbClr val="4F6C62"/>
                </a:solidFill>
                <a:latin typeface="Liberation Sans"/>
                <a:ea typeface="Liberation Sans"/>
                <a:cs typeface="Liberation Sans"/>
              </a:defRPr>
            </a:pPr>
            <a:r>
              <a:rPr sz="2200" b="0">
                <a:solidFill>
                  <a:srgbClr val="4F6C62"/>
                </a:solidFill>
                <a:latin typeface="Liberation Sans"/>
                <a:ea typeface="Liberation Sans"/>
                <a:cs typeface="Liberation Sans"/>
              </a:rPr>
              <a:t>Due valutazioni distinte, ciascuna con perimetro, fonti e metodo documentati.</a:t>
            </a:r>
          </a:p>
        </p:txBody>
      </p:sp>
      <p:sp>
        <p:nvSpPr>
          <p:cNvPr id="8" name="">
            <a:extLst xmlns:a="http://schemas.openxmlformats.org/drawingml/2006/main">
              <a:ext uri="{FF2B5EF4-FFF2-40B4-BE49-F238E27FC236}">
                <a16:creationId xmlns:a16="http://schemas.microsoft.com/office/drawing/2014/main" id="{6079C195-BB3F-421A-8B21-E4B2C2A7A64B}"/>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9" name="Riferimenti: GHG Protocol Product Standard e guida s">
            <a:extLst xmlns:a="http://schemas.openxmlformats.org/drawingml/2006/main">
              <a:ext uri="{FF2B5EF4-FFF2-40B4-BE49-F238E27FC236}">
                <a16:creationId xmlns:a16="http://schemas.microsoft.com/office/drawing/2014/main" id="{16895180-39DF-4644-B26D-7F2EA2C07506}"/>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F6C62"/>
                </a:solidFill>
                <a:latin typeface="Liberation Sans"/>
                <a:ea typeface="Liberation Sans"/>
                <a:cs typeface="Liberation Sans"/>
              </a:defRPr>
            </a:defPPr>
          </a:lstStyle>
          <a:p xmlns:a="http://schemas.openxmlformats.org/drawingml/2006/main">
            <a:pPr>
              <a:lnSpc>
                <a:spcPct val="108000"/>
              </a:lnSpc>
              <a:buNone/>
              <a:defRPr sz="1200" b="0">
                <a:solidFill>
                  <a:srgbClr val="4F6C62"/>
                </a:solidFill>
                <a:latin typeface="Liberation Sans"/>
                <a:ea typeface="Liberation Sans"/>
                <a:cs typeface="Liberation Sans"/>
              </a:defRPr>
            </a:pPr>
            <a:r>
              <a:rPr sz="1200" b="0">
                <a:solidFill>
                  <a:srgbClr val="4F6C62"/>
                </a:solidFill>
                <a:latin typeface="Liberation Sans"/>
                <a:ea typeface="Liberation Sans"/>
                <a:cs typeface="Liberation Sans"/>
              </a:rPr>
              <a:t>Riferimenti: GHG Protocol Product Standard e guida sulle emissioni evitate. Fonti nelle note.</a:t>
            </a:r>
          </a:p>
        </p:txBody>
      </p:sp>
      <p:sp>
        <p:nvSpPr>
          <p:cNvPr id="10" name="08 / 13">
            <a:extLst xmlns:a="http://schemas.openxmlformats.org/drawingml/2006/main">
              <a:ext uri="{FF2B5EF4-FFF2-40B4-BE49-F238E27FC236}">
                <a16:creationId xmlns:a16="http://schemas.microsoft.com/office/drawing/2014/main" id="{C552C135-98FC-492C-8597-E714700AA4D2}"/>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08 / 13</a:t>
            </a:r>
          </a:p>
        </p:txBody>
      </p:sp>
      <p:sp>
        <p:nvSpPr>
          <p:cNvPr id="11" name="">
            <a:extLst xmlns:a="http://schemas.openxmlformats.org/drawingml/2006/main">
              <a:ext uri="{FF2B5EF4-FFF2-40B4-BE49-F238E27FC236}">
                <a16:creationId xmlns:a16="http://schemas.microsoft.com/office/drawing/2014/main" id="{37938CE6-9AF9-4F65-AB2E-7FD0626E7A02}"/>
              </a:ext>
            </a:extLst>
          </p:cNvPr>
          <p:cNvSpPr>
            <a:spLocks xmlns:a="http://schemas.openxmlformats.org/drawingml/2006/main" noGrp="1"/>
          </p:cNvSpPr>
          <p:nvPr/>
        </p:nvSpPr>
        <p:spPr>
          <a:xfrm xmlns:a="http://schemas.openxmlformats.org/drawingml/2006/main">
            <a:off x="914400" y="4432300"/>
            <a:ext cx="609600" cy="0"/>
          </a:xfrm>
          <a:prstGeom xmlns:a="http://schemas.openxmlformats.org/drawingml/2006/main" prst="line">
            <a:avLst/>
          </a:prstGeom>
          <a:noFill xmlns:a="http://schemas.openxmlformats.org/drawingml/2006/main"/>
          <a:ln xmlns:a="http://schemas.openxmlformats.org/drawingml/2006/main" w="50800">
            <a:solidFill>
              <a:srgbClr val="285B40"/>
            </a:solidFill>
            <a:prstDash val="solid"/>
          </a:ln>
        </p:spPr>
      </p:sp>
      <p:sp>
        <p:nvSpPr>
          <p:cNvPr id="12" name="">
            <a:extLst xmlns:a="http://schemas.openxmlformats.org/drawingml/2006/main">
              <a:ext uri="{FF2B5EF4-FFF2-40B4-BE49-F238E27FC236}">
                <a16:creationId xmlns:a16="http://schemas.microsoft.com/office/drawing/2014/main" id="{9345FA70-2CF7-4677-B20D-722ABA669955}"/>
              </a:ext>
            </a:extLst>
          </p:cNvPr>
          <p:cNvSpPr>
            <a:spLocks xmlns:a="http://schemas.openxmlformats.org/drawingml/2006/main" noGrp="1"/>
          </p:cNvSpPr>
          <p:nvPr/>
        </p:nvSpPr>
        <p:spPr>
          <a:xfrm xmlns:a="http://schemas.openxmlformats.org/drawingml/2006/main">
            <a:off x="8432800" y="4432300"/>
            <a:ext cx="609600" cy="0"/>
          </a:xfrm>
          <a:prstGeom xmlns:a="http://schemas.openxmlformats.org/drawingml/2006/main" prst="line">
            <a:avLst/>
          </a:prstGeom>
          <a:noFill xmlns:a="http://schemas.openxmlformats.org/drawingml/2006/main"/>
          <a:ln xmlns:a="http://schemas.openxmlformats.org/drawingml/2006/main" w="50800">
            <a:solidFill>
              <a:srgbClr val="285B40"/>
            </a:solidFill>
            <a:prstDash val="solid"/>
          </a:ln>
        </p:spPr>
      </p:sp>
      <p:sp>
        <p:nvSpPr>
          <p:cNvPr id="13" name="Impronta della batteria">
            <a:extLst xmlns:a="http://schemas.openxmlformats.org/drawingml/2006/main">
              <a:ext uri="{FF2B5EF4-FFF2-40B4-BE49-F238E27FC236}">
                <a16:creationId xmlns:a16="http://schemas.microsoft.com/office/drawing/2014/main" id="{D80A107F-955C-44A1-864C-BEF1860FAB51}"/>
              </a:ext>
            </a:extLst>
          </p:cNvPr>
          <p:cNvSpPr>
            <a:spLocks xmlns:a="http://schemas.openxmlformats.org/drawingml/2006/main" noGrp="1"/>
          </p:cNvSpPr>
          <p:nvPr/>
        </p:nvSpPr>
        <p:spPr>
          <a:xfrm xmlns:a="http://schemas.openxmlformats.org/drawingml/2006/main">
            <a:off x="914400" y="4800600"/>
            <a:ext cx="673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02B28"/>
                </a:solidFill>
                <a:latin typeface="Liberation Sans"/>
                <a:ea typeface="Liberation Sans"/>
                <a:cs typeface="Liberation Sans"/>
              </a:defRPr>
            </a:defPPr>
          </a:lstStyle>
          <a:p xmlns:a="http://schemas.openxmlformats.org/drawingml/2006/main">
            <a:pPr>
              <a:lnSpc>
                <a:spcPct val="108000"/>
              </a:lnSpc>
              <a:buNone/>
              <a:defRPr sz="3000" b="1">
                <a:solidFill>
                  <a:srgbClr val="102B28"/>
                </a:solidFill>
                <a:latin typeface="Liberation Sans"/>
                <a:ea typeface="Liberation Sans"/>
                <a:cs typeface="Liberation Sans"/>
              </a:defRPr>
            </a:pPr>
            <a:r>
              <a:rPr sz="3000" b="1">
                <a:solidFill>
                  <a:srgbClr val="102B28"/>
                </a:solidFill>
                <a:latin typeface="Liberation Sans"/>
                <a:ea typeface="Liberation Sans"/>
                <a:cs typeface="Liberation Sans"/>
              </a:rPr>
              <a:t>Impronta della batteria</a:t>
            </a:r>
          </a:p>
        </p:txBody>
      </p:sp>
      <p:sp>
        <p:nvSpPr>
          <p:cNvPr id="14" name="Materiali, celle, produzione, trasporto, uso&#10;e fine ">
            <a:extLst xmlns:a="http://schemas.openxmlformats.org/drawingml/2006/main">
              <a:ext uri="{FF2B5EF4-FFF2-40B4-BE49-F238E27FC236}">
                <a16:creationId xmlns:a16="http://schemas.microsoft.com/office/drawing/2014/main" id="{AB015E46-3285-405E-9346-7A998FAFEAB8}"/>
              </a:ext>
            </a:extLst>
          </p:cNvPr>
          <p:cNvSpPr>
            <a:spLocks xmlns:a="http://schemas.openxmlformats.org/drawingml/2006/main" noGrp="1"/>
          </p:cNvSpPr>
          <p:nvPr/>
        </p:nvSpPr>
        <p:spPr>
          <a:xfrm xmlns:a="http://schemas.openxmlformats.org/drawingml/2006/main">
            <a:off x="914400" y="5461000"/>
            <a:ext cx="67310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Materiali, celle, produzione, trasporto, uso</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e fine vita. I dati dei fornitori alimentano</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la valutazione del ciclo di vita.</a:t>
            </a:r>
          </a:p>
        </p:txBody>
      </p:sp>
      <p:sp>
        <p:nvSpPr>
          <p:cNvPr id="15" name="Emissioni evitate stimate">
            <a:extLst xmlns:a="http://schemas.openxmlformats.org/drawingml/2006/main">
              <a:ext uri="{FF2B5EF4-FFF2-40B4-BE49-F238E27FC236}">
                <a16:creationId xmlns:a16="http://schemas.microsoft.com/office/drawing/2014/main" id="{D2CACE90-1475-4C28-AFD5-E25BF344749A}"/>
              </a:ext>
            </a:extLst>
          </p:cNvPr>
          <p:cNvSpPr>
            <a:spLocks xmlns:a="http://schemas.openxmlformats.org/drawingml/2006/main" noGrp="1"/>
          </p:cNvSpPr>
          <p:nvPr/>
        </p:nvSpPr>
        <p:spPr>
          <a:xfrm xmlns:a="http://schemas.openxmlformats.org/drawingml/2006/main">
            <a:off x="8432800" y="4800600"/>
            <a:ext cx="6908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02B28"/>
                </a:solidFill>
                <a:latin typeface="Liberation Sans"/>
                <a:ea typeface="Liberation Sans"/>
                <a:cs typeface="Liberation Sans"/>
              </a:defRPr>
            </a:defPPr>
          </a:lstStyle>
          <a:p xmlns:a="http://schemas.openxmlformats.org/drawingml/2006/main">
            <a:pPr>
              <a:lnSpc>
                <a:spcPct val="108000"/>
              </a:lnSpc>
              <a:buNone/>
              <a:defRPr sz="3000" b="1">
                <a:solidFill>
                  <a:srgbClr val="102B28"/>
                </a:solidFill>
                <a:latin typeface="Liberation Sans"/>
                <a:ea typeface="Liberation Sans"/>
                <a:cs typeface="Liberation Sans"/>
              </a:defRPr>
            </a:pPr>
            <a:r>
              <a:rPr sz="3000" b="1">
                <a:solidFill>
                  <a:srgbClr val="102B28"/>
                </a:solidFill>
                <a:latin typeface="Liberation Sans"/>
                <a:ea typeface="Liberation Sans"/>
                <a:cs typeface="Liberation Sans"/>
              </a:rPr>
              <a:t>Emissioni evitate stimate</a:t>
            </a:r>
          </a:p>
        </p:txBody>
      </p:sp>
      <p:sp>
        <p:nvSpPr>
          <p:cNvPr id="16" name="Confronto tra macchina elettrificata e&#10;scenario di r">
            <a:extLst xmlns:a="http://schemas.openxmlformats.org/drawingml/2006/main">
              <a:ext uri="{FF2B5EF4-FFF2-40B4-BE49-F238E27FC236}">
                <a16:creationId xmlns:a16="http://schemas.microsoft.com/office/drawing/2014/main" id="{AA63AE3D-9E68-40BE-84BE-EEFFC1AB0254}"/>
              </a:ext>
            </a:extLst>
          </p:cNvPr>
          <p:cNvSpPr>
            <a:spLocks xmlns:a="http://schemas.openxmlformats.org/drawingml/2006/main" noGrp="1"/>
          </p:cNvSpPr>
          <p:nvPr/>
        </p:nvSpPr>
        <p:spPr>
          <a:xfrm xmlns:a="http://schemas.openxmlformats.org/drawingml/2006/main">
            <a:off x="8432800" y="5461000"/>
            <a:ext cx="69088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Confronto tra macchina elettrificata e</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scenario di riferimento, a parità di lavoro</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svolto e con ipotesi esplicite.</a:t>
            </a:r>
          </a:p>
        </p:txBody>
      </p:sp>
      <p:sp>
        <p:nvSpPr>
          <p:cNvPr id="17" name="">
            <a:extLst xmlns:a="http://schemas.openxmlformats.org/drawingml/2006/main">
              <a:ext uri="{FF2B5EF4-FFF2-40B4-BE49-F238E27FC236}">
                <a16:creationId xmlns:a16="http://schemas.microsoft.com/office/drawing/2014/main" id="{4646EA43-B9CC-43C6-8D44-AC34A924CD1D}"/>
              </a:ext>
            </a:extLst>
          </p:cNvPr>
          <p:cNvSpPr>
            <a:spLocks xmlns:a="http://schemas.openxmlformats.org/drawingml/2006/main" noGrp="1"/>
          </p:cNvSpPr>
          <p:nvPr/>
        </p:nvSpPr>
        <p:spPr>
          <a:xfrm xmlns:a="http://schemas.openxmlformats.org/drawingml/2006/main">
            <a:off x="914400" y="7581900"/>
            <a:ext cx="14427200" cy="647700"/>
          </a:xfrm>
          <a:prstGeom xmlns:a="http://schemas.openxmlformats.org/drawingml/2006/main" prst="roundRect">
            <a:avLst>
              <a:gd name="adj" fmla="val 15686"/>
            </a:avLst>
          </a:prstGeom>
          <a:solidFill xmlns:a="http://schemas.openxmlformats.org/drawingml/2006/main">
            <a:srgbClr val="102B28"/>
          </a:solidFill>
          <a:ln xmlns:a="http://schemas.openxmlformats.org/drawingml/2006/main" w="0">
            <a:noFill/>
            <a:prstDash val="solid"/>
          </a:ln>
        </p:spPr>
      </p:sp>
      <p:sp>
        <p:nvSpPr>
          <p:cNvPr id="18" name="Segmento collega dati, fattori di emissione e versio">
            <a:extLst xmlns:a="http://schemas.openxmlformats.org/drawingml/2006/main">
              <a:ext uri="{FF2B5EF4-FFF2-40B4-BE49-F238E27FC236}">
                <a16:creationId xmlns:a16="http://schemas.microsoft.com/office/drawing/2014/main" id="{576D2AA0-8ED0-4A83-ADB0-221415285B99}"/>
              </a:ext>
            </a:extLst>
          </p:cNvPr>
          <p:cNvSpPr>
            <a:spLocks xmlns:a="http://schemas.openxmlformats.org/drawingml/2006/main" noGrp="1"/>
          </p:cNvSpPr>
          <p:nvPr/>
        </p:nvSpPr>
        <p:spPr>
          <a:xfrm xmlns:a="http://schemas.openxmlformats.org/drawingml/2006/main">
            <a:off x="1168400" y="7747000"/>
            <a:ext cx="139192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1">
                <a:solidFill>
                  <a:srgbClr val="F4F4E9"/>
                </a:solidFill>
                <a:latin typeface="Liberation Sans"/>
                <a:ea typeface="Liberation Sans"/>
                <a:cs typeface="Liberation Sans"/>
              </a:defRPr>
            </a:defPPr>
          </a:lstStyle>
          <a:p xmlns:a="http://schemas.openxmlformats.org/drawingml/2006/main">
            <a:pPr>
              <a:lnSpc>
                <a:spcPct val="108000"/>
              </a:lnSpc>
              <a:buNone/>
              <a:defRPr sz="1900" b="1">
                <a:solidFill>
                  <a:srgbClr val="F4F4E9"/>
                </a:solidFill>
                <a:latin typeface="Liberation Sans"/>
                <a:ea typeface="Liberation Sans"/>
                <a:cs typeface="Liberation Sans"/>
              </a:defRPr>
            </a:pPr>
            <a:r>
              <a:rPr sz="1900" b="1">
                <a:solidFill>
                  <a:srgbClr val="F4F4E9"/>
                </a:solidFill>
                <a:latin typeface="Liberation Sans"/>
                <a:ea typeface="Liberation Sans"/>
                <a:cs typeface="Liberation Sans"/>
              </a:rPr>
              <a:t>Segmento collega dati, fattori di emissione e versioni dei calcoli alle evidenze che li sostengono.</a:t>
            </a:r>
          </a:p>
        </p:txBody>
      </p:sp>
    </p:spTree>
    <p:extLst>
      <p:ext uri="{BB962C8B-B14F-4D97-AF65-F5344CB8AC3E}">
        <p14:creationId xmlns:p14="http://schemas.microsoft.com/office/powerpoint/2010/main" val="643814851"/>
      </p:ext>
    </p:extLst>
  </p:cSld>
</p:sld>
</file>

<file path=ppt/slides/slide9.xml><?xml version="1.0" encoding="utf-8"?>
<p:sld xmlns:p="http://schemas.openxmlformats.org/presentationml/2006/main">
  <p:cSld>
    <p:bg>
      <p:bgPr>
        <a:solidFill xmlns:a="http://schemas.openxmlformats.org/drawingml/2006/main">
          <a:srgbClr val="183F3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5907373-5A54-497C-9BC5-3EC7F777225A}"/>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0E90B199-7108-43F3-84D2-D0CEE81688C2}"/>
              </a:ext>
            </a:extLst>
          </p:cNvPr>
          <p:cNvPicPr>
            <a:picLocks xmlns:a="http://schemas.openxmlformats.org/drawingml/2006/main" noChangeAspect="1"/>
          </p:cNvPicPr>
          <p:nvPr/>
        </p:nvPicPr>
        <p:blipFill>
          <a:blip xmlns:r="http://schemas.openxmlformats.org/officeDocument/2006/relationships" xmlns:a="http://schemas.openxmlformats.org/drawingml/2006/main" r:embed="R5f64c27c0f754eb5"/>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47C1D97-3AB3-4A51-A700-B52915EF4221}"/>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D62B77F5-BF2B-4A4A-99FC-E0F9F899ED1D}"/>
              </a:ext>
            </a:extLst>
          </p:cNvPr>
          <p:cNvPicPr>
            <a:picLocks xmlns:a="http://schemas.openxmlformats.org/drawingml/2006/main" noChangeAspect="1"/>
          </p:cNvPicPr>
          <p:nvPr/>
        </p:nvPicPr>
        <p:blipFill>
          <a:blip xmlns:r="http://schemas.openxmlformats.org/officeDocument/2006/relationships" xmlns:a="http://schemas.openxmlformats.org/drawingml/2006/main" r:embed="R746c625a1fcb4487"/>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DECARBONIZZAZIONE · ESEMPIO IPOTETICO">
            <a:extLst xmlns:a="http://schemas.openxmlformats.org/drawingml/2006/main">
              <a:ext uri="{FF2B5EF4-FFF2-40B4-BE49-F238E27FC236}">
                <a16:creationId xmlns:a16="http://schemas.microsoft.com/office/drawing/2014/main" id="{E75A9B99-B73A-4C75-BE7A-94EC3A9358F6}"/>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DECARBONIZZAZIONE · ESEMPIO IPOTETICO</a:t>
            </a:r>
          </a:p>
        </p:txBody>
      </p:sp>
      <p:sp>
        <p:nvSpPr>
          <p:cNvPr id="6" name="Un risultato leggibile,&#10;con ipotesi esplicite">
            <a:extLst xmlns:a="http://schemas.openxmlformats.org/drawingml/2006/main">
              <a:ext uri="{FF2B5EF4-FFF2-40B4-BE49-F238E27FC236}">
                <a16:creationId xmlns:a16="http://schemas.microsoft.com/office/drawing/2014/main" id="{8E170073-5C94-4B91-A91D-F4687B4684BE}"/>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4F4E9"/>
                </a:solidFill>
                <a:latin typeface="Liberation Sans"/>
                <a:ea typeface="Liberation Sans"/>
                <a:cs typeface="Liberation Sans"/>
              </a:defRPr>
            </a:defPPr>
          </a:lstStyle>
          <a:p xmlns:a="http://schemas.openxmlformats.org/drawingml/2006/main">
            <a:pPr>
              <a:lnSpc>
                <a:spcPct val="90000"/>
              </a:lnSpc>
              <a:buNone/>
              <a:defRPr sz="4800" b="1">
                <a:solidFill>
                  <a:srgbClr val="F4F4E9"/>
                </a:solidFill>
                <a:latin typeface="Liberation Sans"/>
                <a:ea typeface="Liberation Sans"/>
                <a:cs typeface="Liberation Sans"/>
              </a:defRPr>
            </a:pPr>
            <a:r>
              <a:rPr sz="4800" b="1">
                <a:solidFill>
                  <a:srgbClr val="F4F4E9"/>
                </a:solidFill>
                <a:latin typeface="Liberation Sans"/>
                <a:ea typeface="Liberation Sans"/>
                <a:cs typeface="Liberation Sans"/>
              </a:rPr>
              <a:t>Un risultato leggibile,</a:t>
            </a:r>
          </a:p>
          <a:p xmlns:a="http://schemas.openxmlformats.org/drawingml/2006/main">
            <a:pPr>
              <a:lnSpc>
                <a:spcPct val="90000"/>
              </a:lnSpc>
              <a:buNone/>
              <a:defRPr sz="4800" b="1">
                <a:solidFill>
                  <a:srgbClr val="F4F4E9"/>
                </a:solidFill>
                <a:latin typeface="Liberation Sans"/>
                <a:ea typeface="Liberation Sans"/>
                <a:cs typeface="Liberation Sans"/>
              </a:defRPr>
            </a:pPr>
            <a:r>
              <a:rPr sz="4800" b="1">
                <a:solidFill>
                  <a:srgbClr val="F4F4E9"/>
                </a:solidFill>
                <a:latin typeface="Liberation Sans"/>
                <a:ea typeface="Liberation Sans"/>
                <a:cs typeface="Liberation Sans"/>
              </a:rPr>
              <a:t>con ipotesi esplicite</a:t>
            </a:r>
          </a:p>
        </p:txBody>
      </p:sp>
      <p:sp>
        <p:nvSpPr>
          <p:cNvPr id="7" name="Confronto operativo semplificato per lo stesso lavor">
            <a:extLst xmlns:a="http://schemas.openxmlformats.org/drawingml/2006/main">
              <a:ext uri="{FF2B5EF4-FFF2-40B4-BE49-F238E27FC236}">
                <a16:creationId xmlns:a16="http://schemas.microsoft.com/office/drawing/2014/main" id="{1E70364B-C5D5-4716-BBDD-6504B5838214}"/>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Confronto operativo semplificato per lo stesso lavoro svolto da una macchina, nello stesso periodo.</a:t>
            </a:r>
          </a:p>
        </p:txBody>
      </p:sp>
      <p:sp>
        <p:nvSpPr>
          <p:cNvPr id="8" name="">
            <a:extLst xmlns:a="http://schemas.openxmlformats.org/drawingml/2006/main">
              <a:ext uri="{FF2B5EF4-FFF2-40B4-BE49-F238E27FC236}">
                <a16:creationId xmlns:a16="http://schemas.microsoft.com/office/drawing/2014/main" id="{3B2168AB-D134-41AA-BBD8-ECCE92A054F1}"/>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486B5D"/>
            </a:solidFill>
            <a:prstDash val="solid"/>
          </a:ln>
        </p:spPr>
      </p:sp>
      <p:sp>
        <p:nvSpPr>
          <p:cNvPr id="9" name="Valori interamente ipotetici, non riferiti ad Alps. ">
            <a:extLst xmlns:a="http://schemas.openxmlformats.org/drawingml/2006/main">
              <a:ext uri="{FF2B5EF4-FFF2-40B4-BE49-F238E27FC236}">
                <a16:creationId xmlns:a16="http://schemas.microsoft.com/office/drawing/2014/main" id="{026EA205-5D0D-43E3-8E9E-9F160E8D9B4A}"/>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0C4BC"/>
                </a:solidFill>
                <a:latin typeface="Liberation Sans"/>
                <a:ea typeface="Liberation Sans"/>
                <a:cs typeface="Liberation Sans"/>
              </a:defRPr>
            </a:defPPr>
          </a:lstStyle>
          <a:p xmlns:a="http://schemas.openxmlformats.org/drawingml/2006/main">
            <a:pPr>
              <a:lnSpc>
                <a:spcPct val="108000"/>
              </a:lnSpc>
              <a:buNone/>
              <a:defRPr sz="1200" b="0">
                <a:solidFill>
                  <a:srgbClr val="B0C4BC"/>
                </a:solidFill>
                <a:latin typeface="Liberation Sans"/>
                <a:ea typeface="Liberation Sans"/>
                <a:cs typeface="Liberation Sans"/>
              </a:defRPr>
            </a:pPr>
            <a:r>
              <a:rPr sz="1200" b="0">
                <a:solidFill>
                  <a:srgbClr val="B0C4BC"/>
                </a:solidFill>
                <a:latin typeface="Liberation Sans"/>
                <a:ea typeface="Liberation Sans"/>
                <a:cs typeface="Liberation Sans"/>
              </a:rPr>
              <a:t>Valori interamente ipotetici, non riferiti ad Alps. Escluse produzione e fine vita: non è un confronto di ciclo di vita.</a:t>
            </a:r>
          </a:p>
        </p:txBody>
      </p:sp>
      <p:sp>
        <p:nvSpPr>
          <p:cNvPr id="10" name="09 / 13">
            <a:extLst xmlns:a="http://schemas.openxmlformats.org/drawingml/2006/main">
              <a:ext uri="{FF2B5EF4-FFF2-40B4-BE49-F238E27FC236}">
                <a16:creationId xmlns:a16="http://schemas.microsoft.com/office/drawing/2014/main" id="{7BAC7CE3-C0D0-4885-A912-F323950C0998}"/>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09 / 13</a:t>
            </a:r>
          </a:p>
        </p:txBody>
      </p:sp>
      <p:sp>
        <p:nvSpPr>
          <p:cNvPr id="11" name="40.000">
            <a:extLst xmlns:a="http://schemas.openxmlformats.org/drawingml/2006/main">
              <a:ext uri="{FF2B5EF4-FFF2-40B4-BE49-F238E27FC236}">
                <a16:creationId xmlns:a16="http://schemas.microsoft.com/office/drawing/2014/main" id="{50D0CF78-1BE1-4A00-88D3-D73D61271CDE}"/>
              </a:ext>
            </a:extLst>
          </p:cNvPr>
          <p:cNvSpPr>
            <a:spLocks xmlns:a="http://schemas.openxmlformats.org/drawingml/2006/main" noGrp="1"/>
          </p:cNvSpPr>
          <p:nvPr/>
        </p:nvSpPr>
        <p:spPr>
          <a:xfrm xmlns:a="http://schemas.openxmlformats.org/drawingml/2006/main">
            <a:off x="914400" y="4241800"/>
            <a:ext cx="4495800" cy="123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400" b="1">
                <a:solidFill>
                  <a:srgbClr val="F4F4E9"/>
                </a:solidFill>
                <a:latin typeface="Liberation Sans"/>
                <a:ea typeface="Liberation Sans"/>
                <a:cs typeface="Liberation Sans"/>
              </a:defRPr>
            </a:defPPr>
          </a:lstStyle>
          <a:p xmlns:a="http://schemas.openxmlformats.org/drawingml/2006/main">
            <a:pPr>
              <a:lnSpc>
                <a:spcPct val="90000"/>
              </a:lnSpc>
              <a:buNone/>
              <a:defRPr sz="6400" b="1">
                <a:solidFill>
                  <a:srgbClr val="F4F4E9"/>
                </a:solidFill>
                <a:latin typeface="Liberation Sans"/>
                <a:ea typeface="Liberation Sans"/>
                <a:cs typeface="Liberation Sans"/>
              </a:defRPr>
            </a:pPr>
            <a:r>
              <a:rPr sz="6400" b="1">
                <a:solidFill>
                  <a:srgbClr val="F4F4E9"/>
                </a:solidFill>
                <a:latin typeface="Liberation Sans"/>
                <a:ea typeface="Liberation Sans"/>
                <a:cs typeface="Liberation Sans"/>
              </a:rPr>
              <a:t>40.000</a:t>
            </a:r>
          </a:p>
        </p:txBody>
      </p:sp>
      <p:sp>
        <p:nvSpPr>
          <p:cNvPr id="12" name="kWh di elettricità ipotizzati">
            <a:extLst xmlns:a="http://schemas.openxmlformats.org/drawingml/2006/main">
              <a:ext uri="{FF2B5EF4-FFF2-40B4-BE49-F238E27FC236}">
                <a16:creationId xmlns:a16="http://schemas.microsoft.com/office/drawing/2014/main" id="{ED700B3E-ACBA-4C88-A7BB-8F13D142BAEF}"/>
              </a:ext>
            </a:extLst>
          </p:cNvPr>
          <p:cNvSpPr>
            <a:spLocks xmlns:a="http://schemas.openxmlformats.org/drawingml/2006/main" noGrp="1"/>
          </p:cNvSpPr>
          <p:nvPr/>
        </p:nvSpPr>
        <p:spPr>
          <a:xfrm xmlns:a="http://schemas.openxmlformats.org/drawingml/2006/main">
            <a:off x="914400" y="5562600"/>
            <a:ext cx="4610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F4F4E9"/>
                </a:solidFill>
                <a:latin typeface="Liberation Sans"/>
                <a:ea typeface="Liberation Sans"/>
                <a:cs typeface="Liberation Sans"/>
              </a:defRPr>
            </a:defPPr>
          </a:lstStyle>
          <a:p xmlns:a="http://schemas.openxmlformats.org/drawingml/2006/main">
            <a:pPr>
              <a:lnSpc>
                <a:spcPct val="108000"/>
              </a:lnSpc>
              <a:buNone/>
              <a:defRPr sz="2200" b="0">
                <a:solidFill>
                  <a:srgbClr val="F4F4E9"/>
                </a:solidFill>
                <a:latin typeface="Liberation Sans"/>
                <a:ea typeface="Liberation Sans"/>
                <a:cs typeface="Liberation Sans"/>
              </a:defRPr>
            </a:pPr>
            <a:r>
              <a:rPr sz="2200" b="0">
                <a:solidFill>
                  <a:srgbClr val="F4F4E9"/>
                </a:solidFill>
                <a:latin typeface="Liberation Sans"/>
                <a:ea typeface="Liberation Sans"/>
                <a:cs typeface="Liberation Sans"/>
              </a:rPr>
              <a:t>kWh di elettricità ipotizzati</a:t>
            </a:r>
          </a:p>
        </p:txBody>
      </p:sp>
      <p:sp>
        <p:nvSpPr>
          <p:cNvPr id="13" name="12">
            <a:extLst xmlns:a="http://schemas.openxmlformats.org/drawingml/2006/main">
              <a:ext uri="{FF2B5EF4-FFF2-40B4-BE49-F238E27FC236}">
                <a16:creationId xmlns:a16="http://schemas.microsoft.com/office/drawing/2014/main" id="{5D2F1772-A11F-4BE3-A3DD-E84ED1047961}"/>
              </a:ext>
            </a:extLst>
          </p:cNvPr>
          <p:cNvSpPr>
            <a:spLocks xmlns:a="http://schemas.openxmlformats.org/drawingml/2006/main" noGrp="1"/>
          </p:cNvSpPr>
          <p:nvPr/>
        </p:nvSpPr>
        <p:spPr>
          <a:xfrm xmlns:a="http://schemas.openxmlformats.org/drawingml/2006/main">
            <a:off x="5867400" y="4241800"/>
            <a:ext cx="4495800" cy="123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000" b="1">
                <a:solidFill>
                  <a:srgbClr val="F4F4E9"/>
                </a:solidFill>
                <a:latin typeface="Liberation Sans"/>
                <a:ea typeface="Liberation Sans"/>
                <a:cs typeface="Liberation Sans"/>
              </a:defRPr>
            </a:defPPr>
          </a:lstStyle>
          <a:p xmlns:a="http://schemas.openxmlformats.org/drawingml/2006/main">
            <a:pPr>
              <a:lnSpc>
                <a:spcPct val="90000"/>
              </a:lnSpc>
              <a:buNone/>
              <a:defRPr sz="8000" b="1">
                <a:solidFill>
                  <a:srgbClr val="F4F4E9"/>
                </a:solidFill>
                <a:latin typeface="Liberation Sans"/>
                <a:ea typeface="Liberation Sans"/>
                <a:cs typeface="Liberation Sans"/>
              </a:defRPr>
            </a:pPr>
            <a:r>
              <a:rPr sz="8000" b="1">
                <a:solidFill>
                  <a:srgbClr val="F4F4E9"/>
                </a:solidFill>
                <a:latin typeface="Liberation Sans"/>
                <a:ea typeface="Liberation Sans"/>
                <a:cs typeface="Liberation Sans"/>
              </a:rPr>
              <a:t>12</a:t>
            </a:r>
          </a:p>
        </p:txBody>
      </p:sp>
      <p:sp>
        <p:nvSpPr>
          <p:cNvPr id="14" name="t CO2e associate all’elettricità">
            <a:extLst xmlns:a="http://schemas.openxmlformats.org/drawingml/2006/main">
              <a:ext uri="{FF2B5EF4-FFF2-40B4-BE49-F238E27FC236}">
                <a16:creationId xmlns:a16="http://schemas.microsoft.com/office/drawing/2014/main" id="{22D3526E-2C6A-471B-8513-08C38001ED05}"/>
              </a:ext>
            </a:extLst>
          </p:cNvPr>
          <p:cNvSpPr>
            <a:spLocks xmlns:a="http://schemas.openxmlformats.org/drawingml/2006/main" noGrp="1"/>
          </p:cNvSpPr>
          <p:nvPr/>
        </p:nvSpPr>
        <p:spPr>
          <a:xfrm xmlns:a="http://schemas.openxmlformats.org/drawingml/2006/main">
            <a:off x="5867400" y="5562600"/>
            <a:ext cx="4610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F4F4E9"/>
                </a:solidFill>
                <a:latin typeface="Liberation Sans"/>
                <a:ea typeface="Liberation Sans"/>
                <a:cs typeface="Liberation Sans"/>
              </a:defRPr>
            </a:defPPr>
          </a:lstStyle>
          <a:p xmlns:a="http://schemas.openxmlformats.org/drawingml/2006/main">
            <a:pPr>
              <a:lnSpc>
                <a:spcPct val="108000"/>
              </a:lnSpc>
              <a:buNone/>
              <a:defRPr sz="2200" b="0">
                <a:solidFill>
                  <a:srgbClr val="F4F4E9"/>
                </a:solidFill>
                <a:latin typeface="Liberation Sans"/>
                <a:ea typeface="Liberation Sans"/>
                <a:cs typeface="Liberation Sans"/>
              </a:defRPr>
            </a:pPr>
            <a:r>
              <a:rPr sz="2200" b="0">
                <a:solidFill>
                  <a:srgbClr val="F4F4E9"/>
                </a:solidFill>
                <a:latin typeface="Liberation Sans"/>
                <a:ea typeface="Liberation Sans"/>
                <a:cs typeface="Liberation Sans"/>
              </a:rPr>
              <a:t>t CO2e associate all’elettricità</a:t>
            </a:r>
          </a:p>
        </p:txBody>
      </p:sp>
      <p:sp>
        <p:nvSpPr>
          <p:cNvPr id="15" name="8">
            <a:extLst xmlns:a="http://schemas.openxmlformats.org/drawingml/2006/main">
              <a:ext uri="{FF2B5EF4-FFF2-40B4-BE49-F238E27FC236}">
                <a16:creationId xmlns:a16="http://schemas.microsoft.com/office/drawing/2014/main" id="{9ED6F9F1-A46E-441E-998E-09D64FCF0917}"/>
              </a:ext>
            </a:extLst>
          </p:cNvPr>
          <p:cNvSpPr>
            <a:spLocks xmlns:a="http://schemas.openxmlformats.org/drawingml/2006/main" noGrp="1"/>
          </p:cNvSpPr>
          <p:nvPr/>
        </p:nvSpPr>
        <p:spPr>
          <a:xfrm xmlns:a="http://schemas.openxmlformats.org/drawingml/2006/main">
            <a:off x="10820400" y="4241800"/>
            <a:ext cx="4495800" cy="123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000" b="1">
                <a:solidFill>
                  <a:srgbClr val="C8F67C"/>
                </a:solidFill>
                <a:latin typeface="Liberation Sans"/>
                <a:ea typeface="Liberation Sans"/>
                <a:cs typeface="Liberation Sans"/>
              </a:defRPr>
            </a:defPPr>
          </a:lstStyle>
          <a:p xmlns:a="http://schemas.openxmlformats.org/drawingml/2006/main">
            <a:pPr>
              <a:lnSpc>
                <a:spcPct val="90000"/>
              </a:lnSpc>
              <a:buNone/>
              <a:defRPr sz="8000" b="1">
                <a:solidFill>
                  <a:srgbClr val="C8F67C"/>
                </a:solidFill>
                <a:latin typeface="Liberation Sans"/>
                <a:ea typeface="Liberation Sans"/>
                <a:cs typeface="Liberation Sans"/>
              </a:defRPr>
            </a:pPr>
            <a:r>
              <a:rPr sz="8000" b="1">
                <a:solidFill>
                  <a:srgbClr val="C8F67C"/>
                </a:solidFill>
                <a:latin typeface="Liberation Sans"/>
                <a:ea typeface="Liberation Sans"/>
                <a:cs typeface="Liberation Sans"/>
              </a:rPr>
              <a:t>8</a:t>
            </a:r>
          </a:p>
        </p:txBody>
      </p:sp>
      <p:sp>
        <p:nvSpPr>
          <p:cNvPr id="16" name="t CO2e evitate stimate">
            <a:extLst xmlns:a="http://schemas.openxmlformats.org/drawingml/2006/main">
              <a:ext uri="{FF2B5EF4-FFF2-40B4-BE49-F238E27FC236}">
                <a16:creationId xmlns:a16="http://schemas.microsoft.com/office/drawing/2014/main" id="{E249D897-538E-4F4C-9461-F0C6A8C3012E}"/>
              </a:ext>
            </a:extLst>
          </p:cNvPr>
          <p:cNvSpPr>
            <a:spLocks xmlns:a="http://schemas.openxmlformats.org/drawingml/2006/main" noGrp="1"/>
          </p:cNvSpPr>
          <p:nvPr/>
        </p:nvSpPr>
        <p:spPr>
          <a:xfrm xmlns:a="http://schemas.openxmlformats.org/drawingml/2006/main">
            <a:off x="10820400" y="5562600"/>
            <a:ext cx="4610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F4F4E9"/>
                </a:solidFill>
                <a:latin typeface="Liberation Sans"/>
                <a:ea typeface="Liberation Sans"/>
                <a:cs typeface="Liberation Sans"/>
              </a:defRPr>
            </a:defPPr>
          </a:lstStyle>
          <a:p xmlns:a="http://schemas.openxmlformats.org/drawingml/2006/main">
            <a:pPr>
              <a:lnSpc>
                <a:spcPct val="108000"/>
              </a:lnSpc>
              <a:buNone/>
              <a:defRPr sz="2200" b="0">
                <a:solidFill>
                  <a:srgbClr val="F4F4E9"/>
                </a:solidFill>
                <a:latin typeface="Liberation Sans"/>
                <a:ea typeface="Liberation Sans"/>
                <a:cs typeface="Liberation Sans"/>
              </a:defRPr>
            </a:pPr>
            <a:r>
              <a:rPr sz="2200" b="0">
                <a:solidFill>
                  <a:srgbClr val="F4F4E9"/>
                </a:solidFill>
                <a:latin typeface="Liberation Sans"/>
                <a:ea typeface="Liberation Sans"/>
                <a:cs typeface="Liberation Sans"/>
              </a:rPr>
              <a:t>t CO2e evitate stimate</a:t>
            </a:r>
          </a:p>
        </p:txBody>
      </p:sp>
      <p:sp>
        <p:nvSpPr>
          <p:cNvPr id="17" name="">
            <a:extLst xmlns:a="http://schemas.openxmlformats.org/drawingml/2006/main">
              <a:ext uri="{FF2B5EF4-FFF2-40B4-BE49-F238E27FC236}">
                <a16:creationId xmlns:a16="http://schemas.microsoft.com/office/drawing/2014/main" id="{7B95AA6D-83BF-4720-A842-3788970543F4}"/>
              </a:ext>
            </a:extLst>
          </p:cNvPr>
          <p:cNvSpPr>
            <a:spLocks xmlns:a="http://schemas.openxmlformats.org/drawingml/2006/main" noGrp="1"/>
          </p:cNvSpPr>
          <p:nvPr/>
        </p:nvSpPr>
        <p:spPr>
          <a:xfrm xmlns:a="http://schemas.openxmlformats.org/drawingml/2006/main">
            <a:off x="914400" y="6362700"/>
            <a:ext cx="14427200" cy="0"/>
          </a:xfrm>
          <a:prstGeom xmlns:a="http://schemas.openxmlformats.org/drawingml/2006/main" prst="line">
            <a:avLst/>
          </a:prstGeom>
          <a:noFill xmlns:a="http://schemas.openxmlformats.org/drawingml/2006/main"/>
          <a:ln xmlns:a="http://schemas.openxmlformats.org/drawingml/2006/main" w="12700">
            <a:solidFill>
              <a:srgbClr val="668977"/>
            </a:solidFill>
            <a:prstDash val="solid"/>
          </a:ln>
        </p:spPr>
      </p:sp>
      <p:sp>
        <p:nvSpPr>
          <p:cNvPr id="18" name="Emissioni dell’elettricità">
            <a:extLst xmlns:a="http://schemas.openxmlformats.org/drawingml/2006/main">
              <a:ext uri="{FF2B5EF4-FFF2-40B4-BE49-F238E27FC236}">
                <a16:creationId xmlns:a16="http://schemas.microsoft.com/office/drawing/2014/main" id="{1C9516F9-8E53-4994-B4A1-968D8B58AB04}"/>
              </a:ext>
            </a:extLst>
          </p:cNvPr>
          <p:cNvSpPr>
            <a:spLocks xmlns:a="http://schemas.openxmlformats.org/drawingml/2006/main" noGrp="1"/>
          </p:cNvSpPr>
          <p:nvPr/>
        </p:nvSpPr>
        <p:spPr>
          <a:xfrm xmlns:a="http://schemas.openxmlformats.org/drawingml/2006/main">
            <a:off x="914400" y="6680200"/>
            <a:ext cx="679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1">
                <a:solidFill>
                  <a:srgbClr val="F4F4E9"/>
                </a:solidFill>
                <a:latin typeface="Liberation Sans"/>
                <a:ea typeface="Liberation Sans"/>
                <a:cs typeface="Liberation Sans"/>
              </a:defRPr>
            </a:defPPr>
          </a:lstStyle>
          <a:p xmlns:a="http://schemas.openxmlformats.org/drawingml/2006/main">
            <a:pPr>
              <a:lnSpc>
                <a:spcPct val="108000"/>
              </a:lnSpc>
              <a:buNone/>
              <a:defRPr sz="2200" b="1">
                <a:solidFill>
                  <a:srgbClr val="F4F4E9"/>
                </a:solidFill>
                <a:latin typeface="Liberation Sans"/>
                <a:ea typeface="Liberation Sans"/>
                <a:cs typeface="Liberation Sans"/>
              </a:defRPr>
            </a:pPr>
            <a:r>
              <a:rPr sz="2200" b="1">
                <a:solidFill>
                  <a:srgbClr val="F4F4E9"/>
                </a:solidFill>
                <a:latin typeface="Liberation Sans"/>
                <a:ea typeface="Liberation Sans"/>
                <a:cs typeface="Liberation Sans"/>
              </a:rPr>
              <a:t>Emissioni dell’elettricità</a:t>
            </a:r>
          </a:p>
        </p:txBody>
      </p:sp>
      <p:sp>
        <p:nvSpPr>
          <p:cNvPr id="19" name="40.000 kWh × 0,30 kg CO2e/kWh = 12 t CO2e.">
            <a:extLst xmlns:a="http://schemas.openxmlformats.org/drawingml/2006/main">
              <a:ext uri="{FF2B5EF4-FFF2-40B4-BE49-F238E27FC236}">
                <a16:creationId xmlns:a16="http://schemas.microsoft.com/office/drawing/2014/main" id="{A19B2F26-282A-48A8-B565-8B6BB37064C2}"/>
              </a:ext>
            </a:extLst>
          </p:cNvPr>
          <p:cNvSpPr>
            <a:spLocks xmlns:a="http://schemas.openxmlformats.org/drawingml/2006/main" noGrp="1"/>
          </p:cNvSpPr>
          <p:nvPr/>
        </p:nvSpPr>
        <p:spPr>
          <a:xfrm xmlns:a="http://schemas.openxmlformats.org/drawingml/2006/main">
            <a:off x="914400" y="7226300"/>
            <a:ext cx="711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0">
                <a:solidFill>
                  <a:srgbClr val="B0C4BC"/>
                </a:solidFill>
                <a:latin typeface="Liberation Sans"/>
                <a:ea typeface="Liberation Sans"/>
                <a:cs typeface="Liberation Sans"/>
              </a:defRPr>
            </a:defPPr>
          </a:lstStyle>
          <a:p xmlns:a="http://schemas.openxmlformats.org/drawingml/2006/main">
            <a:pPr>
              <a:lnSpc>
                <a:spcPct val="108000"/>
              </a:lnSpc>
              <a:buNone/>
              <a:defRPr sz="1900" b="0">
                <a:solidFill>
                  <a:srgbClr val="B0C4BC"/>
                </a:solidFill>
                <a:latin typeface="Liberation Sans"/>
                <a:ea typeface="Liberation Sans"/>
                <a:cs typeface="Liberation Sans"/>
              </a:defRPr>
            </a:pPr>
            <a:r>
              <a:rPr sz="1900" b="0">
                <a:solidFill>
                  <a:srgbClr val="B0C4BC"/>
                </a:solidFill>
                <a:latin typeface="Liberation Sans"/>
                <a:ea typeface="Liberation Sans"/>
                <a:cs typeface="Liberation Sans"/>
              </a:rPr>
              <a:t>40.000 kWh × 0,30 kg CO2e/kWh = 12 t CO2e.</a:t>
            </a:r>
          </a:p>
        </p:txBody>
      </p:sp>
      <p:sp>
        <p:nvSpPr>
          <p:cNvPr id="20" name="Confronto con il riferimento">
            <a:extLst xmlns:a="http://schemas.openxmlformats.org/drawingml/2006/main">
              <a:ext uri="{FF2B5EF4-FFF2-40B4-BE49-F238E27FC236}">
                <a16:creationId xmlns:a16="http://schemas.microsoft.com/office/drawing/2014/main" id="{918F4E0D-470F-4C7F-AD39-2816A6F2F5E9}"/>
              </a:ext>
            </a:extLst>
          </p:cNvPr>
          <p:cNvSpPr>
            <a:spLocks xmlns:a="http://schemas.openxmlformats.org/drawingml/2006/main" noGrp="1"/>
          </p:cNvSpPr>
          <p:nvPr/>
        </p:nvSpPr>
        <p:spPr>
          <a:xfrm xmlns:a="http://schemas.openxmlformats.org/drawingml/2006/main">
            <a:off x="8407400" y="6680200"/>
            <a:ext cx="693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1">
                <a:solidFill>
                  <a:srgbClr val="F4F4E9"/>
                </a:solidFill>
                <a:latin typeface="Liberation Sans"/>
                <a:ea typeface="Liberation Sans"/>
                <a:cs typeface="Liberation Sans"/>
              </a:defRPr>
            </a:defPPr>
          </a:lstStyle>
          <a:p xmlns:a="http://schemas.openxmlformats.org/drawingml/2006/main">
            <a:pPr>
              <a:lnSpc>
                <a:spcPct val="108000"/>
              </a:lnSpc>
              <a:buNone/>
              <a:defRPr sz="2200" b="1">
                <a:solidFill>
                  <a:srgbClr val="F4F4E9"/>
                </a:solidFill>
                <a:latin typeface="Liberation Sans"/>
                <a:ea typeface="Liberation Sans"/>
                <a:cs typeface="Liberation Sans"/>
              </a:defRPr>
            </a:pPr>
            <a:r>
              <a:rPr sz="2200" b="1">
                <a:solidFill>
                  <a:srgbClr val="F4F4E9"/>
                </a:solidFill>
                <a:latin typeface="Liberation Sans"/>
                <a:ea typeface="Liberation Sans"/>
                <a:cs typeface="Liberation Sans"/>
              </a:rPr>
              <a:t>Confronto con il riferimento</a:t>
            </a:r>
          </a:p>
        </p:txBody>
      </p:sp>
      <p:sp>
        <p:nvSpPr>
          <p:cNvPr id="21" name="20 t CO2e di riferimento - 12 t CO2e = 8 t CO2e.">
            <a:extLst xmlns:a="http://schemas.openxmlformats.org/drawingml/2006/main">
              <a:ext uri="{FF2B5EF4-FFF2-40B4-BE49-F238E27FC236}">
                <a16:creationId xmlns:a16="http://schemas.microsoft.com/office/drawing/2014/main" id="{C287B31D-2039-4DF2-A23F-E8467488611A}"/>
              </a:ext>
            </a:extLst>
          </p:cNvPr>
          <p:cNvSpPr>
            <a:spLocks xmlns:a="http://schemas.openxmlformats.org/drawingml/2006/main" noGrp="1"/>
          </p:cNvSpPr>
          <p:nvPr/>
        </p:nvSpPr>
        <p:spPr>
          <a:xfrm xmlns:a="http://schemas.openxmlformats.org/drawingml/2006/main">
            <a:off x="8407400" y="7226300"/>
            <a:ext cx="693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0">
                <a:solidFill>
                  <a:srgbClr val="B0C4BC"/>
                </a:solidFill>
                <a:latin typeface="Liberation Sans"/>
                <a:ea typeface="Liberation Sans"/>
                <a:cs typeface="Liberation Sans"/>
              </a:defRPr>
            </a:defPPr>
          </a:lstStyle>
          <a:p xmlns:a="http://schemas.openxmlformats.org/drawingml/2006/main">
            <a:pPr>
              <a:lnSpc>
                <a:spcPct val="108000"/>
              </a:lnSpc>
              <a:buNone/>
              <a:defRPr sz="1900" b="0">
                <a:solidFill>
                  <a:srgbClr val="B0C4BC"/>
                </a:solidFill>
                <a:latin typeface="Liberation Sans"/>
                <a:ea typeface="Liberation Sans"/>
                <a:cs typeface="Liberation Sans"/>
              </a:defRPr>
            </a:pPr>
            <a:r>
              <a:rPr sz="1900" b="0">
                <a:solidFill>
                  <a:srgbClr val="B0C4BC"/>
                </a:solidFill>
                <a:latin typeface="Liberation Sans"/>
                <a:ea typeface="Liberation Sans"/>
                <a:cs typeface="Liberation Sans"/>
              </a:rPr>
              <a:t>20 t CO2e di riferimento - 12 t CO2e = 8 t CO2e.</a:t>
            </a:r>
          </a:p>
        </p:txBody>
      </p:sp>
      <p:sp>
        <p:nvSpPr>
          <p:cNvPr id="22" name="">
            <a:extLst xmlns:a="http://schemas.openxmlformats.org/drawingml/2006/main">
              <a:ext uri="{FF2B5EF4-FFF2-40B4-BE49-F238E27FC236}">
                <a16:creationId xmlns:a16="http://schemas.microsoft.com/office/drawing/2014/main" id="{49C11620-A6B0-411F-8D52-ECB2F2313F19}"/>
              </a:ext>
            </a:extLst>
          </p:cNvPr>
          <p:cNvSpPr>
            <a:spLocks xmlns:a="http://schemas.openxmlformats.org/drawingml/2006/main" noGrp="1"/>
          </p:cNvSpPr>
          <p:nvPr/>
        </p:nvSpPr>
        <p:spPr>
          <a:xfrm xmlns:a="http://schemas.openxmlformats.org/drawingml/2006/main">
            <a:off x="914400" y="7747000"/>
            <a:ext cx="144272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sp>
        <p:nvSpPr>
          <p:cNvPr id="23" name="La stima ambientale resta distinta dall’impronta di ">
            <a:extLst xmlns:a="http://schemas.openxmlformats.org/drawingml/2006/main">
              <a:ext uri="{FF2B5EF4-FFF2-40B4-BE49-F238E27FC236}">
                <a16:creationId xmlns:a16="http://schemas.microsoft.com/office/drawing/2014/main" id="{03C34FA8-1453-4392-85B1-557776F6327E}"/>
              </a:ext>
            </a:extLst>
          </p:cNvPr>
          <p:cNvSpPr>
            <a:spLocks xmlns:a="http://schemas.openxmlformats.org/drawingml/2006/main" noGrp="1"/>
          </p:cNvSpPr>
          <p:nvPr/>
        </p:nvSpPr>
        <p:spPr>
          <a:xfrm xmlns:a="http://schemas.openxmlformats.org/drawingml/2006/main">
            <a:off x="1168400" y="7912100"/>
            <a:ext cx="139192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4F4E9"/>
                </a:solidFill>
                <a:latin typeface="Liberation Sans"/>
                <a:ea typeface="Liberation Sans"/>
                <a:cs typeface="Liberation Sans"/>
              </a:defRPr>
            </a:defPPr>
          </a:lstStyle>
          <a:p xmlns:a="http://schemas.openxmlformats.org/drawingml/2006/main">
            <a:pPr>
              <a:lnSpc>
                <a:spcPct val="108000"/>
              </a:lnSpc>
              <a:buNone/>
              <a:defRPr sz="1800" b="1">
                <a:solidFill>
                  <a:srgbClr val="F4F4E9"/>
                </a:solidFill>
                <a:latin typeface="Liberation Sans"/>
                <a:ea typeface="Liberation Sans"/>
                <a:cs typeface="Liberation Sans"/>
              </a:defRPr>
            </a:pPr>
            <a:r>
              <a:rPr sz="1800" b="1">
                <a:solidFill>
                  <a:srgbClr val="F4F4E9"/>
                </a:solidFill>
                <a:latin typeface="Liberation Sans"/>
                <a:ea typeface="Liberation Sans"/>
                <a:cs typeface="Liberation Sans"/>
              </a:rPr>
              <a:t>La stima ambientale resta distinta dall’impronta di prodotto e da un eventuale credito certificato.</a:t>
            </a:r>
          </a:p>
        </p:txBody>
      </p:sp>
    </p:spTree>
    <p:extLst>
      <p:ext uri="{BB962C8B-B14F-4D97-AF65-F5344CB8AC3E}">
        <p14:creationId xmlns:p14="http://schemas.microsoft.com/office/powerpoint/2010/main" val="300343319"/>
      </p:ext>
    </p:extLst>
  </p:cSld>
</p:sld>
</file>

<file path=ppt/slides/slide10.xml><?xml version="1.0" encoding="utf-8"?>
<p:sld xmlns:p="http://schemas.openxmlformats.org/presentationml/2006/main">
  <p:cSld>
    <p:bg>
      <p:bgPr>
        <a:solidFill xmlns:a="http://schemas.openxmlformats.org/drawingml/2006/main">
          <a:srgbClr val="F0F1E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9E9BA23-FD07-4574-92BA-B4C117CD500C}"/>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85413F18-1CF8-496C-A827-8C78EEA7923B}"/>
              </a:ext>
            </a:extLst>
          </p:cNvPr>
          <p:cNvPicPr>
            <a:picLocks xmlns:a="http://schemas.openxmlformats.org/drawingml/2006/main" noChangeAspect="1"/>
          </p:cNvPicPr>
          <p:nvPr/>
        </p:nvPicPr>
        <p:blipFill>
          <a:blip xmlns:r="http://schemas.openxmlformats.org/officeDocument/2006/relationships" xmlns:a="http://schemas.openxmlformats.org/drawingml/2006/main" r:embed="Rf60d89eece6e4ec2"/>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5A094C7-7AA7-4274-9B29-51FEE14EE8DD}"/>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4700C040-F062-4691-9E19-94E4DE32D688}"/>
              </a:ext>
            </a:extLst>
          </p:cNvPr>
          <p:cNvPicPr>
            <a:picLocks xmlns:a="http://schemas.openxmlformats.org/drawingml/2006/main" noChangeAspect="1"/>
          </p:cNvPicPr>
          <p:nvPr/>
        </p:nvPicPr>
        <p:blipFill>
          <a:blip xmlns:r="http://schemas.openxmlformats.org/officeDocument/2006/relationships" xmlns:a="http://schemas.openxmlformats.org/drawingml/2006/main" r:embed="R69ab6a68036e4317"/>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CREDITI AMBIENTALI · AMMISSIBILITÀ">
            <a:extLst xmlns:a="http://schemas.openxmlformats.org/drawingml/2006/main">
              <a:ext uri="{FF2B5EF4-FFF2-40B4-BE49-F238E27FC236}">
                <a16:creationId xmlns:a16="http://schemas.microsoft.com/office/drawing/2014/main" id="{BCFB2267-5464-407D-A17F-FC1FC7D91C7F}"/>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CREDITI AMBIENTALI · AMMISSIBILITÀ</a:t>
            </a:r>
          </a:p>
        </p:txBody>
      </p:sp>
      <p:sp>
        <p:nvSpPr>
          <p:cNvPr id="6" name="Il percorso verso&#10;eventuali crediti riconosciuti">
            <a:extLst xmlns:a="http://schemas.openxmlformats.org/drawingml/2006/main">
              <a:ext uri="{FF2B5EF4-FFF2-40B4-BE49-F238E27FC236}">
                <a16:creationId xmlns:a16="http://schemas.microsoft.com/office/drawing/2014/main" id="{20F83471-1934-4A44-949C-8316BA4B800F}"/>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02B28"/>
                </a:solidFill>
                <a:latin typeface="Liberation Sans"/>
                <a:ea typeface="Liberation Sans"/>
                <a:cs typeface="Liberation Sans"/>
              </a:defRPr>
            </a:defPPr>
          </a:lstStyle>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Il percorso verso</a:t>
            </a:r>
          </a:p>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eventuali crediti riconosciuti</a:t>
            </a:r>
          </a:p>
        </p:txBody>
      </p:sp>
      <p:sp>
        <p:nvSpPr>
          <p:cNvPr id="7" name="L’ammissibilità riguarda il progetto di utilizzo: la">
            <a:extLst xmlns:a="http://schemas.openxmlformats.org/drawingml/2006/main">
              <a:ext uri="{FF2B5EF4-FFF2-40B4-BE49-F238E27FC236}">
                <a16:creationId xmlns:a16="http://schemas.microsoft.com/office/drawing/2014/main" id="{39C87A9B-165F-4DC3-9B31-E7E699235AA5}"/>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4F6C62"/>
                </a:solidFill>
                <a:latin typeface="Liberation Sans"/>
                <a:ea typeface="Liberation Sans"/>
                <a:cs typeface="Liberation Sans"/>
              </a:defRPr>
            </a:defPPr>
          </a:lstStyle>
          <a:p xmlns:a="http://schemas.openxmlformats.org/drawingml/2006/main">
            <a:pPr>
              <a:lnSpc>
                <a:spcPct val="108000"/>
              </a:lnSpc>
              <a:buNone/>
              <a:defRPr sz="2200" b="0">
                <a:solidFill>
                  <a:srgbClr val="4F6C62"/>
                </a:solidFill>
                <a:latin typeface="Liberation Sans"/>
                <a:ea typeface="Liberation Sans"/>
                <a:cs typeface="Liberation Sans"/>
              </a:defRPr>
            </a:pPr>
            <a:r>
              <a:rPr sz="2200" b="0">
                <a:solidFill>
                  <a:srgbClr val="4F6C62"/>
                </a:solidFill>
                <a:latin typeface="Liberation Sans"/>
                <a:ea typeface="Liberation Sans"/>
                <a:cs typeface="Liberation Sans"/>
              </a:rPr>
              <a:t>L’ammissibilità riguarda il progetto di utilizzo: la vendita della batteria non genera automaticamente crediti.</a:t>
            </a:r>
          </a:p>
        </p:txBody>
      </p:sp>
      <p:sp>
        <p:nvSpPr>
          <p:cNvPr id="8" name="">
            <a:extLst xmlns:a="http://schemas.openxmlformats.org/drawingml/2006/main">
              <a:ext uri="{FF2B5EF4-FFF2-40B4-BE49-F238E27FC236}">
                <a16:creationId xmlns:a16="http://schemas.microsoft.com/office/drawing/2014/main" id="{B2968EE7-7381-488C-9B97-569F7C2C3F6D}"/>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9" name="Il metodo applicabile va individuato sul caso concre">
            <a:extLst xmlns:a="http://schemas.openxmlformats.org/drawingml/2006/main">
              <a:ext uri="{FF2B5EF4-FFF2-40B4-BE49-F238E27FC236}">
                <a16:creationId xmlns:a16="http://schemas.microsoft.com/office/drawing/2014/main" id="{2F32FAC4-15F4-42F1-8DDA-93F20EAECA8F}"/>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F6C62"/>
                </a:solidFill>
                <a:latin typeface="Liberation Sans"/>
                <a:ea typeface="Liberation Sans"/>
                <a:cs typeface="Liberation Sans"/>
              </a:defRPr>
            </a:defPPr>
          </a:lstStyle>
          <a:p xmlns:a="http://schemas.openxmlformats.org/drawingml/2006/main">
            <a:pPr>
              <a:lnSpc>
                <a:spcPct val="108000"/>
              </a:lnSpc>
              <a:buNone/>
              <a:defRPr sz="1200" b="0">
                <a:solidFill>
                  <a:srgbClr val="4F6C62"/>
                </a:solidFill>
                <a:latin typeface="Liberation Sans"/>
                <a:ea typeface="Liberation Sans"/>
                <a:cs typeface="Liberation Sans"/>
              </a:defRPr>
            </a:pPr>
            <a:r>
              <a:rPr sz="1200" b="0">
                <a:solidFill>
                  <a:srgbClr val="4F6C62"/>
                </a:solidFill>
                <a:latin typeface="Liberation Sans"/>
                <a:ea typeface="Liberation Sans"/>
                <a:cs typeface="Liberation Sans"/>
              </a:rPr>
              <a:t>Il metodo applicabile va individuato sul caso concreto; nessuna ammissibilità di progetti Alps è qui attestata.</a:t>
            </a:r>
          </a:p>
        </p:txBody>
      </p:sp>
      <p:sp>
        <p:nvSpPr>
          <p:cNvPr id="10" name="10 / 13">
            <a:extLst xmlns:a="http://schemas.openxmlformats.org/drawingml/2006/main">
              <a:ext uri="{FF2B5EF4-FFF2-40B4-BE49-F238E27FC236}">
                <a16:creationId xmlns:a16="http://schemas.microsoft.com/office/drawing/2014/main" id="{BAC0FFDF-6CE2-4EC8-A123-268D8548BDF5}"/>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10 / 13</a:t>
            </a:r>
          </a:p>
        </p:txBody>
      </p:sp>
      <p:sp>
        <p:nvSpPr>
          <p:cNvPr id="11" name="01">
            <a:extLst xmlns:a="http://schemas.openxmlformats.org/drawingml/2006/main">
              <a:ext uri="{FF2B5EF4-FFF2-40B4-BE49-F238E27FC236}">
                <a16:creationId xmlns:a16="http://schemas.microsoft.com/office/drawing/2014/main" id="{1098B06B-D45A-4C3A-9F0A-F9073D618BDC}"/>
              </a:ext>
            </a:extLst>
          </p:cNvPr>
          <p:cNvSpPr>
            <a:spLocks xmlns:a="http://schemas.openxmlformats.org/drawingml/2006/main" noGrp="1"/>
          </p:cNvSpPr>
          <p:nvPr/>
        </p:nvSpPr>
        <p:spPr>
          <a:xfrm xmlns:a="http://schemas.openxmlformats.org/drawingml/2006/main">
            <a:off x="914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01</a:t>
            </a:r>
          </a:p>
        </p:txBody>
      </p:sp>
      <p:sp>
        <p:nvSpPr>
          <p:cNvPr id="12" name="Progetto ammissibile">
            <a:extLst xmlns:a="http://schemas.openxmlformats.org/drawingml/2006/main">
              <a:ext uri="{FF2B5EF4-FFF2-40B4-BE49-F238E27FC236}">
                <a16:creationId xmlns:a16="http://schemas.microsoft.com/office/drawing/2014/main" id="{0F3D74E1-D75A-4595-86AD-20D1DE20CD14}"/>
              </a:ext>
            </a:extLst>
          </p:cNvPr>
          <p:cNvSpPr>
            <a:spLocks xmlns:a="http://schemas.openxmlformats.org/drawingml/2006/main" noGrp="1"/>
          </p:cNvSpPr>
          <p:nvPr/>
        </p:nvSpPr>
        <p:spPr>
          <a:xfrm xmlns:a="http://schemas.openxmlformats.org/drawingml/2006/main">
            <a:off x="914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b="1">
                <a:solidFill>
                  <a:srgbClr val="102B28"/>
                </a:solidFill>
                <a:latin typeface="Liberation Sans"/>
                <a:ea typeface="Liberation Sans"/>
                <a:cs typeface="Liberation Sans"/>
              </a:defRPr>
            </a:defPPr>
          </a:lstStyle>
          <a:p xmlns:a="http://schemas.openxmlformats.org/drawingml/2006/main">
            <a:pPr>
              <a:lnSpc>
                <a:spcPct val="108000"/>
              </a:lnSpc>
              <a:buNone/>
              <a:defRPr sz="2800" b="1">
                <a:solidFill>
                  <a:srgbClr val="102B28"/>
                </a:solidFill>
                <a:latin typeface="Liberation Sans"/>
                <a:ea typeface="Liberation Sans"/>
                <a:cs typeface="Liberation Sans"/>
              </a:defRPr>
            </a:pPr>
            <a:r>
              <a:rPr sz="2800" b="1">
                <a:solidFill>
                  <a:srgbClr val="102B28"/>
                </a:solidFill>
                <a:latin typeface="Liberation Sans"/>
                <a:ea typeface="Liberation Sans"/>
                <a:cs typeface="Liberation Sans"/>
              </a:rPr>
              <a:t>Progetto ammissibile</a:t>
            </a:r>
          </a:p>
        </p:txBody>
      </p:sp>
      <p:sp>
        <p:nvSpPr>
          <p:cNvPr id="13" name="Metodo applicabile, scenario&#10;di riferimento, addizio">
            <a:extLst xmlns:a="http://schemas.openxmlformats.org/drawingml/2006/main">
              <a:ext uri="{FF2B5EF4-FFF2-40B4-BE49-F238E27FC236}">
                <a16:creationId xmlns:a16="http://schemas.microsoft.com/office/drawing/2014/main" id="{ACAB4BDE-DE1B-49C5-AF49-A242EAF7EE76}"/>
              </a:ext>
            </a:extLst>
          </p:cNvPr>
          <p:cNvSpPr>
            <a:spLocks xmlns:a="http://schemas.openxmlformats.org/drawingml/2006/main" noGrp="1"/>
          </p:cNvSpPr>
          <p:nvPr/>
        </p:nvSpPr>
        <p:spPr>
          <a:xfrm xmlns:a="http://schemas.openxmlformats.org/drawingml/2006/main">
            <a:off x="914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Metodo applicabile, scenario</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di riferimento, addizionalità</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e diritti documentati.</a:t>
            </a:r>
          </a:p>
        </p:txBody>
      </p:sp>
      <p:sp>
        <p:nvSpPr>
          <p:cNvPr id="14" name="02">
            <a:extLst xmlns:a="http://schemas.openxmlformats.org/drawingml/2006/main">
              <a:ext uri="{FF2B5EF4-FFF2-40B4-BE49-F238E27FC236}">
                <a16:creationId xmlns:a16="http://schemas.microsoft.com/office/drawing/2014/main" id="{69B32804-60C0-42DA-8F60-573ADC9F1DEB}"/>
              </a:ext>
            </a:extLst>
          </p:cNvPr>
          <p:cNvSpPr>
            <a:spLocks xmlns:a="http://schemas.openxmlformats.org/drawingml/2006/main" noGrp="1"/>
          </p:cNvSpPr>
          <p:nvPr/>
        </p:nvSpPr>
        <p:spPr>
          <a:xfrm xmlns:a="http://schemas.openxmlformats.org/drawingml/2006/main">
            <a:off x="5867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02</a:t>
            </a:r>
          </a:p>
        </p:txBody>
      </p:sp>
      <p:sp>
        <p:nvSpPr>
          <p:cNvPr id="15" name="Risultati verificati">
            <a:extLst xmlns:a="http://schemas.openxmlformats.org/drawingml/2006/main">
              <a:ext uri="{FF2B5EF4-FFF2-40B4-BE49-F238E27FC236}">
                <a16:creationId xmlns:a16="http://schemas.microsoft.com/office/drawing/2014/main" id="{E2668982-A56A-496B-BF45-4D444F77DF70}"/>
              </a:ext>
            </a:extLst>
          </p:cNvPr>
          <p:cNvSpPr>
            <a:spLocks xmlns:a="http://schemas.openxmlformats.org/drawingml/2006/main" noGrp="1"/>
          </p:cNvSpPr>
          <p:nvPr/>
        </p:nvSpPr>
        <p:spPr>
          <a:xfrm xmlns:a="http://schemas.openxmlformats.org/drawingml/2006/main">
            <a:off x="5867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b="1">
                <a:solidFill>
                  <a:srgbClr val="102B28"/>
                </a:solidFill>
                <a:latin typeface="Liberation Sans"/>
                <a:ea typeface="Liberation Sans"/>
                <a:cs typeface="Liberation Sans"/>
              </a:defRPr>
            </a:defPPr>
          </a:lstStyle>
          <a:p xmlns:a="http://schemas.openxmlformats.org/drawingml/2006/main">
            <a:pPr>
              <a:lnSpc>
                <a:spcPct val="108000"/>
              </a:lnSpc>
              <a:buNone/>
              <a:defRPr sz="2800" b="1">
                <a:solidFill>
                  <a:srgbClr val="102B28"/>
                </a:solidFill>
                <a:latin typeface="Liberation Sans"/>
                <a:ea typeface="Liberation Sans"/>
                <a:cs typeface="Liberation Sans"/>
              </a:defRPr>
            </a:pPr>
            <a:r>
              <a:rPr sz="2800" b="1">
                <a:solidFill>
                  <a:srgbClr val="102B28"/>
                </a:solidFill>
                <a:latin typeface="Liberation Sans"/>
                <a:ea typeface="Liberation Sans"/>
                <a:cs typeface="Liberation Sans"/>
              </a:rPr>
              <a:t>Risultati verificati</a:t>
            </a:r>
          </a:p>
        </p:txBody>
      </p:sp>
      <p:sp>
        <p:nvSpPr>
          <p:cNvPr id="16" name="Monitoraggio conforme al&#10;programma e verifiche&#10;indip">
            <a:extLst xmlns:a="http://schemas.openxmlformats.org/drawingml/2006/main">
              <a:ext uri="{FF2B5EF4-FFF2-40B4-BE49-F238E27FC236}">
                <a16:creationId xmlns:a16="http://schemas.microsoft.com/office/drawing/2014/main" id="{68FD00FB-FFF3-4714-A5C0-4F138E4A060E}"/>
              </a:ext>
            </a:extLst>
          </p:cNvPr>
          <p:cNvSpPr>
            <a:spLocks xmlns:a="http://schemas.openxmlformats.org/drawingml/2006/main" noGrp="1"/>
          </p:cNvSpPr>
          <p:nvPr/>
        </p:nvSpPr>
        <p:spPr>
          <a:xfrm xmlns:a="http://schemas.openxmlformats.org/drawingml/2006/main">
            <a:off x="5867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Monitoraggio conforme al</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programma e verifiche</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indipendenti previste.</a:t>
            </a:r>
          </a:p>
        </p:txBody>
      </p:sp>
      <p:sp>
        <p:nvSpPr>
          <p:cNvPr id="17" name="03">
            <a:extLst xmlns:a="http://schemas.openxmlformats.org/drawingml/2006/main">
              <a:ext uri="{FF2B5EF4-FFF2-40B4-BE49-F238E27FC236}">
                <a16:creationId xmlns:a16="http://schemas.microsoft.com/office/drawing/2014/main" id="{5C4B46F5-6659-458A-9D5C-66C0905F0E91}"/>
              </a:ext>
            </a:extLst>
          </p:cNvPr>
          <p:cNvSpPr>
            <a:spLocks xmlns:a="http://schemas.openxmlformats.org/drawingml/2006/main" noGrp="1"/>
          </p:cNvSpPr>
          <p:nvPr/>
        </p:nvSpPr>
        <p:spPr>
          <a:xfrm xmlns:a="http://schemas.openxmlformats.org/drawingml/2006/main">
            <a:off x="10820400" y="4318000"/>
            <a:ext cx="4521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00" b="1">
                <a:solidFill>
                  <a:srgbClr val="285B40"/>
                </a:solidFill>
                <a:latin typeface="Liberation Sans"/>
                <a:ea typeface="Liberation Sans"/>
                <a:cs typeface="Liberation Sans"/>
              </a:defRPr>
            </a:defPPr>
          </a:lstStyle>
          <a:p xmlns:a="http://schemas.openxmlformats.org/drawingml/2006/main">
            <a:pPr>
              <a:lnSpc>
                <a:spcPct val="108000"/>
              </a:lnSpc>
              <a:buNone/>
              <a:defRPr sz="2500" b="1">
                <a:solidFill>
                  <a:srgbClr val="285B40"/>
                </a:solidFill>
                <a:latin typeface="Liberation Sans"/>
                <a:ea typeface="Liberation Sans"/>
                <a:cs typeface="Liberation Sans"/>
              </a:defRPr>
            </a:pPr>
            <a:r>
              <a:rPr sz="2500" b="1">
                <a:solidFill>
                  <a:srgbClr val="285B40"/>
                </a:solidFill>
                <a:latin typeface="Liberation Sans"/>
                <a:ea typeface="Liberation Sans"/>
                <a:cs typeface="Liberation Sans"/>
              </a:rPr>
              <a:t>03</a:t>
            </a:r>
          </a:p>
        </p:txBody>
      </p:sp>
      <p:sp>
        <p:nvSpPr>
          <p:cNvPr id="18" name="Crediti emessi">
            <a:extLst xmlns:a="http://schemas.openxmlformats.org/drawingml/2006/main">
              <a:ext uri="{FF2B5EF4-FFF2-40B4-BE49-F238E27FC236}">
                <a16:creationId xmlns:a16="http://schemas.microsoft.com/office/drawing/2014/main" id="{AEF182EA-8865-407E-B046-62FF31B91C1E}"/>
              </a:ext>
            </a:extLst>
          </p:cNvPr>
          <p:cNvSpPr>
            <a:spLocks xmlns:a="http://schemas.openxmlformats.org/drawingml/2006/main" noGrp="1"/>
          </p:cNvSpPr>
          <p:nvPr/>
        </p:nvSpPr>
        <p:spPr>
          <a:xfrm xmlns:a="http://schemas.openxmlformats.org/drawingml/2006/main">
            <a:off x="10820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00" b="1">
                <a:solidFill>
                  <a:srgbClr val="102B28"/>
                </a:solidFill>
                <a:latin typeface="Liberation Sans"/>
                <a:ea typeface="Liberation Sans"/>
                <a:cs typeface="Liberation Sans"/>
              </a:defRPr>
            </a:defPPr>
          </a:lstStyle>
          <a:p xmlns:a="http://schemas.openxmlformats.org/drawingml/2006/main">
            <a:pPr>
              <a:lnSpc>
                <a:spcPct val="108000"/>
              </a:lnSpc>
              <a:buNone/>
              <a:defRPr sz="2800" b="1">
                <a:solidFill>
                  <a:srgbClr val="102B28"/>
                </a:solidFill>
                <a:latin typeface="Liberation Sans"/>
                <a:ea typeface="Liberation Sans"/>
                <a:cs typeface="Liberation Sans"/>
              </a:defRPr>
            </a:pPr>
            <a:r>
              <a:rPr sz="2800" b="1">
                <a:solidFill>
                  <a:srgbClr val="102B28"/>
                </a:solidFill>
                <a:latin typeface="Liberation Sans"/>
                <a:ea typeface="Liberation Sans"/>
                <a:cs typeface="Liberation Sans"/>
              </a:rPr>
              <a:t>Crediti emessi</a:t>
            </a:r>
          </a:p>
        </p:txBody>
      </p:sp>
      <p:sp>
        <p:nvSpPr>
          <p:cNvPr id="19" name="Registrazione, identificativi&#10;e quantità riconosciut">
            <a:extLst xmlns:a="http://schemas.openxmlformats.org/drawingml/2006/main">
              <a:ext uri="{FF2B5EF4-FFF2-40B4-BE49-F238E27FC236}">
                <a16:creationId xmlns:a16="http://schemas.microsoft.com/office/drawing/2014/main" id="{836F0ACD-F594-43DD-B4DC-9F0B02F52B80}"/>
              </a:ext>
            </a:extLst>
          </p:cNvPr>
          <p:cNvSpPr>
            <a:spLocks xmlns:a="http://schemas.openxmlformats.org/drawingml/2006/main" noGrp="1"/>
          </p:cNvSpPr>
          <p:nvPr/>
        </p:nvSpPr>
        <p:spPr>
          <a:xfrm xmlns:a="http://schemas.openxmlformats.org/drawingml/2006/main">
            <a:off x="10820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4F6C62"/>
                </a:solidFill>
                <a:latin typeface="Liberation Sans"/>
                <a:ea typeface="Liberation Sans"/>
                <a:cs typeface="Liberation Sans"/>
              </a:defRPr>
            </a:defPPr>
          </a:lstStyle>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Registrazione, identificativi</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e quantità riconosciute</a:t>
            </a:r>
          </a:p>
          <a:p xmlns:a="http://schemas.openxmlformats.org/drawingml/2006/main">
            <a:pPr>
              <a:lnSpc>
                <a:spcPct val="108000"/>
              </a:lnSpc>
              <a:buNone/>
              <a:defRPr sz="2300" b="0">
                <a:solidFill>
                  <a:srgbClr val="4F6C62"/>
                </a:solidFill>
                <a:latin typeface="Liberation Sans"/>
                <a:ea typeface="Liberation Sans"/>
                <a:cs typeface="Liberation Sans"/>
              </a:defRPr>
            </a:pPr>
            <a:r>
              <a:rPr sz="2300" b="0">
                <a:solidFill>
                  <a:srgbClr val="4F6C62"/>
                </a:solidFill>
                <a:latin typeface="Liberation Sans"/>
                <a:ea typeface="Liberation Sans"/>
                <a:cs typeface="Liberation Sans"/>
              </a:rPr>
              <a:t>dal programma.</a:t>
            </a:r>
          </a:p>
        </p:txBody>
      </p:sp>
      <p:sp>
        <p:nvSpPr>
          <p:cNvPr id="20" name="">
            <a:extLst xmlns:a="http://schemas.openxmlformats.org/drawingml/2006/main">
              <a:ext uri="{FF2B5EF4-FFF2-40B4-BE49-F238E27FC236}">
                <a16:creationId xmlns:a16="http://schemas.microsoft.com/office/drawing/2014/main" id="{0719E51A-0671-4487-8FC9-5686A27531AC}"/>
              </a:ext>
            </a:extLst>
          </p:cNvPr>
          <p:cNvSpPr>
            <a:spLocks xmlns:a="http://schemas.openxmlformats.org/drawingml/2006/main" noGrp="1"/>
          </p:cNvSpPr>
          <p:nvPr/>
        </p:nvSpPr>
        <p:spPr>
          <a:xfrm xmlns:a="http://schemas.openxmlformats.org/drawingml/2006/main">
            <a:off x="914400" y="7505700"/>
            <a:ext cx="14427200" cy="647700"/>
          </a:xfrm>
          <a:prstGeom xmlns:a="http://schemas.openxmlformats.org/drawingml/2006/main" prst="roundRect">
            <a:avLst>
              <a:gd name="adj" fmla="val 15686"/>
            </a:avLst>
          </a:prstGeom>
          <a:solidFill xmlns:a="http://schemas.openxmlformats.org/drawingml/2006/main">
            <a:srgbClr val="102B28"/>
          </a:solidFill>
          <a:ln xmlns:a="http://schemas.openxmlformats.org/drawingml/2006/main" w="0">
            <a:noFill/>
            <a:prstDash val="solid"/>
          </a:ln>
        </p:spPr>
      </p:sp>
      <p:sp>
        <p:nvSpPr>
          <p:cNvPr id="21" name="Segmento prepara e collega le evidenze; emissione e ">
            <a:extLst xmlns:a="http://schemas.openxmlformats.org/drawingml/2006/main">
              <a:ext uri="{FF2B5EF4-FFF2-40B4-BE49-F238E27FC236}">
                <a16:creationId xmlns:a16="http://schemas.microsoft.com/office/drawing/2014/main" id="{B1FDAFBF-B206-4F6F-80AE-78D8BC689F8F}"/>
              </a:ext>
            </a:extLst>
          </p:cNvPr>
          <p:cNvSpPr>
            <a:spLocks xmlns:a="http://schemas.openxmlformats.org/drawingml/2006/main" noGrp="1"/>
          </p:cNvSpPr>
          <p:nvPr/>
        </p:nvSpPr>
        <p:spPr>
          <a:xfrm xmlns:a="http://schemas.openxmlformats.org/drawingml/2006/main">
            <a:off x="1168400" y="7670800"/>
            <a:ext cx="139192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1">
                <a:solidFill>
                  <a:srgbClr val="F4F4E9"/>
                </a:solidFill>
                <a:latin typeface="Liberation Sans"/>
                <a:ea typeface="Liberation Sans"/>
                <a:cs typeface="Liberation Sans"/>
              </a:defRPr>
            </a:defPPr>
          </a:lstStyle>
          <a:p xmlns:a="http://schemas.openxmlformats.org/drawingml/2006/main">
            <a:pPr>
              <a:lnSpc>
                <a:spcPct val="108000"/>
              </a:lnSpc>
              <a:buNone/>
              <a:defRPr sz="1900" b="1">
                <a:solidFill>
                  <a:srgbClr val="F4F4E9"/>
                </a:solidFill>
                <a:latin typeface="Liberation Sans"/>
                <a:ea typeface="Liberation Sans"/>
                <a:cs typeface="Liberation Sans"/>
              </a:defRPr>
            </a:pPr>
            <a:r>
              <a:rPr sz="1900" b="1">
                <a:solidFill>
                  <a:srgbClr val="F4F4E9"/>
                </a:solidFill>
                <a:latin typeface="Liberation Sans"/>
                <a:ea typeface="Liberation Sans"/>
                <a:cs typeface="Liberation Sans"/>
              </a:rPr>
              <a:t>Segmento prepara e collega le evidenze; emissione e riconoscimento competono al programma.</a:t>
            </a:r>
          </a:p>
        </p:txBody>
      </p:sp>
    </p:spTree>
    <p:extLst>
      <p:ext uri="{BB962C8B-B14F-4D97-AF65-F5344CB8AC3E}">
        <p14:creationId xmlns:p14="http://schemas.microsoft.com/office/powerpoint/2010/main" val="1025679636"/>
      </p:ext>
    </p:extLst>
  </p:cSld>
</p:sld>
</file>

<file path=ppt/slides/slide11.xml><?xml version="1.0" encoding="utf-8"?>
<p:sld xmlns:p="http://schemas.openxmlformats.org/presentationml/2006/main">
  <p:cSld>
    <p:bg>
      <p:bgPr>
        <a:solidFill xmlns:a="http://schemas.openxmlformats.org/drawingml/2006/main">
          <a:srgbClr val="09191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B7608DE-EA7A-425A-8B3C-DC51C4B28597}"/>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7E7F22B1-FD8C-4A39-A0B9-2AD0D0906041}"/>
              </a:ext>
            </a:extLst>
          </p:cNvPr>
          <p:cNvPicPr>
            <a:picLocks xmlns:a="http://schemas.openxmlformats.org/drawingml/2006/main" noChangeAspect="1"/>
          </p:cNvPicPr>
          <p:nvPr/>
        </p:nvPicPr>
        <p:blipFill>
          <a:blip xmlns:r="http://schemas.openxmlformats.org/officeDocument/2006/relationships" xmlns:a="http://schemas.openxmlformats.org/drawingml/2006/main" r:embed="R50debc5a65e74933"/>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1990FE9-2B81-4124-8B56-5D339F7F74EA}"/>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A0E71E56-A397-4A78-8300-BFAC05663C21}"/>
              </a:ext>
            </a:extLst>
          </p:cNvPr>
          <p:cNvPicPr>
            <a:picLocks xmlns:a="http://schemas.openxmlformats.org/drawingml/2006/main" noChangeAspect="1"/>
          </p:cNvPicPr>
          <p:nvPr/>
        </p:nvPicPr>
        <p:blipFill>
          <a:blip xmlns:r="http://schemas.openxmlformats.org/officeDocument/2006/relationships" xmlns:a="http://schemas.openxmlformats.org/drawingml/2006/main" r:embed="R75bb90baec4f45d1"/>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TOKENIZZAZIONE · DIRITTI E REGISTRO">
            <a:extLst xmlns:a="http://schemas.openxmlformats.org/drawingml/2006/main">
              <a:ext uri="{FF2B5EF4-FFF2-40B4-BE49-F238E27FC236}">
                <a16:creationId xmlns:a16="http://schemas.microsoft.com/office/drawing/2014/main" id="{7BAA467E-086B-46B0-9705-48C256B4BBE0}"/>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TOKENIZZAZIONE · DIRITTI E REGISTRO</a:t>
            </a:r>
          </a:p>
        </p:txBody>
      </p:sp>
      <p:sp>
        <p:nvSpPr>
          <p:cNvPr id="6" name="Ogni token mantiene&#10;il legame con il credito">
            <a:extLst xmlns:a="http://schemas.openxmlformats.org/drawingml/2006/main">
              <a:ext uri="{FF2B5EF4-FFF2-40B4-BE49-F238E27FC236}">
                <a16:creationId xmlns:a16="http://schemas.microsoft.com/office/drawing/2014/main" id="{83546A69-19B6-4FC0-92F9-6E0B3B9F55CC}"/>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4F4E9"/>
                </a:solidFill>
                <a:latin typeface="Liberation Sans"/>
                <a:ea typeface="Liberation Sans"/>
                <a:cs typeface="Liberation Sans"/>
              </a:defRPr>
            </a:defPPr>
          </a:lstStyle>
          <a:p xmlns:a="http://schemas.openxmlformats.org/drawingml/2006/main">
            <a:pPr>
              <a:lnSpc>
                <a:spcPct val="90000"/>
              </a:lnSpc>
              <a:buNone/>
              <a:defRPr sz="4800" b="1">
                <a:solidFill>
                  <a:srgbClr val="F4F4E9"/>
                </a:solidFill>
                <a:latin typeface="Liberation Sans"/>
                <a:ea typeface="Liberation Sans"/>
                <a:cs typeface="Liberation Sans"/>
              </a:defRPr>
            </a:pPr>
            <a:r>
              <a:rPr sz="4800" b="1">
                <a:solidFill>
                  <a:srgbClr val="F4F4E9"/>
                </a:solidFill>
                <a:latin typeface="Liberation Sans"/>
                <a:ea typeface="Liberation Sans"/>
                <a:cs typeface="Liberation Sans"/>
              </a:rPr>
              <a:t>Ogni token mantiene</a:t>
            </a:r>
          </a:p>
          <a:p xmlns:a="http://schemas.openxmlformats.org/drawingml/2006/main">
            <a:pPr>
              <a:lnSpc>
                <a:spcPct val="90000"/>
              </a:lnSpc>
              <a:buNone/>
              <a:defRPr sz="4800" b="1">
                <a:solidFill>
                  <a:srgbClr val="F4F4E9"/>
                </a:solidFill>
                <a:latin typeface="Liberation Sans"/>
                <a:ea typeface="Liberation Sans"/>
                <a:cs typeface="Liberation Sans"/>
              </a:defRPr>
            </a:pPr>
            <a:r>
              <a:rPr sz="4800" b="1">
                <a:solidFill>
                  <a:srgbClr val="F4F4E9"/>
                </a:solidFill>
                <a:latin typeface="Liberation Sans"/>
                <a:ea typeface="Liberation Sans"/>
                <a:cs typeface="Liberation Sans"/>
              </a:rPr>
              <a:t>il legame con il credito</a:t>
            </a:r>
          </a:p>
        </p:txBody>
      </p:sp>
      <p:sp>
        <p:nvSpPr>
          <p:cNvPr id="7" name="L’eventuale tokenizzazione rappresenta crediti emess">
            <a:extLst xmlns:a="http://schemas.openxmlformats.org/drawingml/2006/main">
              <a:ext uri="{FF2B5EF4-FFF2-40B4-BE49-F238E27FC236}">
                <a16:creationId xmlns:a16="http://schemas.microsoft.com/office/drawing/2014/main" id="{6069495C-071E-4556-A268-7B6DB3BDED05}"/>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L’eventuale tokenizzazione rappresenta crediti emessi, identificati e disponibili, se il registro la consente.</a:t>
            </a:r>
          </a:p>
        </p:txBody>
      </p:sp>
      <p:sp>
        <p:nvSpPr>
          <p:cNvPr id="8" name="">
            <a:extLst xmlns:a="http://schemas.openxmlformats.org/drawingml/2006/main">
              <a:ext uri="{FF2B5EF4-FFF2-40B4-BE49-F238E27FC236}">
                <a16:creationId xmlns:a16="http://schemas.microsoft.com/office/drawing/2014/main" id="{707D553B-1515-48B4-94DE-2D840AE72B77}"/>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486B5D"/>
            </a:solidFill>
            <a:prstDash val="solid"/>
          </a:ln>
        </p:spPr>
      </p:sp>
      <p:sp>
        <p:nvSpPr>
          <p:cNvPr id="9" name="Modulo eventuale: regole del programma, accordi e in">
            <a:extLst xmlns:a="http://schemas.openxmlformats.org/drawingml/2006/main">
              <a:ext uri="{FF2B5EF4-FFF2-40B4-BE49-F238E27FC236}">
                <a16:creationId xmlns:a16="http://schemas.microsoft.com/office/drawing/2014/main" id="{DF22FA1F-A6A3-4C32-BD79-8932AEE11980}"/>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0C4BC"/>
                </a:solidFill>
                <a:latin typeface="Liberation Sans"/>
                <a:ea typeface="Liberation Sans"/>
                <a:cs typeface="Liberation Sans"/>
              </a:defRPr>
            </a:defPPr>
          </a:lstStyle>
          <a:p xmlns:a="http://schemas.openxmlformats.org/drawingml/2006/main">
            <a:pPr>
              <a:lnSpc>
                <a:spcPct val="108000"/>
              </a:lnSpc>
              <a:buNone/>
              <a:defRPr sz="1200" b="0">
                <a:solidFill>
                  <a:srgbClr val="B0C4BC"/>
                </a:solidFill>
                <a:latin typeface="Liberation Sans"/>
                <a:ea typeface="Liberation Sans"/>
                <a:cs typeface="Liberation Sans"/>
              </a:defRPr>
            </a:pPr>
            <a:r>
              <a:rPr sz="1200" b="0">
                <a:solidFill>
                  <a:srgbClr val="B0C4BC"/>
                </a:solidFill>
                <a:latin typeface="Liberation Sans"/>
                <a:ea typeface="Liberation Sans"/>
                <a:cs typeface="Liberation Sans"/>
              </a:rPr>
              <a:t>Modulo eventuale: regole del programma, accordi e inquadramento normativo da definire.</a:t>
            </a:r>
          </a:p>
        </p:txBody>
      </p:sp>
      <p:sp>
        <p:nvSpPr>
          <p:cNvPr id="10" name="11 / 13">
            <a:extLst xmlns:a="http://schemas.openxmlformats.org/drawingml/2006/main">
              <a:ext uri="{FF2B5EF4-FFF2-40B4-BE49-F238E27FC236}">
                <a16:creationId xmlns:a16="http://schemas.microsoft.com/office/drawing/2014/main" id="{C11BDF4F-EC38-4E7C-B854-BA5A2A345F33}"/>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11 / 13</a:t>
            </a:r>
          </a:p>
        </p:txBody>
      </p:sp>
      <p:sp>
        <p:nvSpPr>
          <p:cNvPr id="11" name="Rappresentazione">
            <a:extLst xmlns:a="http://schemas.openxmlformats.org/drawingml/2006/main">
              <a:ext uri="{FF2B5EF4-FFF2-40B4-BE49-F238E27FC236}">
                <a16:creationId xmlns:a16="http://schemas.microsoft.com/office/drawing/2014/main" id="{8AD849F1-A391-4BDD-B12A-4C627511BD8F}"/>
              </a:ext>
            </a:extLst>
          </p:cNvPr>
          <p:cNvSpPr>
            <a:spLocks xmlns:a="http://schemas.openxmlformats.org/drawingml/2006/main" noGrp="1"/>
          </p:cNvSpPr>
          <p:nvPr/>
        </p:nvSpPr>
        <p:spPr>
          <a:xfrm xmlns:a="http://schemas.openxmlformats.org/drawingml/2006/main">
            <a:off x="914400" y="4343400"/>
            <a:ext cx="42799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C8F67C"/>
                </a:solidFill>
                <a:latin typeface="Liberation Sans"/>
                <a:ea typeface="Liberation Sans"/>
                <a:cs typeface="Liberation Sans"/>
              </a:defRPr>
            </a:defPPr>
          </a:lstStyle>
          <a:p xmlns:a="http://schemas.openxmlformats.org/drawingml/2006/main">
            <a:pPr>
              <a:lnSpc>
                <a:spcPct val="108000"/>
              </a:lnSpc>
              <a:buNone/>
              <a:defRPr sz="2700" b="1">
                <a:solidFill>
                  <a:srgbClr val="C8F67C"/>
                </a:solidFill>
                <a:latin typeface="Liberation Sans"/>
                <a:ea typeface="Liberation Sans"/>
                <a:cs typeface="Liberation Sans"/>
              </a:defRPr>
            </a:pPr>
            <a:r>
              <a:rPr sz="2700" b="1">
                <a:solidFill>
                  <a:srgbClr val="C8F67C"/>
                </a:solidFill>
                <a:latin typeface="Liberation Sans"/>
                <a:ea typeface="Liberation Sans"/>
                <a:cs typeface="Liberation Sans"/>
              </a:rPr>
              <a:t>Rappresentazione</a:t>
            </a:r>
          </a:p>
        </p:txBody>
      </p:sp>
      <p:sp>
        <p:nvSpPr>
          <p:cNvPr id="12" name="Credito, identificativo, quantità e diritto del tito">
            <a:extLst xmlns:a="http://schemas.openxmlformats.org/drawingml/2006/main">
              <a:ext uri="{FF2B5EF4-FFF2-40B4-BE49-F238E27FC236}">
                <a16:creationId xmlns:a16="http://schemas.microsoft.com/office/drawing/2014/main" id="{0B64A295-2097-4DB9-8895-0B551D3F95BF}"/>
              </a:ext>
            </a:extLst>
          </p:cNvPr>
          <p:cNvSpPr>
            <a:spLocks xmlns:a="http://schemas.openxmlformats.org/drawingml/2006/main" noGrp="1"/>
          </p:cNvSpPr>
          <p:nvPr/>
        </p:nvSpPr>
        <p:spPr>
          <a:xfrm xmlns:a="http://schemas.openxmlformats.org/drawingml/2006/main">
            <a:off x="5384800" y="4368800"/>
            <a:ext cx="9956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F4F4E9"/>
                </a:solidFill>
                <a:latin typeface="Liberation Sans"/>
                <a:ea typeface="Liberation Sans"/>
                <a:cs typeface="Liberation Sans"/>
              </a:defRPr>
            </a:defPPr>
          </a:lstStyle>
          <a:p xmlns:a="http://schemas.openxmlformats.org/drawingml/2006/main">
            <a:pPr>
              <a:lnSpc>
                <a:spcPct val="108000"/>
              </a:lnSpc>
              <a:buNone/>
              <a:defRPr sz="2200" b="0">
                <a:solidFill>
                  <a:srgbClr val="F4F4E9"/>
                </a:solidFill>
                <a:latin typeface="Liberation Sans"/>
                <a:ea typeface="Liberation Sans"/>
                <a:cs typeface="Liberation Sans"/>
              </a:defRPr>
            </a:pPr>
            <a:r>
              <a:rPr sz="2200" b="0">
                <a:solidFill>
                  <a:srgbClr val="F4F4E9"/>
                </a:solidFill>
                <a:latin typeface="Liberation Sans"/>
                <a:ea typeface="Liberation Sans"/>
                <a:cs typeface="Liberation Sans"/>
              </a:rPr>
              <a:t>Credito, identificativo, quantità e diritto del titolare collegati.</a:t>
            </a:r>
          </a:p>
        </p:txBody>
      </p:sp>
      <p:sp>
        <p:nvSpPr>
          <p:cNvPr id="13" name="">
            <a:extLst xmlns:a="http://schemas.openxmlformats.org/drawingml/2006/main">
              <a:ext uri="{FF2B5EF4-FFF2-40B4-BE49-F238E27FC236}">
                <a16:creationId xmlns:a16="http://schemas.microsoft.com/office/drawing/2014/main" id="{904CA748-96AB-4B6F-A66E-96A68AA366DE}"/>
              </a:ext>
            </a:extLst>
          </p:cNvPr>
          <p:cNvSpPr>
            <a:spLocks xmlns:a="http://schemas.openxmlformats.org/drawingml/2006/main" noGrp="1"/>
          </p:cNvSpPr>
          <p:nvPr/>
        </p:nvSpPr>
        <p:spPr>
          <a:xfrm xmlns:a="http://schemas.openxmlformats.org/drawingml/2006/main">
            <a:off x="914400" y="5143500"/>
            <a:ext cx="14427200" cy="0"/>
          </a:xfrm>
          <a:prstGeom xmlns:a="http://schemas.openxmlformats.org/drawingml/2006/main" prst="line">
            <a:avLst/>
          </a:prstGeom>
          <a:noFill xmlns:a="http://schemas.openxmlformats.org/drawingml/2006/main"/>
          <a:ln xmlns:a="http://schemas.openxmlformats.org/drawingml/2006/main" w="8255">
            <a:solidFill>
              <a:srgbClr val="385B50"/>
            </a:solidFill>
            <a:prstDash val="solid"/>
          </a:ln>
        </p:spPr>
      </p:sp>
      <p:sp>
        <p:nvSpPr>
          <p:cNvPr id="14" name="Circolazione">
            <a:extLst xmlns:a="http://schemas.openxmlformats.org/drawingml/2006/main">
              <a:ext uri="{FF2B5EF4-FFF2-40B4-BE49-F238E27FC236}">
                <a16:creationId xmlns:a16="http://schemas.microsoft.com/office/drawing/2014/main" id="{D31F5129-E765-436C-98C2-0D3C0B117C5D}"/>
              </a:ext>
            </a:extLst>
          </p:cNvPr>
          <p:cNvSpPr>
            <a:spLocks xmlns:a="http://schemas.openxmlformats.org/drawingml/2006/main" noGrp="1"/>
          </p:cNvSpPr>
          <p:nvPr/>
        </p:nvSpPr>
        <p:spPr>
          <a:xfrm xmlns:a="http://schemas.openxmlformats.org/drawingml/2006/main">
            <a:off x="914400" y="5321300"/>
            <a:ext cx="42799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C8F67C"/>
                </a:solidFill>
                <a:latin typeface="Liberation Sans"/>
                <a:ea typeface="Liberation Sans"/>
                <a:cs typeface="Liberation Sans"/>
              </a:defRPr>
            </a:defPPr>
          </a:lstStyle>
          <a:p xmlns:a="http://schemas.openxmlformats.org/drawingml/2006/main">
            <a:pPr>
              <a:lnSpc>
                <a:spcPct val="108000"/>
              </a:lnSpc>
              <a:buNone/>
              <a:defRPr sz="2700" b="1">
                <a:solidFill>
                  <a:srgbClr val="C8F67C"/>
                </a:solidFill>
                <a:latin typeface="Liberation Sans"/>
                <a:ea typeface="Liberation Sans"/>
                <a:cs typeface="Liberation Sans"/>
              </a:defRPr>
            </a:pPr>
            <a:r>
              <a:rPr sz="2700" b="1">
                <a:solidFill>
                  <a:srgbClr val="C8F67C"/>
                </a:solidFill>
                <a:latin typeface="Liberation Sans"/>
                <a:ea typeface="Liberation Sans"/>
                <a:cs typeface="Liberation Sans"/>
              </a:rPr>
              <a:t>Circolazione</a:t>
            </a:r>
          </a:p>
        </p:txBody>
      </p:sp>
      <p:sp>
        <p:nvSpPr>
          <p:cNvPr id="15" name="Trasferimenti autorizzati e coerenti con il registro">
            <a:extLst xmlns:a="http://schemas.openxmlformats.org/drawingml/2006/main">
              <a:ext uri="{FF2B5EF4-FFF2-40B4-BE49-F238E27FC236}">
                <a16:creationId xmlns:a16="http://schemas.microsoft.com/office/drawing/2014/main" id="{9066CCF8-9CE5-49A8-8258-761F10BA6950}"/>
              </a:ext>
            </a:extLst>
          </p:cNvPr>
          <p:cNvSpPr>
            <a:spLocks xmlns:a="http://schemas.openxmlformats.org/drawingml/2006/main" noGrp="1"/>
          </p:cNvSpPr>
          <p:nvPr/>
        </p:nvSpPr>
        <p:spPr>
          <a:xfrm xmlns:a="http://schemas.openxmlformats.org/drawingml/2006/main">
            <a:off x="5384800" y="5346700"/>
            <a:ext cx="9956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F4F4E9"/>
                </a:solidFill>
                <a:latin typeface="Liberation Sans"/>
                <a:ea typeface="Liberation Sans"/>
                <a:cs typeface="Liberation Sans"/>
              </a:defRPr>
            </a:defPPr>
          </a:lstStyle>
          <a:p xmlns:a="http://schemas.openxmlformats.org/drawingml/2006/main">
            <a:pPr>
              <a:lnSpc>
                <a:spcPct val="108000"/>
              </a:lnSpc>
              <a:buNone/>
              <a:defRPr sz="2200" b="0">
                <a:solidFill>
                  <a:srgbClr val="F4F4E9"/>
                </a:solidFill>
                <a:latin typeface="Liberation Sans"/>
                <a:ea typeface="Liberation Sans"/>
                <a:cs typeface="Liberation Sans"/>
              </a:defRPr>
            </a:pPr>
            <a:r>
              <a:rPr sz="2200" b="0">
                <a:solidFill>
                  <a:srgbClr val="F4F4E9"/>
                </a:solidFill>
                <a:latin typeface="Liberation Sans"/>
                <a:ea typeface="Liberation Sans"/>
                <a:cs typeface="Liberation Sans"/>
              </a:rPr>
              <a:t>Trasferimenti autorizzati e coerenti con il registro di riferimento.</a:t>
            </a:r>
          </a:p>
        </p:txBody>
      </p:sp>
      <p:sp>
        <p:nvSpPr>
          <p:cNvPr id="16" name="">
            <a:extLst xmlns:a="http://schemas.openxmlformats.org/drawingml/2006/main">
              <a:ext uri="{FF2B5EF4-FFF2-40B4-BE49-F238E27FC236}">
                <a16:creationId xmlns:a16="http://schemas.microsoft.com/office/drawing/2014/main" id="{17E5216D-828E-4769-A56C-E22B793FD82A}"/>
              </a:ext>
            </a:extLst>
          </p:cNvPr>
          <p:cNvSpPr>
            <a:spLocks xmlns:a="http://schemas.openxmlformats.org/drawingml/2006/main" noGrp="1"/>
          </p:cNvSpPr>
          <p:nvPr/>
        </p:nvSpPr>
        <p:spPr>
          <a:xfrm xmlns:a="http://schemas.openxmlformats.org/drawingml/2006/main">
            <a:off x="914400" y="6121400"/>
            <a:ext cx="14427200" cy="0"/>
          </a:xfrm>
          <a:prstGeom xmlns:a="http://schemas.openxmlformats.org/drawingml/2006/main" prst="line">
            <a:avLst/>
          </a:prstGeom>
          <a:noFill xmlns:a="http://schemas.openxmlformats.org/drawingml/2006/main"/>
          <a:ln xmlns:a="http://schemas.openxmlformats.org/drawingml/2006/main" w="8255">
            <a:solidFill>
              <a:srgbClr val="385B50"/>
            </a:solidFill>
            <a:prstDash val="solid"/>
          </a:ln>
        </p:spPr>
      </p:sp>
      <p:sp>
        <p:nvSpPr>
          <p:cNvPr id="17" name="Ritiro definitivo">
            <a:extLst xmlns:a="http://schemas.openxmlformats.org/drawingml/2006/main">
              <a:ext uri="{FF2B5EF4-FFF2-40B4-BE49-F238E27FC236}">
                <a16:creationId xmlns:a16="http://schemas.microsoft.com/office/drawing/2014/main" id="{0B62F03D-D103-438D-855F-24F223750691}"/>
              </a:ext>
            </a:extLst>
          </p:cNvPr>
          <p:cNvSpPr>
            <a:spLocks xmlns:a="http://schemas.openxmlformats.org/drawingml/2006/main" noGrp="1"/>
          </p:cNvSpPr>
          <p:nvPr/>
        </p:nvSpPr>
        <p:spPr>
          <a:xfrm xmlns:a="http://schemas.openxmlformats.org/drawingml/2006/main">
            <a:off x="914400" y="6299200"/>
            <a:ext cx="42799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C8F67C"/>
                </a:solidFill>
                <a:latin typeface="Liberation Sans"/>
                <a:ea typeface="Liberation Sans"/>
                <a:cs typeface="Liberation Sans"/>
              </a:defRPr>
            </a:defPPr>
          </a:lstStyle>
          <a:p xmlns:a="http://schemas.openxmlformats.org/drawingml/2006/main">
            <a:pPr>
              <a:lnSpc>
                <a:spcPct val="108000"/>
              </a:lnSpc>
              <a:buNone/>
              <a:defRPr sz="2700" b="1">
                <a:solidFill>
                  <a:srgbClr val="C8F67C"/>
                </a:solidFill>
                <a:latin typeface="Liberation Sans"/>
                <a:ea typeface="Liberation Sans"/>
                <a:cs typeface="Liberation Sans"/>
              </a:defRPr>
            </a:pPr>
            <a:r>
              <a:rPr sz="2700" b="1">
                <a:solidFill>
                  <a:srgbClr val="C8F67C"/>
                </a:solidFill>
                <a:latin typeface="Liberation Sans"/>
                <a:ea typeface="Liberation Sans"/>
                <a:cs typeface="Liberation Sans"/>
              </a:rPr>
              <a:t>Ritiro definitivo</a:t>
            </a:r>
          </a:p>
        </p:txBody>
      </p:sp>
      <p:sp>
        <p:nvSpPr>
          <p:cNvPr id="18" name="Quando il beneficio è utilizzato, la quota non circo">
            <a:extLst xmlns:a="http://schemas.openxmlformats.org/drawingml/2006/main">
              <a:ext uri="{FF2B5EF4-FFF2-40B4-BE49-F238E27FC236}">
                <a16:creationId xmlns:a16="http://schemas.microsoft.com/office/drawing/2014/main" id="{95417998-C0C2-4340-BCEB-5F8A42061BEA}"/>
              </a:ext>
            </a:extLst>
          </p:cNvPr>
          <p:cNvSpPr>
            <a:spLocks xmlns:a="http://schemas.openxmlformats.org/drawingml/2006/main" noGrp="1"/>
          </p:cNvSpPr>
          <p:nvPr/>
        </p:nvSpPr>
        <p:spPr>
          <a:xfrm xmlns:a="http://schemas.openxmlformats.org/drawingml/2006/main">
            <a:off x="5384800" y="6324600"/>
            <a:ext cx="9956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F4F4E9"/>
                </a:solidFill>
                <a:latin typeface="Liberation Sans"/>
                <a:ea typeface="Liberation Sans"/>
                <a:cs typeface="Liberation Sans"/>
              </a:defRPr>
            </a:defPPr>
          </a:lstStyle>
          <a:p xmlns:a="http://schemas.openxmlformats.org/drawingml/2006/main">
            <a:pPr>
              <a:lnSpc>
                <a:spcPct val="108000"/>
              </a:lnSpc>
              <a:buNone/>
              <a:defRPr sz="2200" b="0">
                <a:solidFill>
                  <a:srgbClr val="F4F4E9"/>
                </a:solidFill>
                <a:latin typeface="Liberation Sans"/>
                <a:ea typeface="Liberation Sans"/>
                <a:cs typeface="Liberation Sans"/>
              </a:defRPr>
            </a:pPr>
            <a:r>
              <a:rPr sz="2200" b="0">
                <a:solidFill>
                  <a:srgbClr val="F4F4E9"/>
                </a:solidFill>
                <a:latin typeface="Liberation Sans"/>
                <a:ea typeface="Liberation Sans"/>
                <a:cs typeface="Liberation Sans"/>
              </a:rPr>
              <a:t>Quando il beneficio è utilizzato, la quota non circola più.</a:t>
            </a:r>
          </a:p>
        </p:txBody>
      </p:sp>
      <p:sp>
        <p:nvSpPr>
          <p:cNvPr id="19" name="">
            <a:extLst xmlns:a="http://schemas.openxmlformats.org/drawingml/2006/main">
              <a:ext uri="{FF2B5EF4-FFF2-40B4-BE49-F238E27FC236}">
                <a16:creationId xmlns:a16="http://schemas.microsoft.com/office/drawing/2014/main" id="{62C667A7-CF4C-4DAE-9340-CBC21A916B03}"/>
              </a:ext>
            </a:extLst>
          </p:cNvPr>
          <p:cNvSpPr>
            <a:spLocks xmlns:a="http://schemas.openxmlformats.org/drawingml/2006/main" noGrp="1"/>
          </p:cNvSpPr>
          <p:nvPr/>
        </p:nvSpPr>
        <p:spPr>
          <a:xfrm xmlns:a="http://schemas.openxmlformats.org/drawingml/2006/main">
            <a:off x="914400" y="7620000"/>
            <a:ext cx="144272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sp>
        <p:nvSpPr>
          <p:cNvPr id="20" name="Il sistema deve prevenire emissioni duplicate e dopp">
            <a:extLst xmlns:a="http://schemas.openxmlformats.org/drawingml/2006/main">
              <a:ext uri="{FF2B5EF4-FFF2-40B4-BE49-F238E27FC236}">
                <a16:creationId xmlns:a16="http://schemas.microsoft.com/office/drawing/2014/main" id="{98337F81-AD6F-43D7-8493-B2A3E4772668}"/>
              </a:ext>
            </a:extLst>
          </p:cNvPr>
          <p:cNvSpPr>
            <a:spLocks xmlns:a="http://schemas.openxmlformats.org/drawingml/2006/main" noGrp="1"/>
          </p:cNvSpPr>
          <p:nvPr/>
        </p:nvSpPr>
        <p:spPr>
          <a:xfrm xmlns:a="http://schemas.openxmlformats.org/drawingml/2006/main">
            <a:off x="1168400" y="7785100"/>
            <a:ext cx="139192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1">
                <a:solidFill>
                  <a:srgbClr val="F4F4E9"/>
                </a:solidFill>
                <a:latin typeface="Liberation Sans"/>
                <a:ea typeface="Liberation Sans"/>
                <a:cs typeface="Liberation Sans"/>
              </a:defRPr>
            </a:defPPr>
          </a:lstStyle>
          <a:p xmlns:a="http://schemas.openxmlformats.org/drawingml/2006/main">
            <a:pPr>
              <a:lnSpc>
                <a:spcPct val="108000"/>
              </a:lnSpc>
              <a:buNone/>
              <a:defRPr sz="1900" b="1">
                <a:solidFill>
                  <a:srgbClr val="F4F4E9"/>
                </a:solidFill>
                <a:latin typeface="Liberation Sans"/>
                <a:ea typeface="Liberation Sans"/>
                <a:cs typeface="Liberation Sans"/>
              </a:defRPr>
            </a:pPr>
            <a:r>
              <a:rPr sz="1900" b="1">
                <a:solidFill>
                  <a:srgbClr val="F4F4E9"/>
                </a:solidFill>
                <a:latin typeface="Liberation Sans"/>
                <a:ea typeface="Liberation Sans"/>
                <a:cs typeface="Liberation Sans"/>
              </a:rPr>
              <a:t>Il sistema deve prevenire emissioni duplicate e doppio utilizzo tra registro e token.</a:t>
            </a:r>
          </a:p>
        </p:txBody>
      </p:sp>
    </p:spTree>
    <p:extLst>
      <p:ext uri="{BB962C8B-B14F-4D97-AF65-F5344CB8AC3E}">
        <p14:creationId xmlns:p14="http://schemas.microsoft.com/office/powerpoint/2010/main" val="540577817"/>
      </p:ext>
    </p:extLst>
  </p:cSld>
</p:sld>
</file>

<file path=ppt/slides/slide12.xml><?xml version="1.0" encoding="utf-8"?>
<p:sld xmlns:p="http://schemas.openxmlformats.org/presentationml/2006/main">
  <p:cSld>
    <p:bg>
      <p:bgPr>
        <a:solidFill xmlns:a="http://schemas.openxmlformats.org/drawingml/2006/main">
          <a:srgbClr val="F0F1E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52D2D0B-3D5B-48E9-B69C-37D91D84DFBE}"/>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904193E6-92C9-46A8-9073-78EC6B43ACA7}"/>
              </a:ext>
            </a:extLst>
          </p:cNvPr>
          <p:cNvPicPr>
            <a:picLocks xmlns:a="http://schemas.openxmlformats.org/drawingml/2006/main" noChangeAspect="1"/>
          </p:cNvPicPr>
          <p:nvPr/>
        </p:nvPicPr>
        <p:blipFill>
          <a:blip xmlns:r="http://schemas.openxmlformats.org/officeDocument/2006/relationships" xmlns:a="http://schemas.openxmlformats.org/drawingml/2006/main" r:embed="R5a27f0512d0e4368"/>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AC31F0C-1919-437C-9A88-2848E092E8A0}"/>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81615CAD-4D6E-4D99-9359-E63A191FD68A}"/>
              </a:ext>
            </a:extLst>
          </p:cNvPr>
          <p:cNvPicPr>
            <a:picLocks xmlns:a="http://schemas.openxmlformats.org/drawingml/2006/main" noChangeAspect="1"/>
          </p:cNvPicPr>
          <p:nvPr/>
        </p:nvPicPr>
        <p:blipFill>
          <a:blip xmlns:r="http://schemas.openxmlformats.org/officeDocument/2006/relationships" xmlns:a="http://schemas.openxmlformats.org/drawingml/2006/main" r:embed="Rfa8dfe6a8db84b18"/>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IL SERVIZIO E LA SUA VALORIZZAZIONE">
            <a:extLst xmlns:a="http://schemas.openxmlformats.org/drawingml/2006/main">
              <a:ext uri="{FF2B5EF4-FFF2-40B4-BE49-F238E27FC236}">
                <a16:creationId xmlns:a16="http://schemas.microsoft.com/office/drawing/2014/main" id="{FB6ABE90-2137-446F-9B24-1531C355A2DE}"/>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IL SERVIZIO E LA SUA VALORIZZAZIONE</a:t>
            </a:r>
          </a:p>
        </p:txBody>
      </p:sp>
      <p:sp>
        <p:nvSpPr>
          <p:cNvPr id="6" name="Ruoli chiari,&#10;valore per la filiera">
            <a:extLst xmlns:a="http://schemas.openxmlformats.org/drawingml/2006/main">
              <a:ext uri="{FF2B5EF4-FFF2-40B4-BE49-F238E27FC236}">
                <a16:creationId xmlns:a16="http://schemas.microsoft.com/office/drawing/2014/main" id="{5447E945-9A2E-4696-9A95-FF9724674980}"/>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02B28"/>
                </a:solidFill>
                <a:latin typeface="Liberation Sans"/>
                <a:ea typeface="Liberation Sans"/>
                <a:cs typeface="Liberation Sans"/>
              </a:defRPr>
            </a:defPPr>
          </a:lstStyle>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Ruoli chiari,</a:t>
            </a:r>
          </a:p>
          <a:p xmlns:a="http://schemas.openxmlformats.org/drawingml/2006/main">
            <a:pPr>
              <a:lnSpc>
                <a:spcPct val="90000"/>
              </a:lnSpc>
              <a:buNone/>
              <a:defRPr sz="4800" b="1">
                <a:solidFill>
                  <a:srgbClr val="102B28"/>
                </a:solidFill>
                <a:latin typeface="Liberation Sans"/>
                <a:ea typeface="Liberation Sans"/>
                <a:cs typeface="Liberation Sans"/>
              </a:defRPr>
            </a:pPr>
            <a:r>
              <a:rPr sz="4800" b="1">
                <a:solidFill>
                  <a:srgbClr val="102B28"/>
                </a:solidFill>
                <a:latin typeface="Liberation Sans"/>
                <a:ea typeface="Liberation Sans"/>
                <a:cs typeface="Liberation Sans"/>
              </a:rPr>
              <a:t>valore per la filiera</a:t>
            </a:r>
          </a:p>
        </p:txBody>
      </p:sp>
      <p:sp>
        <p:nvSpPr>
          <p:cNvPr id="7" name="La proposta collega Alps Battery, costruttori di mac">
            <a:extLst xmlns:a="http://schemas.openxmlformats.org/drawingml/2006/main">
              <a:ext uri="{FF2B5EF4-FFF2-40B4-BE49-F238E27FC236}">
                <a16:creationId xmlns:a16="http://schemas.microsoft.com/office/drawing/2014/main" id="{17FBC11B-0042-486D-A1AE-71CBE97D7B79}"/>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4F6C62"/>
                </a:solidFill>
                <a:latin typeface="Liberation Sans"/>
                <a:ea typeface="Liberation Sans"/>
                <a:cs typeface="Liberation Sans"/>
              </a:defRPr>
            </a:defPPr>
          </a:lstStyle>
          <a:p xmlns:a="http://schemas.openxmlformats.org/drawingml/2006/main">
            <a:pPr>
              <a:lnSpc>
                <a:spcPct val="108000"/>
              </a:lnSpc>
              <a:buNone/>
              <a:defRPr sz="2200" b="0">
                <a:solidFill>
                  <a:srgbClr val="4F6C62"/>
                </a:solidFill>
                <a:latin typeface="Liberation Sans"/>
                <a:ea typeface="Liberation Sans"/>
                <a:cs typeface="Liberation Sans"/>
              </a:defRPr>
            </a:pPr>
            <a:r>
              <a:rPr sz="2200" b="0">
                <a:solidFill>
                  <a:srgbClr val="4F6C62"/>
                </a:solidFill>
                <a:latin typeface="Liberation Sans"/>
                <a:ea typeface="Liberation Sans"/>
                <a:cs typeface="Liberation Sans"/>
              </a:rPr>
              <a:t>La proposta collega Alps Battery, costruttori di macchine e partner intorno alla storia del prodotto.</a:t>
            </a:r>
          </a:p>
        </p:txBody>
      </p:sp>
      <p:sp>
        <p:nvSpPr>
          <p:cNvPr id="8" name="">
            <a:extLst xmlns:a="http://schemas.openxmlformats.org/drawingml/2006/main">
              <a:ext uri="{FF2B5EF4-FFF2-40B4-BE49-F238E27FC236}">
                <a16:creationId xmlns:a16="http://schemas.microsoft.com/office/drawing/2014/main" id="{8A3529D4-677C-4114-A42A-8855C7AE636E}"/>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9" name="Perimetro, responsabilità e modello commerciale da c">
            <a:extLst xmlns:a="http://schemas.openxmlformats.org/drawingml/2006/main">
              <a:ext uri="{FF2B5EF4-FFF2-40B4-BE49-F238E27FC236}">
                <a16:creationId xmlns:a16="http://schemas.microsoft.com/office/drawing/2014/main" id="{D5ADCAAE-FFF0-4D54-B786-68565A7E1646}"/>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F6C62"/>
                </a:solidFill>
                <a:latin typeface="Liberation Sans"/>
                <a:ea typeface="Liberation Sans"/>
                <a:cs typeface="Liberation Sans"/>
              </a:defRPr>
            </a:defPPr>
          </a:lstStyle>
          <a:p xmlns:a="http://schemas.openxmlformats.org/drawingml/2006/main">
            <a:pPr>
              <a:lnSpc>
                <a:spcPct val="108000"/>
              </a:lnSpc>
              <a:buNone/>
              <a:defRPr sz="1200" b="0">
                <a:solidFill>
                  <a:srgbClr val="4F6C62"/>
                </a:solidFill>
                <a:latin typeface="Liberation Sans"/>
                <a:ea typeface="Liberation Sans"/>
                <a:cs typeface="Liberation Sans"/>
              </a:defRPr>
            </a:pPr>
            <a:r>
              <a:rPr sz="1200" b="0">
                <a:solidFill>
                  <a:srgbClr val="4F6C62"/>
                </a:solidFill>
                <a:latin typeface="Liberation Sans"/>
                <a:ea typeface="Liberation Sans"/>
                <a:cs typeface="Liberation Sans"/>
              </a:rPr>
              <a:t>Perimetro, responsabilità e modello commerciale da concordare. Eventuali proventi da crediti non sono garantiti.</a:t>
            </a:r>
          </a:p>
        </p:txBody>
      </p:sp>
      <p:sp>
        <p:nvSpPr>
          <p:cNvPr id="10" name="12 / 13">
            <a:extLst xmlns:a="http://schemas.openxmlformats.org/drawingml/2006/main">
              <a:ext uri="{FF2B5EF4-FFF2-40B4-BE49-F238E27FC236}">
                <a16:creationId xmlns:a16="http://schemas.microsoft.com/office/drawing/2014/main" id="{8916F290-ACEF-4B06-95A3-6EB0480BE3A2}"/>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285B40"/>
                </a:solidFill>
                <a:latin typeface="Liberation Sans"/>
                <a:ea typeface="Liberation Sans"/>
                <a:cs typeface="Liberation Sans"/>
              </a:defRPr>
            </a:defPPr>
          </a:lstStyle>
          <a:p xmlns:a="http://schemas.openxmlformats.org/drawingml/2006/main">
            <a:pPr>
              <a:lnSpc>
                <a:spcPct val="108000"/>
              </a:lnSpc>
              <a:buNone/>
              <a:defRPr sz="1300" b="1">
                <a:solidFill>
                  <a:srgbClr val="285B40"/>
                </a:solidFill>
                <a:latin typeface="Liberation Sans"/>
                <a:ea typeface="Liberation Sans"/>
                <a:cs typeface="Liberation Sans"/>
              </a:defRPr>
            </a:pPr>
            <a:r>
              <a:rPr sz="1300" b="1">
                <a:solidFill>
                  <a:srgbClr val="285B40"/>
                </a:solidFill>
                <a:latin typeface="Liberation Sans"/>
                <a:ea typeface="Liberation Sans"/>
                <a:cs typeface="Liberation Sans"/>
              </a:rPr>
              <a:t>12 / 13</a:t>
            </a:r>
          </a:p>
        </p:txBody>
      </p:sp>
      <p:sp>
        <p:nvSpPr>
          <p:cNvPr id="11" name="Alps Battery">
            <a:extLst xmlns:a="http://schemas.openxmlformats.org/drawingml/2006/main">
              <a:ext uri="{FF2B5EF4-FFF2-40B4-BE49-F238E27FC236}">
                <a16:creationId xmlns:a16="http://schemas.microsoft.com/office/drawing/2014/main" id="{BF4F744B-FC2F-41FF-BAB7-06B57E63409B}"/>
              </a:ext>
            </a:extLst>
          </p:cNvPr>
          <p:cNvSpPr>
            <a:spLocks xmlns:a="http://schemas.openxmlformats.org/drawingml/2006/main" noGrp="1"/>
          </p:cNvSpPr>
          <p:nvPr/>
        </p:nvSpPr>
        <p:spPr>
          <a:xfrm xmlns:a="http://schemas.openxmlformats.org/drawingml/2006/main">
            <a:off x="914400" y="4343400"/>
            <a:ext cx="4191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1">
                <a:solidFill>
                  <a:srgbClr val="102B28"/>
                </a:solidFill>
                <a:latin typeface="Liberation Sans"/>
                <a:ea typeface="Liberation Sans"/>
                <a:cs typeface="Liberation Sans"/>
              </a:defRPr>
            </a:defPPr>
          </a:lstStyle>
          <a:p xmlns:a="http://schemas.openxmlformats.org/drawingml/2006/main">
            <a:pPr>
              <a:lnSpc>
                <a:spcPct val="108000"/>
              </a:lnSpc>
              <a:buNone/>
              <a:defRPr sz="2200" b="1">
                <a:solidFill>
                  <a:srgbClr val="102B28"/>
                </a:solidFill>
                <a:latin typeface="Liberation Sans"/>
                <a:ea typeface="Liberation Sans"/>
                <a:cs typeface="Liberation Sans"/>
              </a:defRPr>
            </a:pPr>
            <a:r>
              <a:rPr sz="2200" b="1">
                <a:solidFill>
                  <a:srgbClr val="102B28"/>
                </a:solidFill>
                <a:latin typeface="Liberation Sans"/>
                <a:ea typeface="Liberation Sans"/>
                <a:cs typeface="Liberation Sans"/>
              </a:rPr>
              <a:t>Alps Battery</a:t>
            </a:r>
          </a:p>
        </p:txBody>
      </p:sp>
      <p:sp>
        <p:nvSpPr>
          <p:cNvPr id="12" name="Configurazione, collaudi e dati di prodotto; regole ">
            <a:extLst xmlns:a="http://schemas.openxmlformats.org/drawingml/2006/main">
              <a:ext uri="{FF2B5EF4-FFF2-40B4-BE49-F238E27FC236}">
                <a16:creationId xmlns:a16="http://schemas.microsoft.com/office/drawing/2014/main" id="{20C137B6-5573-4467-B21B-5E8434C9611B}"/>
              </a:ext>
            </a:extLst>
          </p:cNvPr>
          <p:cNvSpPr>
            <a:spLocks xmlns:a="http://schemas.openxmlformats.org/drawingml/2006/main" noGrp="1"/>
          </p:cNvSpPr>
          <p:nvPr/>
        </p:nvSpPr>
        <p:spPr>
          <a:xfrm xmlns:a="http://schemas.openxmlformats.org/drawingml/2006/main">
            <a:off x="5232400" y="4368800"/>
            <a:ext cx="10109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a:solidFill>
                  <a:srgbClr val="102B28"/>
                </a:solidFill>
                <a:latin typeface="Liberation Sans"/>
                <a:ea typeface="Liberation Sans"/>
                <a:cs typeface="Liberation Sans"/>
              </a:defRPr>
            </a:defPPr>
          </a:lstStyle>
          <a:p xmlns:a="http://schemas.openxmlformats.org/drawingml/2006/main">
            <a:pPr>
              <a:lnSpc>
                <a:spcPct val="108000"/>
              </a:lnSpc>
              <a:buNone/>
              <a:defRPr sz="2000" b="0">
                <a:solidFill>
                  <a:srgbClr val="102B28"/>
                </a:solidFill>
                <a:latin typeface="Liberation Sans"/>
                <a:ea typeface="Liberation Sans"/>
                <a:cs typeface="Liberation Sans"/>
              </a:defRPr>
            </a:pPr>
            <a:r>
              <a:rPr sz="2000" b="0">
                <a:solidFill>
                  <a:srgbClr val="102B28"/>
                </a:solidFill>
                <a:latin typeface="Liberation Sans"/>
                <a:ea typeface="Liberation Sans"/>
                <a:cs typeface="Liberation Sans"/>
              </a:rPr>
              <a:t>Configurazione, collaudi e dati di prodotto; regole di accesso e aggiornamento.</a:t>
            </a:r>
          </a:p>
        </p:txBody>
      </p:sp>
      <p:sp>
        <p:nvSpPr>
          <p:cNvPr id="13" name="">
            <a:extLst xmlns:a="http://schemas.openxmlformats.org/drawingml/2006/main">
              <a:ext uri="{FF2B5EF4-FFF2-40B4-BE49-F238E27FC236}">
                <a16:creationId xmlns:a16="http://schemas.microsoft.com/office/drawing/2014/main" id="{8CC3853A-4951-42CE-BBDB-A9C9F79AF1B9}"/>
              </a:ext>
            </a:extLst>
          </p:cNvPr>
          <p:cNvSpPr>
            <a:spLocks xmlns:a="http://schemas.openxmlformats.org/drawingml/2006/main" noGrp="1"/>
          </p:cNvSpPr>
          <p:nvPr/>
        </p:nvSpPr>
        <p:spPr>
          <a:xfrm xmlns:a="http://schemas.openxmlformats.org/drawingml/2006/main">
            <a:off x="914400" y="4927600"/>
            <a:ext cx="1442720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14" name="Costruttori e utilizzatori">
            <a:extLst xmlns:a="http://schemas.openxmlformats.org/drawingml/2006/main">
              <a:ext uri="{FF2B5EF4-FFF2-40B4-BE49-F238E27FC236}">
                <a16:creationId xmlns:a16="http://schemas.microsoft.com/office/drawing/2014/main" id="{C8E68206-698B-4AC8-9ED1-2428169C68DF}"/>
              </a:ext>
            </a:extLst>
          </p:cNvPr>
          <p:cNvSpPr>
            <a:spLocks xmlns:a="http://schemas.openxmlformats.org/drawingml/2006/main" noGrp="1"/>
          </p:cNvSpPr>
          <p:nvPr/>
        </p:nvSpPr>
        <p:spPr>
          <a:xfrm xmlns:a="http://schemas.openxmlformats.org/drawingml/2006/main">
            <a:off x="914400" y="5080000"/>
            <a:ext cx="4191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1">
                <a:solidFill>
                  <a:srgbClr val="102B28"/>
                </a:solidFill>
                <a:latin typeface="Liberation Sans"/>
                <a:ea typeface="Liberation Sans"/>
                <a:cs typeface="Liberation Sans"/>
              </a:defRPr>
            </a:defPPr>
          </a:lstStyle>
          <a:p xmlns:a="http://schemas.openxmlformats.org/drawingml/2006/main">
            <a:pPr>
              <a:lnSpc>
                <a:spcPct val="108000"/>
              </a:lnSpc>
              <a:buNone/>
              <a:defRPr sz="2200" b="1">
                <a:solidFill>
                  <a:srgbClr val="102B28"/>
                </a:solidFill>
                <a:latin typeface="Liberation Sans"/>
                <a:ea typeface="Liberation Sans"/>
                <a:cs typeface="Liberation Sans"/>
              </a:defRPr>
            </a:pPr>
            <a:r>
              <a:rPr sz="2200" b="1">
                <a:solidFill>
                  <a:srgbClr val="102B28"/>
                </a:solidFill>
                <a:latin typeface="Liberation Sans"/>
                <a:ea typeface="Liberation Sans"/>
                <a:cs typeface="Liberation Sans"/>
              </a:rPr>
              <a:t>Costruttori e utilizzatori</a:t>
            </a:r>
          </a:p>
        </p:txBody>
      </p:sp>
      <p:sp>
        <p:nvSpPr>
          <p:cNvPr id="15" name="Dati d’impiego e interventi, nei limiti degli accord">
            <a:extLst xmlns:a="http://schemas.openxmlformats.org/drawingml/2006/main">
              <a:ext uri="{FF2B5EF4-FFF2-40B4-BE49-F238E27FC236}">
                <a16:creationId xmlns:a16="http://schemas.microsoft.com/office/drawing/2014/main" id="{50151913-196C-4F08-B446-C67158EAF526}"/>
              </a:ext>
            </a:extLst>
          </p:cNvPr>
          <p:cNvSpPr>
            <a:spLocks xmlns:a="http://schemas.openxmlformats.org/drawingml/2006/main" noGrp="1"/>
          </p:cNvSpPr>
          <p:nvPr/>
        </p:nvSpPr>
        <p:spPr>
          <a:xfrm xmlns:a="http://schemas.openxmlformats.org/drawingml/2006/main">
            <a:off x="5232400" y="5105400"/>
            <a:ext cx="10109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a:solidFill>
                  <a:srgbClr val="102B28"/>
                </a:solidFill>
                <a:latin typeface="Liberation Sans"/>
                <a:ea typeface="Liberation Sans"/>
                <a:cs typeface="Liberation Sans"/>
              </a:defRPr>
            </a:defPPr>
          </a:lstStyle>
          <a:p xmlns:a="http://schemas.openxmlformats.org/drawingml/2006/main">
            <a:pPr>
              <a:lnSpc>
                <a:spcPct val="108000"/>
              </a:lnSpc>
              <a:buNone/>
              <a:defRPr sz="2000" b="0">
                <a:solidFill>
                  <a:srgbClr val="102B28"/>
                </a:solidFill>
                <a:latin typeface="Liberation Sans"/>
                <a:ea typeface="Liberation Sans"/>
                <a:cs typeface="Liberation Sans"/>
              </a:defRPr>
            </a:pPr>
            <a:r>
              <a:rPr sz="2000" b="0">
                <a:solidFill>
                  <a:srgbClr val="102B28"/>
                </a:solidFill>
                <a:latin typeface="Liberation Sans"/>
                <a:ea typeface="Liberation Sans"/>
                <a:cs typeface="Liberation Sans"/>
              </a:rPr>
              <a:t>Dati d’impiego e interventi, nei limiti degli accordi e delle interfacce disponibili.</a:t>
            </a:r>
          </a:p>
        </p:txBody>
      </p:sp>
      <p:sp>
        <p:nvSpPr>
          <p:cNvPr id="16" name="">
            <a:extLst xmlns:a="http://schemas.openxmlformats.org/drawingml/2006/main">
              <a:ext uri="{FF2B5EF4-FFF2-40B4-BE49-F238E27FC236}">
                <a16:creationId xmlns:a16="http://schemas.microsoft.com/office/drawing/2014/main" id="{7955C3E5-08AD-4CDD-9522-B58540EFDF03}"/>
              </a:ext>
            </a:extLst>
          </p:cNvPr>
          <p:cNvSpPr>
            <a:spLocks xmlns:a="http://schemas.openxmlformats.org/drawingml/2006/main" noGrp="1"/>
          </p:cNvSpPr>
          <p:nvPr/>
        </p:nvSpPr>
        <p:spPr>
          <a:xfrm xmlns:a="http://schemas.openxmlformats.org/drawingml/2006/main">
            <a:off x="914400" y="5664200"/>
            <a:ext cx="1442720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17" name="Ailanto">
            <a:extLst xmlns:a="http://schemas.openxmlformats.org/drawingml/2006/main">
              <a:ext uri="{FF2B5EF4-FFF2-40B4-BE49-F238E27FC236}">
                <a16:creationId xmlns:a16="http://schemas.microsoft.com/office/drawing/2014/main" id="{9CD5B8D3-F793-447E-B353-1CF8C459AF6B}"/>
              </a:ext>
            </a:extLst>
          </p:cNvPr>
          <p:cNvSpPr>
            <a:spLocks xmlns:a="http://schemas.openxmlformats.org/drawingml/2006/main" noGrp="1"/>
          </p:cNvSpPr>
          <p:nvPr/>
        </p:nvSpPr>
        <p:spPr>
          <a:xfrm xmlns:a="http://schemas.openxmlformats.org/drawingml/2006/main">
            <a:off x="914400" y="5816600"/>
            <a:ext cx="4191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1">
                <a:solidFill>
                  <a:srgbClr val="102B28"/>
                </a:solidFill>
                <a:latin typeface="Liberation Sans"/>
                <a:ea typeface="Liberation Sans"/>
                <a:cs typeface="Liberation Sans"/>
              </a:defRPr>
            </a:defPPr>
          </a:lstStyle>
          <a:p xmlns:a="http://schemas.openxmlformats.org/drawingml/2006/main">
            <a:pPr>
              <a:lnSpc>
                <a:spcPct val="108000"/>
              </a:lnSpc>
              <a:buNone/>
              <a:defRPr sz="2200" b="1">
                <a:solidFill>
                  <a:srgbClr val="102B28"/>
                </a:solidFill>
                <a:latin typeface="Liberation Sans"/>
                <a:ea typeface="Liberation Sans"/>
                <a:cs typeface="Liberation Sans"/>
              </a:defRPr>
            </a:pPr>
            <a:r>
              <a:rPr sz="2200" b="1">
                <a:solidFill>
                  <a:srgbClr val="102B28"/>
                </a:solidFill>
                <a:latin typeface="Liberation Sans"/>
                <a:ea typeface="Liberation Sans"/>
                <a:cs typeface="Liberation Sans"/>
              </a:rPr>
              <a:t>Ailanto</a:t>
            </a:r>
          </a:p>
        </p:txBody>
      </p:sp>
      <p:sp>
        <p:nvSpPr>
          <p:cNvPr id="18" name="Integrazioni, passaporti e notarizzazione; continuit">
            <a:extLst xmlns:a="http://schemas.openxmlformats.org/drawingml/2006/main">
              <a:ext uri="{FF2B5EF4-FFF2-40B4-BE49-F238E27FC236}">
                <a16:creationId xmlns:a16="http://schemas.microsoft.com/office/drawing/2014/main" id="{627D3614-22F3-47D3-A56A-C7A32A9E0B71}"/>
              </a:ext>
            </a:extLst>
          </p:cNvPr>
          <p:cNvSpPr>
            <a:spLocks xmlns:a="http://schemas.openxmlformats.org/drawingml/2006/main" noGrp="1"/>
          </p:cNvSpPr>
          <p:nvPr/>
        </p:nvSpPr>
        <p:spPr>
          <a:xfrm xmlns:a="http://schemas.openxmlformats.org/drawingml/2006/main">
            <a:off x="5232400" y="5842000"/>
            <a:ext cx="10109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a:solidFill>
                  <a:srgbClr val="102B28"/>
                </a:solidFill>
                <a:latin typeface="Liberation Sans"/>
                <a:ea typeface="Liberation Sans"/>
                <a:cs typeface="Liberation Sans"/>
              </a:defRPr>
            </a:defPPr>
          </a:lstStyle>
          <a:p xmlns:a="http://schemas.openxmlformats.org/drawingml/2006/main">
            <a:pPr>
              <a:lnSpc>
                <a:spcPct val="108000"/>
              </a:lnSpc>
              <a:buNone/>
              <a:defRPr sz="2000" b="0">
                <a:solidFill>
                  <a:srgbClr val="102B28"/>
                </a:solidFill>
                <a:latin typeface="Liberation Sans"/>
                <a:ea typeface="Liberation Sans"/>
                <a:cs typeface="Liberation Sans"/>
              </a:defRPr>
            </a:pPr>
            <a:r>
              <a:rPr sz="2000" b="0">
                <a:solidFill>
                  <a:srgbClr val="102B28"/>
                </a:solidFill>
                <a:latin typeface="Liberation Sans"/>
                <a:ea typeface="Liberation Sans"/>
                <a:cs typeface="Liberation Sans"/>
              </a:rPr>
              <a:t>Integrazioni, passaporti e notarizzazione; continuità delle evidenze digitali.</a:t>
            </a:r>
          </a:p>
        </p:txBody>
      </p:sp>
      <p:sp>
        <p:nvSpPr>
          <p:cNvPr id="19" name="">
            <a:extLst xmlns:a="http://schemas.openxmlformats.org/drawingml/2006/main">
              <a:ext uri="{FF2B5EF4-FFF2-40B4-BE49-F238E27FC236}">
                <a16:creationId xmlns:a16="http://schemas.microsoft.com/office/drawing/2014/main" id="{AF237FB8-D4A5-476F-B5E3-81286210A125}"/>
              </a:ext>
            </a:extLst>
          </p:cNvPr>
          <p:cNvSpPr>
            <a:spLocks xmlns:a="http://schemas.openxmlformats.org/drawingml/2006/main" noGrp="1"/>
          </p:cNvSpPr>
          <p:nvPr/>
        </p:nvSpPr>
        <p:spPr>
          <a:xfrm xmlns:a="http://schemas.openxmlformats.org/drawingml/2006/main">
            <a:off x="914400" y="6400800"/>
            <a:ext cx="14427200" cy="0"/>
          </a:xfrm>
          <a:prstGeom xmlns:a="http://schemas.openxmlformats.org/drawingml/2006/main" prst="line">
            <a:avLst/>
          </a:prstGeom>
          <a:noFill xmlns:a="http://schemas.openxmlformats.org/drawingml/2006/main"/>
          <a:ln xmlns:a="http://schemas.openxmlformats.org/drawingml/2006/main" w="8255">
            <a:solidFill>
              <a:srgbClr val="ABC0AB"/>
            </a:solidFill>
            <a:prstDash val="solid"/>
          </a:ln>
        </p:spPr>
      </p:sp>
      <p:sp>
        <p:nvSpPr>
          <p:cNvPr id="20" name="Specialisti e verificatori">
            <a:extLst xmlns:a="http://schemas.openxmlformats.org/drawingml/2006/main">
              <a:ext uri="{FF2B5EF4-FFF2-40B4-BE49-F238E27FC236}">
                <a16:creationId xmlns:a16="http://schemas.microsoft.com/office/drawing/2014/main" id="{5B66DB4B-8F56-4EFD-A59F-9EDCCD352F79}"/>
              </a:ext>
            </a:extLst>
          </p:cNvPr>
          <p:cNvSpPr>
            <a:spLocks xmlns:a="http://schemas.openxmlformats.org/drawingml/2006/main" noGrp="1"/>
          </p:cNvSpPr>
          <p:nvPr/>
        </p:nvSpPr>
        <p:spPr>
          <a:xfrm xmlns:a="http://schemas.openxmlformats.org/drawingml/2006/main">
            <a:off x="914400" y="6553200"/>
            <a:ext cx="4191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1">
                <a:solidFill>
                  <a:srgbClr val="102B28"/>
                </a:solidFill>
                <a:latin typeface="Liberation Sans"/>
                <a:ea typeface="Liberation Sans"/>
                <a:cs typeface="Liberation Sans"/>
              </a:defRPr>
            </a:defPPr>
          </a:lstStyle>
          <a:p xmlns:a="http://schemas.openxmlformats.org/drawingml/2006/main">
            <a:pPr>
              <a:lnSpc>
                <a:spcPct val="108000"/>
              </a:lnSpc>
              <a:buNone/>
              <a:defRPr sz="2200" b="1">
                <a:solidFill>
                  <a:srgbClr val="102B28"/>
                </a:solidFill>
                <a:latin typeface="Liberation Sans"/>
                <a:ea typeface="Liberation Sans"/>
                <a:cs typeface="Liberation Sans"/>
              </a:defRPr>
            </a:pPr>
            <a:r>
              <a:rPr sz="2200" b="1">
                <a:solidFill>
                  <a:srgbClr val="102B28"/>
                </a:solidFill>
                <a:latin typeface="Liberation Sans"/>
                <a:ea typeface="Liberation Sans"/>
                <a:cs typeface="Liberation Sans"/>
              </a:rPr>
              <a:t>Specialisti e verificatori</a:t>
            </a:r>
          </a:p>
        </p:txBody>
      </p:sp>
      <p:sp>
        <p:nvSpPr>
          <p:cNvPr id="21" name="Metodo ambientale e verifiche indipendenti, quando r">
            <a:extLst xmlns:a="http://schemas.openxmlformats.org/drawingml/2006/main">
              <a:ext uri="{FF2B5EF4-FFF2-40B4-BE49-F238E27FC236}">
                <a16:creationId xmlns:a16="http://schemas.microsoft.com/office/drawing/2014/main" id="{7E24725C-9BF7-4C92-B9EC-078AB3A3925F}"/>
              </a:ext>
            </a:extLst>
          </p:cNvPr>
          <p:cNvSpPr>
            <a:spLocks xmlns:a="http://schemas.openxmlformats.org/drawingml/2006/main" noGrp="1"/>
          </p:cNvSpPr>
          <p:nvPr/>
        </p:nvSpPr>
        <p:spPr>
          <a:xfrm xmlns:a="http://schemas.openxmlformats.org/drawingml/2006/main">
            <a:off x="5232400" y="6578600"/>
            <a:ext cx="10109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a:solidFill>
                  <a:srgbClr val="102B28"/>
                </a:solidFill>
                <a:latin typeface="Liberation Sans"/>
                <a:ea typeface="Liberation Sans"/>
                <a:cs typeface="Liberation Sans"/>
              </a:defRPr>
            </a:defPPr>
          </a:lstStyle>
          <a:p xmlns:a="http://schemas.openxmlformats.org/drawingml/2006/main">
            <a:pPr>
              <a:lnSpc>
                <a:spcPct val="108000"/>
              </a:lnSpc>
              <a:buNone/>
              <a:defRPr sz="2000" b="0">
                <a:solidFill>
                  <a:srgbClr val="102B28"/>
                </a:solidFill>
                <a:latin typeface="Liberation Sans"/>
                <a:ea typeface="Liberation Sans"/>
                <a:cs typeface="Liberation Sans"/>
              </a:defRPr>
            </a:pPr>
            <a:r>
              <a:rPr sz="2000" b="0">
                <a:solidFill>
                  <a:srgbClr val="102B28"/>
                </a:solidFill>
                <a:latin typeface="Liberation Sans"/>
                <a:ea typeface="Liberation Sans"/>
                <a:cs typeface="Liberation Sans"/>
              </a:rPr>
              <a:t>Metodo ambientale e verifiche indipendenti, quando richiesti dal percorso.</a:t>
            </a:r>
          </a:p>
        </p:txBody>
      </p:sp>
      <p:sp>
        <p:nvSpPr>
          <p:cNvPr id="22" name="">
            <a:extLst xmlns:a="http://schemas.openxmlformats.org/drawingml/2006/main">
              <a:ext uri="{FF2B5EF4-FFF2-40B4-BE49-F238E27FC236}">
                <a16:creationId xmlns:a16="http://schemas.microsoft.com/office/drawing/2014/main" id="{26078363-2A12-4712-AE82-E8AA60EF5765}"/>
              </a:ext>
            </a:extLst>
          </p:cNvPr>
          <p:cNvSpPr>
            <a:spLocks xmlns:a="http://schemas.openxmlformats.org/drawingml/2006/main" noGrp="1"/>
          </p:cNvSpPr>
          <p:nvPr/>
        </p:nvSpPr>
        <p:spPr>
          <a:xfrm xmlns:a="http://schemas.openxmlformats.org/drawingml/2006/main">
            <a:off x="914400" y="7658100"/>
            <a:ext cx="14427200" cy="647700"/>
          </a:xfrm>
          <a:prstGeom xmlns:a="http://schemas.openxmlformats.org/drawingml/2006/main" prst="roundRect">
            <a:avLst>
              <a:gd name="adj" fmla="val 15686"/>
            </a:avLst>
          </a:prstGeom>
          <a:solidFill xmlns:a="http://schemas.openxmlformats.org/drawingml/2006/main">
            <a:srgbClr val="102B28"/>
          </a:solidFill>
          <a:ln xmlns:a="http://schemas.openxmlformats.org/drawingml/2006/main" w="0">
            <a:noFill/>
            <a:prstDash val="solid"/>
          </a:ln>
        </p:spPr>
      </p:sp>
      <p:sp>
        <p:nvSpPr>
          <p:cNvPr id="23" name="Valore proposto: documentazione per i clienti, suppo">
            <a:extLst xmlns:a="http://schemas.openxmlformats.org/drawingml/2006/main">
              <a:ext uri="{FF2B5EF4-FFF2-40B4-BE49-F238E27FC236}">
                <a16:creationId xmlns:a16="http://schemas.microsoft.com/office/drawing/2014/main" id="{AB9D8C11-9A41-496E-B879-88E49395A0D3}"/>
              </a:ext>
            </a:extLst>
          </p:cNvPr>
          <p:cNvSpPr>
            <a:spLocks xmlns:a="http://schemas.openxmlformats.org/drawingml/2006/main" noGrp="1"/>
          </p:cNvSpPr>
          <p:nvPr/>
        </p:nvSpPr>
        <p:spPr>
          <a:xfrm xmlns:a="http://schemas.openxmlformats.org/drawingml/2006/main">
            <a:off x="1168400" y="7823200"/>
            <a:ext cx="139192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F4F4E9"/>
                </a:solidFill>
                <a:latin typeface="Liberation Sans"/>
                <a:ea typeface="Liberation Sans"/>
                <a:cs typeface="Liberation Sans"/>
              </a:defRPr>
            </a:defPPr>
          </a:lstStyle>
          <a:p xmlns:a="http://schemas.openxmlformats.org/drawingml/2006/main">
            <a:pPr>
              <a:lnSpc>
                <a:spcPct val="108000"/>
              </a:lnSpc>
              <a:buNone/>
              <a:defRPr sz="1800" b="1">
                <a:solidFill>
                  <a:srgbClr val="F4F4E9"/>
                </a:solidFill>
                <a:latin typeface="Liberation Sans"/>
                <a:ea typeface="Liberation Sans"/>
                <a:cs typeface="Liberation Sans"/>
              </a:defRPr>
            </a:pPr>
            <a:r>
              <a:rPr sz="1800" b="1">
                <a:solidFill>
                  <a:srgbClr val="F4F4E9"/>
                </a:solidFill>
                <a:latin typeface="Liberation Sans"/>
                <a:ea typeface="Liberation Sans"/>
                <a:cs typeface="Liberation Sans"/>
              </a:rPr>
              <a:t>Valore proposto: documentazione per i clienti, supporto all’assistenza e servizi digitali insieme alla batteria.</a:t>
            </a:r>
          </a:p>
        </p:txBody>
      </p:sp>
    </p:spTree>
    <p:extLst>
      <p:ext uri="{BB962C8B-B14F-4D97-AF65-F5344CB8AC3E}">
        <p14:creationId xmlns:p14="http://schemas.microsoft.com/office/powerpoint/2010/main" val="1409943441"/>
      </p:ext>
    </p:extLst>
  </p:cSld>
</p:sld>
</file>

<file path=ppt/slides/slide13.xml><?xml version="1.0" encoding="utf-8"?>
<p:sld xmlns:p="http://schemas.openxmlformats.org/presentationml/2006/main">
  <p:cSld>
    <p:bg>
      <p:bgPr>
        <a:solidFill xmlns:a="http://schemas.openxmlformats.org/drawingml/2006/main">
          <a:srgbClr val="183F3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15F874F-DC1A-4A1C-9CC3-5C33A361B062}"/>
              </a:ext>
            </a:extLst>
          </p:cNvPr>
          <p:cNvSpPr>
            <a:spLocks xmlns:a="http://schemas.openxmlformats.org/drawingml/2006/main" noGrp="1"/>
          </p:cNvSpPr>
          <p:nvPr/>
        </p:nvSpPr>
        <p:spPr>
          <a:xfrm xmlns:a="http://schemas.openxmlformats.org/drawingml/2006/main">
            <a:off x="914400" y="431800"/>
            <a:ext cx="18034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F2D404A6-43E2-41D3-A219-AD1FD7EC17ED}"/>
              </a:ext>
            </a:extLst>
          </p:cNvPr>
          <p:cNvPicPr>
            <a:picLocks xmlns:a="http://schemas.openxmlformats.org/drawingml/2006/main" noChangeAspect="1"/>
          </p:cNvPicPr>
          <p:nvPr/>
        </p:nvPicPr>
        <p:blipFill>
          <a:blip xmlns:r="http://schemas.openxmlformats.org/officeDocument/2006/relationships" xmlns:a="http://schemas.openxmlformats.org/drawingml/2006/main" r:embed="Rb340718e93584881"/>
          <a:stretch xmlns:a="http://schemas.openxmlformats.org/drawingml/2006/main"/>
        </p:blipFill>
        <p:spPr>
          <a:xfrm xmlns:a="http://schemas.openxmlformats.org/drawingml/2006/main">
            <a:off x="1054100" y="525585"/>
            <a:ext cx="1536700" cy="47283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F7C87CA-BBB2-4720-8D45-2FC75A38F6E0}"/>
              </a:ext>
            </a:extLst>
          </p:cNvPr>
          <p:cNvSpPr>
            <a:spLocks xmlns:a="http://schemas.openxmlformats.org/drawingml/2006/main" noGrp="1"/>
          </p:cNvSpPr>
          <p:nvPr/>
        </p:nvSpPr>
        <p:spPr>
          <a:xfrm xmlns:a="http://schemas.openxmlformats.org/drawingml/2006/main">
            <a:off x="12700000" y="431800"/>
            <a:ext cx="26416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6B181E44-88E3-489A-8D47-AC580E7A2DDB}"/>
              </a:ext>
            </a:extLst>
          </p:cNvPr>
          <p:cNvPicPr>
            <a:picLocks xmlns:a="http://schemas.openxmlformats.org/drawingml/2006/main" noChangeAspect="1"/>
          </p:cNvPicPr>
          <p:nvPr/>
        </p:nvPicPr>
        <p:blipFill>
          <a:blip xmlns:r="http://schemas.openxmlformats.org/officeDocument/2006/relationships" xmlns:a="http://schemas.openxmlformats.org/drawingml/2006/main" r:embed="R991d2c460aca4223"/>
          <a:stretch xmlns:a="http://schemas.openxmlformats.org/drawingml/2006/main"/>
        </p:blipFill>
        <p:spPr>
          <a:xfrm xmlns:a="http://schemas.openxmlformats.org/drawingml/2006/main">
            <a:off x="12865100" y="538145"/>
            <a:ext cx="2311400" cy="435011"/>
          </a:xfrm>
          <a:prstGeom xmlns:a="http://schemas.openxmlformats.org/drawingml/2006/main" prst="rect">
            <a:avLst/>
          </a:prstGeom>
        </p:spPr>
      </p:pic>
      <p:sp>
        <p:nvSpPr>
          <p:cNvPr id="5" name="AILANTO PER ALPS BATTERY · PROGETTO PILOTA">
            <a:extLst xmlns:a="http://schemas.openxmlformats.org/drawingml/2006/main">
              <a:ext uri="{FF2B5EF4-FFF2-40B4-BE49-F238E27FC236}">
                <a16:creationId xmlns:a16="http://schemas.microsoft.com/office/drawing/2014/main" id="{EB8F371F-D912-406B-83FA-62B7F151E2C1}"/>
              </a:ext>
            </a:extLst>
          </p:cNvPr>
          <p:cNvSpPr>
            <a:spLocks xmlns:a="http://schemas.openxmlformats.org/drawingml/2006/main" noGrp="1"/>
          </p:cNvSpPr>
          <p:nvPr/>
        </p:nvSpPr>
        <p:spPr>
          <a:xfrm xmlns:a="http://schemas.openxmlformats.org/drawingml/2006/main">
            <a:off x="914400" y="1473200"/>
            <a:ext cx="1397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AILANTO PER ALPS BATTERY · PROGETTO PILOTA</a:t>
            </a:r>
          </a:p>
        </p:txBody>
      </p:sp>
      <p:sp>
        <p:nvSpPr>
          <p:cNvPr id="6" name="Un primo progetto&#10;su una famiglia di batterie">
            <a:extLst xmlns:a="http://schemas.openxmlformats.org/drawingml/2006/main">
              <a:ext uri="{FF2B5EF4-FFF2-40B4-BE49-F238E27FC236}">
                <a16:creationId xmlns:a16="http://schemas.microsoft.com/office/drawing/2014/main" id="{85255358-5602-4399-BF3A-CCB5CF8967E9}"/>
              </a:ext>
            </a:extLst>
          </p:cNvPr>
          <p:cNvSpPr>
            <a:spLocks xmlns:a="http://schemas.openxmlformats.org/drawingml/2006/main" noGrp="1"/>
          </p:cNvSpPr>
          <p:nvPr/>
        </p:nvSpPr>
        <p:spPr>
          <a:xfrm xmlns:a="http://schemas.openxmlformats.org/drawingml/2006/main">
            <a:off x="914400" y="1892300"/>
            <a:ext cx="14478000" cy="139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4F4E9"/>
                </a:solidFill>
                <a:latin typeface="Liberation Sans"/>
                <a:ea typeface="Liberation Sans"/>
                <a:cs typeface="Liberation Sans"/>
              </a:defRPr>
            </a:defPPr>
          </a:lstStyle>
          <a:p xmlns:a="http://schemas.openxmlformats.org/drawingml/2006/main">
            <a:pPr>
              <a:lnSpc>
                <a:spcPct val="90000"/>
              </a:lnSpc>
              <a:buNone/>
              <a:defRPr sz="4800" b="1">
                <a:solidFill>
                  <a:srgbClr val="F4F4E9"/>
                </a:solidFill>
                <a:latin typeface="Liberation Sans"/>
                <a:ea typeface="Liberation Sans"/>
                <a:cs typeface="Liberation Sans"/>
              </a:defRPr>
            </a:pPr>
            <a:r>
              <a:rPr sz="4800" b="1">
                <a:solidFill>
                  <a:srgbClr val="F4F4E9"/>
                </a:solidFill>
                <a:latin typeface="Liberation Sans"/>
                <a:ea typeface="Liberation Sans"/>
                <a:cs typeface="Liberation Sans"/>
              </a:rPr>
              <a:t>Un primo progetto</a:t>
            </a:r>
          </a:p>
          <a:p xmlns:a="http://schemas.openxmlformats.org/drawingml/2006/main">
            <a:pPr>
              <a:lnSpc>
                <a:spcPct val="90000"/>
              </a:lnSpc>
              <a:buNone/>
              <a:defRPr sz="4800" b="1">
                <a:solidFill>
                  <a:srgbClr val="F4F4E9"/>
                </a:solidFill>
                <a:latin typeface="Liberation Sans"/>
                <a:ea typeface="Liberation Sans"/>
                <a:cs typeface="Liberation Sans"/>
              </a:defRPr>
            </a:pPr>
            <a:r>
              <a:rPr sz="4800" b="1">
                <a:solidFill>
                  <a:srgbClr val="F4F4E9"/>
                </a:solidFill>
                <a:latin typeface="Liberation Sans"/>
                <a:ea typeface="Liberation Sans"/>
                <a:cs typeface="Liberation Sans"/>
              </a:rPr>
              <a:t>su una famiglia di batterie</a:t>
            </a:r>
          </a:p>
        </p:txBody>
      </p:sp>
      <p:sp>
        <p:nvSpPr>
          <p:cNvPr id="7" name="Definire insieme un perimetro concreto per collegare">
            <a:extLst xmlns:a="http://schemas.openxmlformats.org/drawingml/2006/main">
              <a:ext uri="{FF2B5EF4-FFF2-40B4-BE49-F238E27FC236}">
                <a16:creationId xmlns:a16="http://schemas.microsoft.com/office/drawing/2014/main" id="{92CBA4CF-2983-4B98-9B64-4E578B7ADE37}"/>
              </a:ext>
            </a:extLst>
          </p:cNvPr>
          <p:cNvSpPr>
            <a:spLocks xmlns:a="http://schemas.openxmlformats.org/drawingml/2006/main" noGrp="1"/>
          </p:cNvSpPr>
          <p:nvPr/>
        </p:nvSpPr>
        <p:spPr>
          <a:xfrm xmlns:a="http://schemas.openxmlformats.org/drawingml/2006/main">
            <a:off x="914400" y="3479800"/>
            <a:ext cx="144272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00" b="0">
                <a:solidFill>
                  <a:srgbClr val="B0C4BC"/>
                </a:solidFill>
                <a:latin typeface="Liberation Sans"/>
                <a:ea typeface="Liberation Sans"/>
                <a:cs typeface="Liberation Sans"/>
              </a:defRPr>
            </a:defPPr>
          </a:lstStyle>
          <a:p xmlns:a="http://schemas.openxmlformats.org/drawingml/2006/main">
            <a:pPr>
              <a:lnSpc>
                <a:spcPct val="108000"/>
              </a:lnSpc>
              <a:buNone/>
              <a:defRPr sz="2200" b="0">
                <a:solidFill>
                  <a:srgbClr val="B0C4BC"/>
                </a:solidFill>
                <a:latin typeface="Liberation Sans"/>
                <a:ea typeface="Liberation Sans"/>
                <a:cs typeface="Liberation Sans"/>
              </a:defRPr>
            </a:pPr>
            <a:r>
              <a:rPr sz="2200" b="0">
                <a:solidFill>
                  <a:srgbClr val="B0C4BC"/>
                </a:solidFill>
                <a:latin typeface="Liberation Sans"/>
                <a:ea typeface="Liberation Sans"/>
                <a:cs typeface="Liberation Sans"/>
              </a:rPr>
              <a:t>Definire insieme un perimetro concreto per collegare prodotto, dati e documenti.</a:t>
            </a:r>
          </a:p>
        </p:txBody>
      </p:sp>
      <p:sp>
        <p:nvSpPr>
          <p:cNvPr id="8" name="">
            <a:extLst xmlns:a="http://schemas.openxmlformats.org/drawingml/2006/main">
              <a:ext uri="{FF2B5EF4-FFF2-40B4-BE49-F238E27FC236}">
                <a16:creationId xmlns:a16="http://schemas.microsoft.com/office/drawing/2014/main" id="{4146C4F6-F1F4-4161-8ACC-D59073877A23}"/>
              </a:ext>
            </a:extLst>
          </p:cNvPr>
          <p:cNvSpPr>
            <a:spLocks xmlns:a="http://schemas.openxmlformats.org/drawingml/2006/main" noGrp="1"/>
          </p:cNvSpPr>
          <p:nvPr/>
        </p:nvSpPr>
        <p:spPr>
          <a:xfrm xmlns:a="http://schemas.openxmlformats.org/drawingml/2006/main">
            <a:off x="914400" y="8420100"/>
            <a:ext cx="14427200" cy="0"/>
          </a:xfrm>
          <a:prstGeom xmlns:a="http://schemas.openxmlformats.org/drawingml/2006/main" prst="line">
            <a:avLst/>
          </a:prstGeom>
          <a:noFill xmlns:a="http://schemas.openxmlformats.org/drawingml/2006/main"/>
          <a:ln xmlns:a="http://schemas.openxmlformats.org/drawingml/2006/main" w="8255">
            <a:solidFill>
              <a:srgbClr val="486B5D"/>
            </a:solidFill>
            <a:prstDash val="solid"/>
          </a:ln>
        </p:spPr>
      </p:sp>
      <p:sp>
        <p:nvSpPr>
          <p:cNvPr id="9" name="Soluzione proposta · Perimetro, tempi e condizioni d">
            <a:extLst xmlns:a="http://schemas.openxmlformats.org/drawingml/2006/main">
              <a:ext uri="{FF2B5EF4-FFF2-40B4-BE49-F238E27FC236}">
                <a16:creationId xmlns:a16="http://schemas.microsoft.com/office/drawing/2014/main" id="{E9A7F461-2D16-4BF3-9D5E-CAFE868E370C}"/>
              </a:ext>
            </a:extLst>
          </p:cNvPr>
          <p:cNvSpPr>
            <a:spLocks xmlns:a="http://schemas.openxmlformats.org/drawingml/2006/main" noGrp="1"/>
          </p:cNvSpPr>
          <p:nvPr/>
        </p:nvSpPr>
        <p:spPr>
          <a:xfrm xmlns:a="http://schemas.openxmlformats.org/drawingml/2006/main">
            <a:off x="914400" y="8572500"/>
            <a:ext cx="1313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0C4BC"/>
                </a:solidFill>
                <a:latin typeface="Liberation Sans"/>
                <a:ea typeface="Liberation Sans"/>
                <a:cs typeface="Liberation Sans"/>
              </a:defRPr>
            </a:defPPr>
          </a:lstStyle>
          <a:p xmlns:a="http://schemas.openxmlformats.org/drawingml/2006/main">
            <a:pPr>
              <a:lnSpc>
                <a:spcPct val="108000"/>
              </a:lnSpc>
              <a:buNone/>
              <a:defRPr sz="1200" b="0">
                <a:solidFill>
                  <a:srgbClr val="B0C4BC"/>
                </a:solidFill>
                <a:latin typeface="Liberation Sans"/>
                <a:ea typeface="Liberation Sans"/>
                <a:cs typeface="Liberation Sans"/>
              </a:defRPr>
            </a:pPr>
            <a:r>
              <a:rPr sz="1200" b="0">
                <a:solidFill>
                  <a:srgbClr val="B0C4BC"/>
                </a:solidFill>
                <a:latin typeface="Liberation Sans"/>
                <a:ea typeface="Liberation Sans"/>
                <a:cs typeface="Liberation Sans"/>
              </a:rPr>
              <a:t>Soluzione proposta · Perimetro, tempi e condizioni da concordare · ailanto.io · info@ailanto.io</a:t>
            </a:r>
          </a:p>
        </p:txBody>
      </p:sp>
      <p:sp>
        <p:nvSpPr>
          <p:cNvPr id="10" name="13 / 13">
            <a:extLst xmlns:a="http://schemas.openxmlformats.org/drawingml/2006/main">
              <a:ext uri="{FF2B5EF4-FFF2-40B4-BE49-F238E27FC236}">
                <a16:creationId xmlns:a16="http://schemas.microsoft.com/office/drawing/2014/main" id="{61411323-6BB6-425D-B1C8-A0B0E6C0C6EE}"/>
              </a:ext>
            </a:extLst>
          </p:cNvPr>
          <p:cNvSpPr>
            <a:spLocks xmlns:a="http://schemas.openxmlformats.org/drawingml/2006/main" noGrp="1"/>
          </p:cNvSpPr>
          <p:nvPr/>
        </p:nvSpPr>
        <p:spPr>
          <a:xfrm xmlns:a="http://schemas.openxmlformats.org/drawingml/2006/main">
            <a:off x="14452600" y="8648700"/>
            <a:ext cx="889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1">
                <a:solidFill>
                  <a:srgbClr val="C8F67C"/>
                </a:solidFill>
                <a:latin typeface="Liberation Sans"/>
                <a:ea typeface="Liberation Sans"/>
                <a:cs typeface="Liberation Sans"/>
              </a:defRPr>
            </a:defPPr>
          </a:lstStyle>
          <a:p xmlns:a="http://schemas.openxmlformats.org/drawingml/2006/main">
            <a:pPr>
              <a:lnSpc>
                <a:spcPct val="108000"/>
              </a:lnSpc>
              <a:buNone/>
              <a:defRPr sz="1300" b="1">
                <a:solidFill>
                  <a:srgbClr val="C8F67C"/>
                </a:solidFill>
                <a:latin typeface="Liberation Sans"/>
                <a:ea typeface="Liberation Sans"/>
                <a:cs typeface="Liberation Sans"/>
              </a:defRPr>
            </a:pPr>
            <a:r>
              <a:rPr sz="1300" b="1">
                <a:solidFill>
                  <a:srgbClr val="C8F67C"/>
                </a:solidFill>
                <a:latin typeface="Liberation Sans"/>
                <a:ea typeface="Liberation Sans"/>
                <a:cs typeface="Liberation Sans"/>
              </a:rPr>
              <a:t>13 / 13</a:t>
            </a:r>
          </a:p>
        </p:txBody>
      </p:sp>
      <p:sp>
        <p:nvSpPr>
          <p:cNvPr id="11" name="">
            <a:extLst xmlns:a="http://schemas.openxmlformats.org/drawingml/2006/main">
              <a:ext uri="{FF2B5EF4-FFF2-40B4-BE49-F238E27FC236}">
                <a16:creationId xmlns:a16="http://schemas.microsoft.com/office/drawing/2014/main" id="{F1968D03-B492-49E8-9147-6C66F4B8E163}"/>
              </a:ext>
            </a:extLst>
          </p:cNvPr>
          <p:cNvSpPr>
            <a:spLocks xmlns:a="http://schemas.openxmlformats.org/drawingml/2006/main" noGrp="1"/>
          </p:cNvSpPr>
          <p:nvPr/>
        </p:nvSpPr>
        <p:spPr>
          <a:xfrm xmlns:a="http://schemas.openxmlformats.org/drawingml/2006/main">
            <a:off x="914400" y="4406900"/>
            <a:ext cx="609600" cy="0"/>
          </a:xfrm>
          <a:prstGeom xmlns:a="http://schemas.openxmlformats.org/drawingml/2006/main" prst="line">
            <a:avLst/>
          </a:prstGeom>
          <a:noFill xmlns:a="http://schemas.openxmlformats.org/drawingml/2006/main"/>
          <a:ln xmlns:a="http://schemas.openxmlformats.org/drawingml/2006/main" w="50800">
            <a:solidFill>
              <a:srgbClr val="C8F67C"/>
            </a:solidFill>
            <a:prstDash val="solid"/>
          </a:ln>
        </p:spPr>
      </p:sp>
      <p:sp>
        <p:nvSpPr>
          <p:cNvPr id="12" name="Scegliere il prodotto">
            <a:extLst xmlns:a="http://schemas.openxmlformats.org/drawingml/2006/main">
              <a:ext uri="{FF2B5EF4-FFF2-40B4-BE49-F238E27FC236}">
                <a16:creationId xmlns:a16="http://schemas.microsoft.com/office/drawing/2014/main" id="{1AA3A540-631C-463C-971A-603D808DAAD7}"/>
              </a:ext>
            </a:extLst>
          </p:cNvPr>
          <p:cNvSpPr>
            <a:spLocks xmlns:a="http://schemas.openxmlformats.org/drawingml/2006/main" noGrp="1"/>
          </p:cNvSpPr>
          <p:nvPr/>
        </p:nvSpPr>
        <p:spPr>
          <a:xfrm xmlns:a="http://schemas.openxmlformats.org/drawingml/2006/main">
            <a:off x="914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F4F4E9"/>
                </a:solidFill>
                <a:latin typeface="Liberation Sans"/>
                <a:ea typeface="Liberation Sans"/>
                <a:cs typeface="Liberation Sans"/>
              </a:defRPr>
            </a:defPPr>
          </a:lstStyle>
          <a:p xmlns:a="http://schemas.openxmlformats.org/drawingml/2006/main">
            <a:pPr>
              <a:lnSpc>
                <a:spcPct val="108000"/>
              </a:lnSpc>
              <a:buNone/>
              <a:defRPr sz="2900" b="1">
                <a:solidFill>
                  <a:srgbClr val="F4F4E9"/>
                </a:solidFill>
                <a:latin typeface="Liberation Sans"/>
                <a:ea typeface="Liberation Sans"/>
                <a:cs typeface="Liberation Sans"/>
              </a:defRPr>
            </a:pPr>
            <a:r>
              <a:rPr sz="2900" b="1">
                <a:solidFill>
                  <a:srgbClr val="F4F4E9"/>
                </a:solidFill>
                <a:latin typeface="Liberation Sans"/>
                <a:ea typeface="Liberation Sans"/>
                <a:cs typeface="Liberation Sans"/>
              </a:rPr>
              <a:t>Scegliere il prodotto</a:t>
            </a:r>
          </a:p>
        </p:txBody>
      </p:sp>
      <p:sp>
        <p:nvSpPr>
          <p:cNvPr id="13" name="Una famiglia di batterie,&#10;un caso d’uso e i soggetti">
            <a:extLst xmlns:a="http://schemas.openxmlformats.org/drawingml/2006/main">
              <a:ext uri="{FF2B5EF4-FFF2-40B4-BE49-F238E27FC236}">
                <a16:creationId xmlns:a16="http://schemas.microsoft.com/office/drawing/2014/main" id="{0F1F385C-3320-492D-BC7D-D355D1652D08}"/>
              </a:ext>
            </a:extLst>
          </p:cNvPr>
          <p:cNvSpPr>
            <a:spLocks xmlns:a="http://schemas.openxmlformats.org/drawingml/2006/main" noGrp="1"/>
          </p:cNvSpPr>
          <p:nvPr/>
        </p:nvSpPr>
        <p:spPr>
          <a:xfrm xmlns:a="http://schemas.openxmlformats.org/drawingml/2006/main">
            <a:off x="914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B0C4BC"/>
                </a:solidFill>
                <a:latin typeface="Liberation Sans"/>
                <a:ea typeface="Liberation Sans"/>
                <a:cs typeface="Liberation Sans"/>
              </a:defRPr>
            </a:defPPr>
          </a:lstStyle>
          <a:p xmlns:a="http://schemas.openxmlformats.org/drawingml/2006/main">
            <a:pPr>
              <a:lnSpc>
                <a:spcPct val="108000"/>
              </a:lnSpc>
              <a:buNone/>
              <a:defRPr sz="2300" b="0">
                <a:solidFill>
                  <a:srgbClr val="B0C4BC"/>
                </a:solidFill>
                <a:latin typeface="Liberation Sans"/>
                <a:ea typeface="Liberation Sans"/>
                <a:cs typeface="Liberation Sans"/>
              </a:defRPr>
            </a:pPr>
            <a:r>
              <a:rPr sz="2300" b="0">
                <a:solidFill>
                  <a:srgbClr val="B0C4BC"/>
                </a:solidFill>
                <a:latin typeface="Liberation Sans"/>
                <a:ea typeface="Liberation Sans"/>
                <a:cs typeface="Liberation Sans"/>
              </a:rPr>
              <a:t>Una famiglia di batterie,</a:t>
            </a:r>
          </a:p>
          <a:p xmlns:a="http://schemas.openxmlformats.org/drawingml/2006/main">
            <a:pPr>
              <a:lnSpc>
                <a:spcPct val="108000"/>
              </a:lnSpc>
              <a:buNone/>
              <a:defRPr sz="2300" b="0">
                <a:solidFill>
                  <a:srgbClr val="B0C4BC"/>
                </a:solidFill>
                <a:latin typeface="Liberation Sans"/>
                <a:ea typeface="Liberation Sans"/>
                <a:cs typeface="Liberation Sans"/>
              </a:defRPr>
            </a:pPr>
            <a:r>
              <a:rPr sz="2300" b="0">
                <a:solidFill>
                  <a:srgbClr val="B0C4BC"/>
                </a:solidFill>
                <a:latin typeface="Liberation Sans"/>
                <a:ea typeface="Liberation Sans"/>
                <a:cs typeface="Liberation Sans"/>
              </a:rPr>
              <a:t>un caso d’uso e i soggetti</a:t>
            </a:r>
          </a:p>
          <a:p xmlns:a="http://schemas.openxmlformats.org/drawingml/2006/main">
            <a:pPr>
              <a:lnSpc>
                <a:spcPct val="108000"/>
              </a:lnSpc>
              <a:buNone/>
              <a:defRPr sz="2300" b="0">
                <a:solidFill>
                  <a:srgbClr val="B0C4BC"/>
                </a:solidFill>
                <a:latin typeface="Liberation Sans"/>
                <a:ea typeface="Liberation Sans"/>
                <a:cs typeface="Liberation Sans"/>
              </a:defRPr>
            </a:pPr>
            <a:r>
              <a:rPr sz="2300" b="0">
                <a:solidFill>
                  <a:srgbClr val="B0C4BC"/>
                </a:solidFill>
                <a:latin typeface="Liberation Sans"/>
                <a:ea typeface="Liberation Sans"/>
                <a:cs typeface="Liberation Sans"/>
              </a:rPr>
              <a:t>che alimentano i dati.</a:t>
            </a:r>
          </a:p>
        </p:txBody>
      </p:sp>
      <p:sp>
        <p:nvSpPr>
          <p:cNvPr id="14" name="">
            <a:extLst xmlns:a="http://schemas.openxmlformats.org/drawingml/2006/main">
              <a:ext uri="{FF2B5EF4-FFF2-40B4-BE49-F238E27FC236}">
                <a16:creationId xmlns:a16="http://schemas.microsoft.com/office/drawing/2014/main" id="{9CBC6C31-B0BE-4B7F-8267-C9F371D30136}"/>
              </a:ext>
            </a:extLst>
          </p:cNvPr>
          <p:cNvSpPr>
            <a:spLocks xmlns:a="http://schemas.openxmlformats.org/drawingml/2006/main" noGrp="1"/>
          </p:cNvSpPr>
          <p:nvPr/>
        </p:nvSpPr>
        <p:spPr>
          <a:xfrm xmlns:a="http://schemas.openxmlformats.org/drawingml/2006/main">
            <a:off x="5867400" y="4406900"/>
            <a:ext cx="609600" cy="0"/>
          </a:xfrm>
          <a:prstGeom xmlns:a="http://schemas.openxmlformats.org/drawingml/2006/main" prst="line">
            <a:avLst/>
          </a:prstGeom>
          <a:noFill xmlns:a="http://schemas.openxmlformats.org/drawingml/2006/main"/>
          <a:ln xmlns:a="http://schemas.openxmlformats.org/drawingml/2006/main" w="50800">
            <a:solidFill>
              <a:srgbClr val="C8F67C"/>
            </a:solidFill>
            <a:prstDash val="solid"/>
          </a:ln>
        </p:spPr>
      </p:sp>
      <p:sp>
        <p:nvSpPr>
          <p:cNvPr id="15" name="Collegare le evidenze">
            <a:extLst xmlns:a="http://schemas.openxmlformats.org/drawingml/2006/main">
              <a:ext uri="{FF2B5EF4-FFF2-40B4-BE49-F238E27FC236}">
                <a16:creationId xmlns:a16="http://schemas.microsoft.com/office/drawing/2014/main" id="{9FE7A044-784A-4A34-B64C-91A7C8378229}"/>
              </a:ext>
            </a:extLst>
          </p:cNvPr>
          <p:cNvSpPr>
            <a:spLocks xmlns:a="http://schemas.openxmlformats.org/drawingml/2006/main" noGrp="1"/>
          </p:cNvSpPr>
          <p:nvPr/>
        </p:nvSpPr>
        <p:spPr>
          <a:xfrm xmlns:a="http://schemas.openxmlformats.org/drawingml/2006/main">
            <a:off x="5867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F4F4E9"/>
                </a:solidFill>
                <a:latin typeface="Liberation Sans"/>
                <a:ea typeface="Liberation Sans"/>
                <a:cs typeface="Liberation Sans"/>
              </a:defRPr>
            </a:defPPr>
          </a:lstStyle>
          <a:p xmlns:a="http://schemas.openxmlformats.org/drawingml/2006/main">
            <a:pPr>
              <a:lnSpc>
                <a:spcPct val="108000"/>
              </a:lnSpc>
              <a:buNone/>
              <a:defRPr sz="2900" b="1">
                <a:solidFill>
                  <a:srgbClr val="F4F4E9"/>
                </a:solidFill>
                <a:latin typeface="Liberation Sans"/>
                <a:ea typeface="Liberation Sans"/>
                <a:cs typeface="Liberation Sans"/>
              </a:defRPr>
            </a:pPr>
            <a:r>
              <a:rPr sz="2900" b="1">
                <a:solidFill>
                  <a:srgbClr val="F4F4E9"/>
                </a:solidFill>
                <a:latin typeface="Liberation Sans"/>
                <a:ea typeface="Liberation Sans"/>
                <a:cs typeface="Liberation Sans"/>
              </a:rPr>
              <a:t>Collegare le evidenze</a:t>
            </a:r>
          </a:p>
        </p:txBody>
      </p:sp>
      <p:sp>
        <p:nvSpPr>
          <p:cNvPr id="16" name="Matricole, configurazioni,&#10;collaudi e un insieme&#10;con">
            <a:extLst xmlns:a="http://schemas.openxmlformats.org/drawingml/2006/main">
              <a:ext uri="{FF2B5EF4-FFF2-40B4-BE49-F238E27FC236}">
                <a16:creationId xmlns:a16="http://schemas.microsoft.com/office/drawing/2014/main" id="{EF1601B0-C57E-486E-9876-16900FC2979F}"/>
              </a:ext>
            </a:extLst>
          </p:cNvPr>
          <p:cNvSpPr>
            <a:spLocks xmlns:a="http://schemas.openxmlformats.org/drawingml/2006/main" noGrp="1"/>
          </p:cNvSpPr>
          <p:nvPr/>
        </p:nvSpPr>
        <p:spPr>
          <a:xfrm xmlns:a="http://schemas.openxmlformats.org/drawingml/2006/main">
            <a:off x="5867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B0C4BC"/>
                </a:solidFill>
                <a:latin typeface="Liberation Sans"/>
                <a:ea typeface="Liberation Sans"/>
                <a:cs typeface="Liberation Sans"/>
              </a:defRPr>
            </a:defPPr>
          </a:lstStyle>
          <a:p xmlns:a="http://schemas.openxmlformats.org/drawingml/2006/main">
            <a:pPr>
              <a:lnSpc>
                <a:spcPct val="108000"/>
              </a:lnSpc>
              <a:buNone/>
              <a:defRPr sz="2300" b="0">
                <a:solidFill>
                  <a:srgbClr val="B0C4BC"/>
                </a:solidFill>
                <a:latin typeface="Liberation Sans"/>
                <a:ea typeface="Liberation Sans"/>
                <a:cs typeface="Liberation Sans"/>
              </a:defRPr>
            </a:pPr>
            <a:r>
              <a:rPr sz="2300" b="0">
                <a:solidFill>
                  <a:srgbClr val="B0C4BC"/>
                </a:solidFill>
                <a:latin typeface="Liberation Sans"/>
                <a:ea typeface="Liberation Sans"/>
                <a:cs typeface="Liberation Sans"/>
              </a:rPr>
              <a:t>Matricole, configurazioni,</a:t>
            </a:r>
          </a:p>
          <a:p xmlns:a="http://schemas.openxmlformats.org/drawingml/2006/main">
            <a:pPr>
              <a:lnSpc>
                <a:spcPct val="108000"/>
              </a:lnSpc>
              <a:buNone/>
              <a:defRPr sz="2300" b="0">
                <a:solidFill>
                  <a:srgbClr val="B0C4BC"/>
                </a:solidFill>
                <a:latin typeface="Liberation Sans"/>
                <a:ea typeface="Liberation Sans"/>
                <a:cs typeface="Liberation Sans"/>
              </a:defRPr>
            </a:pPr>
            <a:r>
              <a:rPr sz="2300" b="0">
                <a:solidFill>
                  <a:srgbClr val="B0C4BC"/>
                </a:solidFill>
                <a:latin typeface="Liberation Sans"/>
                <a:ea typeface="Liberation Sans"/>
                <a:cs typeface="Liberation Sans"/>
              </a:rPr>
              <a:t>collaudi e un insieme</a:t>
            </a:r>
          </a:p>
          <a:p xmlns:a="http://schemas.openxmlformats.org/drawingml/2006/main">
            <a:pPr>
              <a:lnSpc>
                <a:spcPct val="108000"/>
              </a:lnSpc>
              <a:buNone/>
              <a:defRPr sz="2300" b="0">
                <a:solidFill>
                  <a:srgbClr val="B0C4BC"/>
                </a:solidFill>
                <a:latin typeface="Liberation Sans"/>
                <a:ea typeface="Liberation Sans"/>
                <a:cs typeface="Liberation Sans"/>
              </a:defRPr>
            </a:pPr>
            <a:r>
              <a:rPr sz="2300" b="0">
                <a:solidFill>
                  <a:srgbClr val="B0C4BC"/>
                </a:solidFill>
                <a:latin typeface="Liberation Sans"/>
                <a:ea typeface="Liberation Sans"/>
                <a:cs typeface="Liberation Sans"/>
              </a:rPr>
              <a:t>concordato di eventi.</a:t>
            </a:r>
          </a:p>
        </p:txBody>
      </p:sp>
      <p:sp>
        <p:nvSpPr>
          <p:cNvPr id="17" name="">
            <a:extLst xmlns:a="http://schemas.openxmlformats.org/drawingml/2006/main">
              <a:ext uri="{FF2B5EF4-FFF2-40B4-BE49-F238E27FC236}">
                <a16:creationId xmlns:a16="http://schemas.microsoft.com/office/drawing/2014/main" id="{A2F09D7E-AAB6-4E69-B367-9AD6B958ECE7}"/>
              </a:ext>
            </a:extLst>
          </p:cNvPr>
          <p:cNvSpPr>
            <a:spLocks xmlns:a="http://schemas.openxmlformats.org/drawingml/2006/main" noGrp="1"/>
          </p:cNvSpPr>
          <p:nvPr/>
        </p:nvSpPr>
        <p:spPr>
          <a:xfrm xmlns:a="http://schemas.openxmlformats.org/drawingml/2006/main">
            <a:off x="10820400" y="4406900"/>
            <a:ext cx="609600" cy="0"/>
          </a:xfrm>
          <a:prstGeom xmlns:a="http://schemas.openxmlformats.org/drawingml/2006/main" prst="line">
            <a:avLst/>
          </a:prstGeom>
          <a:noFill xmlns:a="http://schemas.openxmlformats.org/drawingml/2006/main"/>
          <a:ln xmlns:a="http://schemas.openxmlformats.org/drawingml/2006/main" w="50800">
            <a:solidFill>
              <a:srgbClr val="C8F67C"/>
            </a:solidFill>
            <a:prstDash val="solid"/>
          </a:ln>
        </p:spPr>
      </p:sp>
      <p:sp>
        <p:nvSpPr>
          <p:cNvPr id="18" name="Verificare il servizio">
            <a:extLst xmlns:a="http://schemas.openxmlformats.org/drawingml/2006/main">
              <a:ext uri="{FF2B5EF4-FFF2-40B4-BE49-F238E27FC236}">
                <a16:creationId xmlns:a16="http://schemas.microsoft.com/office/drawing/2014/main" id="{6FA3134D-FFF0-44FF-B3E5-197997C9F618}"/>
              </a:ext>
            </a:extLst>
          </p:cNvPr>
          <p:cNvSpPr>
            <a:spLocks xmlns:a="http://schemas.openxmlformats.org/drawingml/2006/main" noGrp="1"/>
          </p:cNvSpPr>
          <p:nvPr/>
        </p:nvSpPr>
        <p:spPr>
          <a:xfrm xmlns:a="http://schemas.openxmlformats.org/drawingml/2006/main">
            <a:off x="10820400" y="4953000"/>
            <a:ext cx="45212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00" b="1">
                <a:solidFill>
                  <a:srgbClr val="F4F4E9"/>
                </a:solidFill>
                <a:latin typeface="Liberation Sans"/>
                <a:ea typeface="Liberation Sans"/>
                <a:cs typeface="Liberation Sans"/>
              </a:defRPr>
            </a:defPPr>
          </a:lstStyle>
          <a:p xmlns:a="http://schemas.openxmlformats.org/drawingml/2006/main">
            <a:pPr>
              <a:lnSpc>
                <a:spcPct val="108000"/>
              </a:lnSpc>
              <a:buNone/>
              <a:defRPr sz="2900" b="1">
                <a:solidFill>
                  <a:srgbClr val="F4F4E9"/>
                </a:solidFill>
                <a:latin typeface="Liberation Sans"/>
                <a:ea typeface="Liberation Sans"/>
                <a:cs typeface="Liberation Sans"/>
              </a:defRPr>
            </a:pPr>
            <a:r>
              <a:rPr sz="2900" b="1">
                <a:solidFill>
                  <a:srgbClr val="F4F4E9"/>
                </a:solidFill>
                <a:latin typeface="Liberation Sans"/>
                <a:ea typeface="Liberation Sans"/>
                <a:cs typeface="Liberation Sans"/>
              </a:rPr>
              <a:t>Verificare il servizio</a:t>
            </a:r>
          </a:p>
        </p:txBody>
      </p:sp>
      <p:sp>
        <p:nvSpPr>
          <p:cNvPr id="19" name="Passaporto consultabile,&#10;prova d’integrità e verific">
            <a:extLst xmlns:a="http://schemas.openxmlformats.org/drawingml/2006/main">
              <a:ext uri="{FF2B5EF4-FFF2-40B4-BE49-F238E27FC236}">
                <a16:creationId xmlns:a16="http://schemas.microsoft.com/office/drawing/2014/main" id="{44DF15D6-895A-4B7E-9E5B-AFE83AE723AF}"/>
              </a:ext>
            </a:extLst>
          </p:cNvPr>
          <p:cNvSpPr>
            <a:spLocks xmlns:a="http://schemas.openxmlformats.org/drawingml/2006/main" noGrp="1"/>
          </p:cNvSpPr>
          <p:nvPr/>
        </p:nvSpPr>
        <p:spPr>
          <a:xfrm xmlns:a="http://schemas.openxmlformats.org/drawingml/2006/main">
            <a:off x="10820400" y="5600700"/>
            <a:ext cx="4521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00" b="0">
                <a:solidFill>
                  <a:srgbClr val="B0C4BC"/>
                </a:solidFill>
                <a:latin typeface="Liberation Sans"/>
                <a:ea typeface="Liberation Sans"/>
                <a:cs typeface="Liberation Sans"/>
              </a:defRPr>
            </a:defPPr>
          </a:lstStyle>
          <a:p xmlns:a="http://schemas.openxmlformats.org/drawingml/2006/main">
            <a:pPr>
              <a:lnSpc>
                <a:spcPct val="108000"/>
              </a:lnSpc>
              <a:buNone/>
              <a:defRPr sz="2300" b="0">
                <a:solidFill>
                  <a:srgbClr val="B0C4BC"/>
                </a:solidFill>
                <a:latin typeface="Liberation Sans"/>
                <a:ea typeface="Liberation Sans"/>
                <a:cs typeface="Liberation Sans"/>
              </a:defRPr>
            </a:pPr>
            <a:r>
              <a:rPr sz="2300" b="0">
                <a:solidFill>
                  <a:srgbClr val="B0C4BC"/>
                </a:solidFill>
                <a:latin typeface="Liberation Sans"/>
                <a:ea typeface="Liberation Sans"/>
                <a:cs typeface="Liberation Sans"/>
              </a:rPr>
              <a:t>Passaporto consultabile,</a:t>
            </a:r>
          </a:p>
          <a:p xmlns:a="http://schemas.openxmlformats.org/drawingml/2006/main">
            <a:pPr>
              <a:lnSpc>
                <a:spcPct val="108000"/>
              </a:lnSpc>
              <a:buNone/>
              <a:defRPr sz="2300" b="0">
                <a:solidFill>
                  <a:srgbClr val="B0C4BC"/>
                </a:solidFill>
                <a:latin typeface="Liberation Sans"/>
                <a:ea typeface="Liberation Sans"/>
                <a:cs typeface="Liberation Sans"/>
              </a:defRPr>
            </a:pPr>
            <a:r>
              <a:rPr sz="2300" b="0">
                <a:solidFill>
                  <a:srgbClr val="B0C4BC"/>
                </a:solidFill>
                <a:latin typeface="Liberation Sans"/>
                <a:ea typeface="Liberation Sans"/>
                <a:cs typeface="Liberation Sans"/>
              </a:rPr>
              <a:t>prova d’integrità e verifica</a:t>
            </a:r>
          </a:p>
          <a:p xmlns:a="http://schemas.openxmlformats.org/drawingml/2006/main">
            <a:pPr>
              <a:lnSpc>
                <a:spcPct val="108000"/>
              </a:lnSpc>
              <a:buNone/>
              <a:defRPr sz="2300" b="0">
                <a:solidFill>
                  <a:srgbClr val="B0C4BC"/>
                </a:solidFill>
                <a:latin typeface="Liberation Sans"/>
                <a:ea typeface="Liberation Sans"/>
                <a:cs typeface="Liberation Sans"/>
              </a:defRPr>
            </a:pPr>
            <a:r>
              <a:rPr sz="2300" b="0">
                <a:solidFill>
                  <a:srgbClr val="B0C4BC"/>
                </a:solidFill>
                <a:latin typeface="Liberation Sans"/>
                <a:ea typeface="Liberation Sans"/>
                <a:cs typeface="Liberation Sans"/>
              </a:rPr>
              <a:t>degli accessi previsti.</a:t>
            </a:r>
          </a:p>
        </p:txBody>
      </p:sp>
      <p:sp>
        <p:nvSpPr>
          <p:cNvPr id="20" name="">
            <a:extLst xmlns:a="http://schemas.openxmlformats.org/drawingml/2006/main">
              <a:ext uri="{FF2B5EF4-FFF2-40B4-BE49-F238E27FC236}">
                <a16:creationId xmlns:a16="http://schemas.microsoft.com/office/drawing/2014/main" id="{6CFE5E5E-153E-45C8-BBD4-19FD553386CA}"/>
              </a:ext>
            </a:extLst>
          </p:cNvPr>
          <p:cNvSpPr>
            <a:spLocks xmlns:a="http://schemas.openxmlformats.org/drawingml/2006/main" noGrp="1"/>
          </p:cNvSpPr>
          <p:nvPr/>
        </p:nvSpPr>
        <p:spPr>
          <a:xfrm xmlns:a="http://schemas.openxmlformats.org/drawingml/2006/main">
            <a:off x="914400" y="7493000"/>
            <a:ext cx="14427200" cy="647700"/>
          </a:xfrm>
          <a:prstGeom xmlns:a="http://schemas.openxmlformats.org/drawingml/2006/main" prst="roundRect">
            <a:avLst>
              <a:gd name="adj" fmla="val 15686"/>
            </a:avLst>
          </a:prstGeom>
          <a:solidFill xmlns:a="http://schemas.openxmlformats.org/drawingml/2006/main">
            <a:srgbClr val="09191B"/>
          </a:solidFill>
          <a:ln xmlns:a="http://schemas.openxmlformats.org/drawingml/2006/main" w="0">
            <a:noFill/>
            <a:prstDash val="solid"/>
          </a:ln>
        </p:spPr>
      </p:sp>
      <p:sp>
        <p:nvSpPr>
          <p:cNvPr id="21" name="Esito del pilota: un passaporto dimostrativo e un pi">
            <a:extLst xmlns:a="http://schemas.openxmlformats.org/drawingml/2006/main">
              <a:ext uri="{FF2B5EF4-FFF2-40B4-BE49-F238E27FC236}">
                <a16:creationId xmlns:a16="http://schemas.microsoft.com/office/drawing/2014/main" id="{FD2898D0-B15F-4410-B7A4-96CF77593175}"/>
              </a:ext>
            </a:extLst>
          </p:cNvPr>
          <p:cNvSpPr>
            <a:spLocks xmlns:a="http://schemas.openxmlformats.org/drawingml/2006/main" noGrp="1"/>
          </p:cNvSpPr>
          <p:nvPr/>
        </p:nvSpPr>
        <p:spPr>
          <a:xfrm xmlns:a="http://schemas.openxmlformats.org/drawingml/2006/main">
            <a:off x="1168400" y="7658100"/>
            <a:ext cx="139192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00" b="1">
                <a:solidFill>
                  <a:srgbClr val="F4F4E9"/>
                </a:solidFill>
                <a:latin typeface="Liberation Sans"/>
                <a:ea typeface="Liberation Sans"/>
                <a:cs typeface="Liberation Sans"/>
              </a:defRPr>
            </a:defPPr>
          </a:lstStyle>
          <a:p xmlns:a="http://schemas.openxmlformats.org/drawingml/2006/main">
            <a:pPr>
              <a:lnSpc>
                <a:spcPct val="108000"/>
              </a:lnSpc>
              <a:buNone/>
              <a:defRPr sz="1900" b="1">
                <a:solidFill>
                  <a:srgbClr val="F4F4E9"/>
                </a:solidFill>
                <a:latin typeface="Liberation Sans"/>
                <a:ea typeface="Liberation Sans"/>
                <a:cs typeface="Liberation Sans"/>
              </a:defRPr>
            </a:pPr>
            <a:r>
              <a:rPr sz="1900" b="1">
                <a:solidFill>
                  <a:srgbClr val="F4F4E9"/>
                </a:solidFill>
                <a:latin typeface="Liberation Sans"/>
                <a:ea typeface="Liberation Sans"/>
                <a:cs typeface="Liberation Sans"/>
              </a:rPr>
              <a:t>Esito del pilota: un passaporto dimostrativo e un piano condiviso per estendere il servizio.</a:t>
            </a:r>
          </a:p>
        </p:txBody>
      </p:sp>
    </p:spTree>
    <p:extLst>
      <p:ext uri="{BB962C8B-B14F-4D97-AF65-F5344CB8AC3E}">
        <p14:creationId xmlns:p14="http://schemas.microsoft.com/office/powerpoint/2010/main" val="1664993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2026-10-12T08:13:42.4670000Z</dcterms:created>
  <dcterms:modified xsi:type="dcterms:W3CDTF">2026-10-12T08:13:42.4670000Z</dcterms:modified>
</coreProperties>
</file>